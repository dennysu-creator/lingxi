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828800" y="1097280"/>
            <a:ext cx="8534095" cy="25400"/>
          </a:xfrm>
          <a:prstGeom prst="rect">
            <a:avLst/>
          </a:prstGeom>
          <a:solidFill>
            <a:srgbClr val="E8C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0" y="5486400"/>
            <a:ext cx="8534095" cy="25400"/>
          </a:xfrm>
          <a:prstGeom prst="rect">
            <a:avLst/>
          </a:prstGeom>
          <a:solidFill>
            <a:srgbClr val="E8C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463040"/>
            <a:ext cx="121916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0">
                <a:solidFill>
                  <a:srgbClr val="FFFFFF"/>
                </a:solidFill>
                <a:latin typeface="Microsoft JhengHei"/>
              </a:defRPr>
            </a:pPr>
            <a:r>
              <a:t>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210312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E8C547"/>
                </a:solidFill>
                <a:latin typeface="Microsoft JhengHei"/>
              </a:defRPr>
            </a:pPr>
            <a:r>
              <a:t>靈犀 LING XI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2926080"/>
            <a:ext cx="121916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FFFF"/>
                </a:solidFill>
                <a:latin typeface="Microsoft JhengHei"/>
              </a:defRPr>
            </a:pPr>
            <a:r>
              <a:t>App UI 操作畫面說明書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65760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99999"/>
                </a:solidFill>
                <a:latin typeface="Microsoft JhengHei"/>
              </a:defRPr>
            </a:pPr>
            <a:r>
              <a:t>AI 命理寵物互動應用程式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4572000"/>
            <a:ext cx="121916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89A30"/>
                </a:solidFill>
                <a:latin typeface="Microsoft JhengHei"/>
              </a:defRPr>
            </a:pPr>
            <a:r>
              <a:t>版本 v1.0.0  |  日期 2026-03-14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5029200"/>
            <a:ext cx="121916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99999"/>
                </a:solidFill>
                <a:latin typeface="Microsoft JhengHei"/>
              </a:defRPr>
            </a:pPr>
            <a:r>
              <a:t>有泉科技 YouQuan Technology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8C547"/>
                </a:solidFill>
                <a:latin typeface="Microsoft JhengHei"/>
              </a:defRPr>
            </a:pPr>
            <a:r>
              <a:t>📋 目錄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99999"/>
                </a:solidFill>
                <a:latin typeface="Microsoft JhengHei"/>
              </a:defRPr>
            </a:pPr>
            <a:r>
              <a:t>靈犀 App 各畫面操作說明總覽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3566160" cy="1051560"/>
          </a:xfrm>
          <a:prstGeom prst="roundRect">
            <a:avLst/>
          </a:prstGeom>
          <a:solidFill>
            <a:srgbClr val="12121A"/>
          </a:solidFill>
          <a:ln w="12700">
            <a:solidFill>
              <a:srgbClr val="B89A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4630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8C547"/>
                </a:solidFill>
                <a:latin typeface="Microsoft JhengHei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46304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Microsoft JhengHei"/>
              </a:defRPr>
            </a:pPr>
            <a:r>
              <a:t>應用程式總覽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2834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99999"/>
                </a:solidFill>
                <a:latin typeface="Microsoft JhengHei"/>
              </a:defRPr>
            </a:pPr>
            <a:r>
              <a:t>技術架構、設計語言、導航結構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371600"/>
            <a:ext cx="3566160" cy="1051560"/>
          </a:xfrm>
          <a:prstGeom prst="roundRect">
            <a:avLst/>
          </a:prstGeom>
          <a:solidFill>
            <a:srgbClr val="12121A"/>
          </a:solidFill>
          <a:ln w="12700">
            <a:solidFill>
              <a:srgbClr val="B89A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34840" y="14630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8C547"/>
                </a:solidFill>
                <a:latin typeface="Microsoft JhengHei"/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0" y="146304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Microsoft JhengHei"/>
              </a:defRPr>
            </a:pPr>
            <a:r>
              <a:t>登入 / 註冊畫面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0" y="1828800"/>
            <a:ext cx="2834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99999"/>
                </a:solidFill>
                <a:latin typeface="Microsoft JhengHei"/>
              </a:defRPr>
            </a:pPr>
            <a:r>
              <a:t>Email 登入、Apple Sign-In、表單切換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371600"/>
            <a:ext cx="3566160" cy="1051560"/>
          </a:xfrm>
          <a:prstGeom prst="roundRect">
            <a:avLst/>
          </a:prstGeom>
          <a:solidFill>
            <a:srgbClr val="12121A"/>
          </a:solidFill>
          <a:ln w="12700">
            <a:solidFill>
              <a:srgbClr val="B89A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75320" y="14630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8C547"/>
                </a:solidFill>
                <a:latin typeface="Microsoft JhengHei"/>
              </a:defRPr>
            </a:pPr>
            <a: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0" y="146304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Microsoft JhengHei"/>
              </a:defRPr>
            </a:pPr>
            <a:r>
              <a:t>新手引導流程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0" y="1828800"/>
            <a:ext cx="2834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99999"/>
                </a:solidFill>
                <a:latin typeface="Microsoft JhengHei"/>
              </a:defRPr>
            </a:pPr>
            <a:r>
              <a:t>語言選擇 → 歡迎 → 姓名 → 生辰 → 靈寵召喚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2606040"/>
            <a:ext cx="3566160" cy="1051560"/>
          </a:xfrm>
          <a:prstGeom prst="roundRect">
            <a:avLst/>
          </a:prstGeom>
          <a:solidFill>
            <a:srgbClr val="12121A"/>
          </a:solidFill>
          <a:ln w="12700">
            <a:solidFill>
              <a:srgbClr val="B89A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269748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8C547"/>
                </a:solidFill>
                <a:latin typeface="Microsoft JhengHei"/>
              </a:defRPr>
            </a:pPr>
            <a: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269748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Microsoft JhengHei"/>
              </a:defRPr>
            </a:pPr>
            <a:r>
              <a:t>主畫面 — 靈寵互動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3063240"/>
            <a:ext cx="2834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99999"/>
                </a:solidFill>
                <a:latin typeface="Microsoft JhengHei"/>
              </a:defRPr>
            </a:pPr>
            <a:r>
              <a:t>靈寵頭像、對話氣泡、每日運勢、養成操作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97680" y="2606040"/>
            <a:ext cx="3566160" cy="1051560"/>
          </a:xfrm>
          <a:prstGeom prst="roundRect">
            <a:avLst/>
          </a:prstGeom>
          <a:solidFill>
            <a:srgbClr val="12121A"/>
          </a:solidFill>
          <a:ln w="12700">
            <a:solidFill>
              <a:srgbClr val="B89A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34840" y="269748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8C547"/>
                </a:solidFill>
                <a:latin typeface="Microsoft JhengHei"/>
              </a:defRPr>
            </a:pPr>
            <a: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46320" y="269748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Microsoft JhengHei"/>
              </a:defRPr>
            </a:pPr>
            <a:r>
              <a:t>靈眼模式 — AI 面相分析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46320" y="3063240"/>
            <a:ext cx="2834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99999"/>
                </a:solidFill>
                <a:latin typeface="Microsoft JhengHei"/>
              </a:defRPr>
            </a:pPr>
            <a:r>
              <a:t>相機拍攝 → 面相掃描 → AI 解讀結果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38160" y="2606040"/>
            <a:ext cx="3566160" cy="1051560"/>
          </a:xfrm>
          <a:prstGeom prst="roundRect">
            <a:avLst/>
          </a:prstGeom>
          <a:solidFill>
            <a:srgbClr val="12121A"/>
          </a:solidFill>
          <a:ln w="12700">
            <a:solidFill>
              <a:srgbClr val="B89A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75320" y="269748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8C547"/>
                </a:solidFill>
                <a:latin typeface="Microsoft JhengHei"/>
              </a:defRPr>
            </a:pPr>
            <a:r>
              <a:t>06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0" y="269748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Microsoft JhengHei"/>
              </a:defRPr>
            </a:pPr>
            <a:r>
              <a:t>靈心模式 — 即時風水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0" y="3063240"/>
            <a:ext cx="2834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99999"/>
                </a:solidFill>
                <a:latin typeface="Microsoft JhengHei"/>
              </a:defRPr>
            </a:pPr>
            <a:r>
              <a:t>GPS 定位 + 電子羅盤 → 奇門遁甲方位分析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3840480"/>
            <a:ext cx="3566160" cy="1051560"/>
          </a:xfrm>
          <a:prstGeom prst="roundRect">
            <a:avLst/>
          </a:prstGeom>
          <a:solidFill>
            <a:srgbClr val="12121A"/>
          </a:solidFill>
          <a:ln w="12700">
            <a:solidFill>
              <a:srgbClr val="B89A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4360" y="393192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8C547"/>
                </a:solidFill>
                <a:latin typeface="Microsoft JhengHei"/>
              </a:defRPr>
            </a:pPr>
            <a:r>
              <a:t>07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5840" y="393192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Microsoft JhengHei"/>
              </a:defRPr>
            </a:pPr>
            <a:r>
              <a:t>靈魂模式 — 易經占卜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" y="4297680"/>
            <a:ext cx="2834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99999"/>
                </a:solidFill>
                <a:latin typeface="Microsoft JhengHei"/>
              </a:defRPr>
            </a:pPr>
            <a:r>
              <a:t>選類別 → 提問 → 搖卦動畫 → 六十四卦解讀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297680" y="3840480"/>
            <a:ext cx="3566160" cy="1051560"/>
          </a:xfrm>
          <a:prstGeom prst="roundRect">
            <a:avLst/>
          </a:prstGeom>
          <a:solidFill>
            <a:srgbClr val="12121A"/>
          </a:solidFill>
          <a:ln w="12700">
            <a:solidFill>
              <a:srgbClr val="B89A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434840" y="393192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8C547"/>
                </a:solidFill>
                <a:latin typeface="Microsoft JhengHei"/>
              </a:defRPr>
            </a:pPr>
            <a:r>
              <a:t>08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46320" y="393192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Microsoft JhengHei"/>
              </a:defRPr>
            </a:pPr>
            <a:r>
              <a:t>個人檔案 / 設定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846320" y="4297680"/>
            <a:ext cx="2834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99999"/>
                </a:solidFill>
                <a:latin typeface="Microsoft JhengHei"/>
              </a:defRPr>
            </a:pPr>
            <a:r>
              <a:t>命盤資料、語言設定、訂閱管理、登出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138160" y="3840480"/>
            <a:ext cx="3566160" cy="1051560"/>
          </a:xfrm>
          <a:prstGeom prst="roundRect">
            <a:avLst/>
          </a:prstGeom>
          <a:solidFill>
            <a:srgbClr val="12121A"/>
          </a:solidFill>
          <a:ln w="12700">
            <a:solidFill>
              <a:srgbClr val="B89A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75320" y="393192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8C547"/>
                </a:solidFill>
                <a:latin typeface="Microsoft JhengHei"/>
              </a:defRPr>
            </a:pPr>
            <a:r>
              <a:t>09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86800" y="393192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Microsoft JhengHei"/>
              </a:defRPr>
            </a:pPr>
            <a:r>
              <a:t>升級彈窗 / 訂閱方案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686800" y="4297680"/>
            <a:ext cx="2834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99999"/>
                </a:solidFill>
                <a:latin typeface="Microsoft JhengHei"/>
              </a:defRPr>
            </a:pPr>
            <a:r>
              <a:t>會員 $390 / 至尊 $1990、RevenueCat 整合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57200" y="5074920"/>
            <a:ext cx="3566160" cy="1051560"/>
          </a:xfrm>
          <a:prstGeom prst="roundRect">
            <a:avLst/>
          </a:prstGeom>
          <a:solidFill>
            <a:srgbClr val="12121A"/>
          </a:solidFill>
          <a:ln w="12700">
            <a:solidFill>
              <a:srgbClr val="B89A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94360" y="516636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8C547"/>
                </a:solidFill>
                <a:latin typeface="Microsoft JhengHei"/>
              </a:defRPr>
            </a:pPr>
            <a:r>
              <a:t>10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05840" y="516636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Microsoft JhengHei"/>
              </a:defRPr>
            </a:pPr>
            <a:r>
              <a:t>對話氣泡系統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05840" y="5532120"/>
            <a:ext cx="2834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99999"/>
                </a:solidFill>
                <a:latin typeface="Microsoft JhengHei"/>
              </a:defRPr>
            </a:pPr>
            <a:r>
              <a:t>11 種訊息類型、富內容渲染、運勢/面相/風水/卦象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297680" y="5074920"/>
            <a:ext cx="3566160" cy="1051560"/>
          </a:xfrm>
          <a:prstGeom prst="roundRect">
            <a:avLst/>
          </a:prstGeom>
          <a:solidFill>
            <a:srgbClr val="12121A"/>
          </a:solidFill>
          <a:ln w="12700">
            <a:solidFill>
              <a:srgbClr val="B89A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434840" y="516636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8C547"/>
                </a:solidFill>
                <a:latin typeface="Microsoft JhengHei"/>
              </a:defRPr>
            </a:pPr>
            <a:r>
              <a:t>11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846320" y="516636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Microsoft JhengHei"/>
              </a:defRPr>
            </a:pPr>
            <a:r>
              <a:t>靈寵養成系統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846320" y="5532120"/>
            <a:ext cx="2834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99999"/>
                </a:solidFill>
                <a:latin typeface="Microsoft JhengHei"/>
              </a:defRPr>
            </a:pPr>
            <a:r>
              <a:t>24 節氣靈寵、經驗值、等級、進化機制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138160" y="5074920"/>
            <a:ext cx="3566160" cy="1051560"/>
          </a:xfrm>
          <a:prstGeom prst="roundRect">
            <a:avLst/>
          </a:prstGeom>
          <a:solidFill>
            <a:srgbClr val="12121A"/>
          </a:solidFill>
          <a:ln w="12700">
            <a:solidFill>
              <a:srgbClr val="B89A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275320" y="516636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8C547"/>
                </a:solidFill>
                <a:latin typeface="Microsoft JhengHei"/>
              </a:defRPr>
            </a:pPr>
            <a:r>
              <a:t>12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686800" y="516636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Microsoft JhengHei"/>
              </a:defRPr>
            </a:pPr>
            <a:r>
              <a:t>多語系與全域元件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686800" y="5532120"/>
            <a:ext cx="2834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99999"/>
                </a:solidFill>
                <a:latin typeface="Microsoft JhengHei"/>
              </a:defRPr>
            </a:pPr>
            <a:r>
              <a:t>6 語言 i18n、WheelPicker、ErrorBoundary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8C547"/>
                </a:solidFill>
                <a:latin typeface="Microsoft JhengHei"/>
              </a:defRPr>
            </a:pPr>
            <a:r>
              <a:t>01  應用程式總覽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99999"/>
                </a:solidFill>
                <a:latin typeface="Microsoft JhengHei"/>
              </a:defRPr>
            </a:pPr>
            <a:r>
              <a:t>技術架構、設計語言、導航結構與使用者流程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3657600" cy="2560320"/>
          </a:xfrm>
          <a:prstGeom prst="roundRect">
            <a:avLst/>
          </a:prstGeom>
          <a:solidFill>
            <a:srgbClr val="12121A"/>
          </a:solidFill>
          <a:ln w="12700">
            <a:solidFill>
              <a:srgbClr val="B89A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32918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E8C547"/>
                </a:solidFill>
                <a:latin typeface="Microsoft JhengHei"/>
              </a:defRPr>
            </a:pPr>
            <a:r>
              <a:t>🛠 技術架構</a:t>
            </a:r>
          </a:p>
          <a:p>
            <a:pPr algn="l">
              <a:spcBef>
                <a:spcPts val="300"/>
              </a:spcBef>
              <a:defRPr sz="1300" b="0">
                <a:solidFill>
                  <a:srgbClr val="CCCCCC"/>
                </a:solidFill>
                <a:latin typeface="Microsoft JhengHei"/>
              </a:defRPr>
            </a:pPr>
            <a:r>
              <a:t>• React Native + Expo SDK 54</a:t>
            </a:r>
          </a:p>
          <a:p>
            <a:pPr algn="l">
              <a:spcBef>
                <a:spcPts val="300"/>
              </a:spcBef>
              <a:defRPr sz="1300" b="0">
                <a:solidFill>
                  <a:srgbClr val="CCCCCC"/>
                </a:solidFill>
                <a:latin typeface="Microsoft JhengHei"/>
              </a:defRPr>
            </a:pPr>
            <a:r>
              <a:t>• Expo Router 檔案式路由</a:t>
            </a:r>
          </a:p>
          <a:p>
            <a:pPr algn="l">
              <a:spcBef>
                <a:spcPts val="300"/>
              </a:spcBef>
              <a:defRPr sz="1300" b="0">
                <a:solidFill>
                  <a:srgbClr val="CCCCCC"/>
                </a:solidFill>
                <a:latin typeface="Microsoft JhengHei"/>
              </a:defRPr>
            </a:pPr>
            <a:r>
              <a:t>• Zustand + AsyncStorage 持久化</a:t>
            </a:r>
          </a:p>
          <a:p>
            <a:pPr algn="l">
              <a:spcBef>
                <a:spcPts val="300"/>
              </a:spcBef>
              <a:defRPr sz="1300" b="0">
                <a:solidFill>
                  <a:srgbClr val="CCCCCC"/>
                </a:solidFill>
                <a:latin typeface="Microsoft JhengHei"/>
              </a:defRPr>
            </a:pPr>
            <a:r>
              <a:t>• react-i18next 六語系國際化</a:t>
            </a:r>
          </a:p>
          <a:p>
            <a:pPr algn="l">
              <a:spcBef>
                <a:spcPts val="300"/>
              </a:spcBef>
              <a:defRPr sz="1300" b="0">
                <a:solidFill>
                  <a:srgbClr val="CCCCCC"/>
                </a:solidFill>
                <a:latin typeface="Microsoft JhengHei"/>
              </a:defRPr>
            </a:pPr>
            <a:r>
              <a:t>• RevenueCat 訂閱付費</a:t>
            </a:r>
          </a:p>
          <a:p>
            <a:pPr algn="l">
              <a:spcBef>
                <a:spcPts val="300"/>
              </a:spcBef>
              <a:defRPr sz="1300" b="0">
                <a:solidFill>
                  <a:srgbClr val="CCCCCC"/>
                </a:solidFill>
                <a:latin typeface="Microsoft JhengHei"/>
              </a:defRPr>
            </a:pPr>
            <a:r>
              <a:t>• Claude AI Vision API 面相分析</a:t>
            </a:r>
          </a:p>
          <a:p>
            <a:pPr algn="l">
              <a:spcBef>
                <a:spcPts val="300"/>
              </a:spcBef>
              <a:defRPr sz="1300" b="0">
                <a:solidFill>
                  <a:srgbClr val="CCCCCC"/>
                </a:solidFill>
                <a:latin typeface="Microsoft JhengHei"/>
              </a:defRPr>
            </a:pPr>
            <a:r>
              <a:t>• 本地命理引擎（八字/紫微/奇門/占星）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1371600"/>
            <a:ext cx="3657600" cy="2560320"/>
          </a:xfrm>
          <a:prstGeom prst="roundRect">
            <a:avLst/>
          </a:prstGeom>
          <a:solidFill>
            <a:srgbClr val="12121A"/>
          </a:solidFill>
          <a:ln w="12700">
            <a:solidFill>
              <a:srgbClr val="B89A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80560" y="1508760"/>
            <a:ext cx="32918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E8C547"/>
                </a:solidFill>
                <a:latin typeface="Microsoft JhengHei"/>
              </a:defRPr>
            </a:pPr>
            <a:r>
              <a:t>🎨 設計語言</a:t>
            </a:r>
          </a:p>
          <a:p>
            <a:pPr algn="l">
              <a:spcBef>
                <a:spcPts val="300"/>
              </a:spcBef>
              <a:defRPr sz="1300" b="0">
                <a:solidFill>
                  <a:srgbClr val="CCCCCC"/>
                </a:solidFill>
                <a:latin typeface="Microsoft JhengHei"/>
              </a:defRPr>
            </a:pPr>
            <a:r>
              <a:t>• 深色主題 (#08080f 底色)</a:t>
            </a:r>
          </a:p>
          <a:p>
            <a:pPr algn="l">
              <a:spcBef>
                <a:spcPts val="300"/>
              </a:spcBef>
              <a:defRPr sz="1300" b="0">
                <a:solidFill>
                  <a:srgbClr val="CCCCCC"/>
                </a:solidFill>
                <a:latin typeface="Microsoft JhengHei"/>
              </a:defRPr>
            </a:pPr>
            <a:r>
              <a:t>• 金色強調 (#e8c547)</a:t>
            </a:r>
          </a:p>
          <a:p>
            <a:pPr algn="l">
              <a:spcBef>
                <a:spcPts val="300"/>
              </a:spcBef>
              <a:defRPr sz="1300" b="0">
                <a:solidFill>
                  <a:srgbClr val="CCCCCC"/>
                </a:solidFill>
                <a:latin typeface="Microsoft JhengHei"/>
              </a:defRPr>
            </a:pPr>
            <a:r>
              <a:t>• 書法字體：MaShanZheng（標題）</a:t>
            </a:r>
          </a:p>
          <a:p>
            <a:pPr algn="l">
              <a:spcBef>
                <a:spcPts val="300"/>
              </a:spcBef>
              <a:defRPr sz="1300" b="0">
                <a:solidFill>
                  <a:srgbClr val="CCCCCC"/>
                </a:solidFill>
                <a:latin typeface="Microsoft JhengHei"/>
              </a:defRPr>
            </a:pPr>
            <a:r>
              <a:t>• 明體字體：NotoSerifTC（內文）</a:t>
            </a:r>
          </a:p>
          <a:p>
            <a:pPr algn="l">
              <a:spcBef>
                <a:spcPts val="300"/>
              </a:spcBef>
              <a:defRPr sz="1300" b="0">
                <a:solidFill>
                  <a:srgbClr val="CCCCCC"/>
                </a:solidFill>
                <a:latin typeface="Microsoft JhengHei"/>
              </a:defRPr>
            </a:pPr>
            <a:r>
              <a:t>• 半透明金邊容器</a:t>
            </a:r>
          </a:p>
          <a:p>
            <a:pPr algn="l">
              <a:spcBef>
                <a:spcPts val="300"/>
              </a:spcBef>
              <a:defRPr sz="1300" b="0">
                <a:solidFill>
                  <a:srgbClr val="CCCCCC"/>
                </a:solidFill>
                <a:latin typeface="Microsoft JhengHei"/>
              </a:defRPr>
            </a:pPr>
            <a:r>
              <a:t>• 東方神秘感美學風格</a:t>
            </a:r>
          </a:p>
          <a:p>
            <a:pPr algn="l">
              <a:spcBef>
                <a:spcPts val="300"/>
              </a:spcBef>
              <a:defRPr sz="1300" b="0">
                <a:solidFill>
                  <a:srgbClr val="CCCCCC"/>
                </a:solidFill>
                <a:latin typeface="Microsoft JhengHei"/>
              </a:defRPr>
            </a:pPr>
            <a:r>
              <a:t>• 浮動動畫 + 脈衝光暈效果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60" y="1371600"/>
            <a:ext cx="3657600" cy="2560320"/>
          </a:xfrm>
          <a:prstGeom prst="roundRect">
            <a:avLst/>
          </a:prstGeom>
          <a:solidFill>
            <a:srgbClr val="12121A"/>
          </a:solidFill>
          <a:ln w="12700">
            <a:solidFill>
              <a:srgbClr val="B89A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21040" y="1508760"/>
            <a:ext cx="32918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E8C547"/>
                </a:solidFill>
                <a:latin typeface="Microsoft JhengHei"/>
              </a:defRPr>
            </a:pPr>
            <a:r>
              <a:t>🧭 導航結構</a:t>
            </a:r>
          </a:p>
          <a:p>
            <a:pPr algn="l">
              <a:spcBef>
                <a:spcPts val="300"/>
              </a:spcBef>
              <a:defRPr sz="1300" b="0">
                <a:solidFill>
                  <a:srgbClr val="CCCCCC"/>
                </a:solidFill>
                <a:latin typeface="Microsoft JhengHei"/>
              </a:defRPr>
            </a:pPr>
            <a:r>
              <a:t>• Stack Navigator (Root)</a:t>
            </a:r>
          </a:p>
          <a:p>
            <a:pPr algn="l">
              <a:spcBef>
                <a:spcPts val="300"/>
              </a:spcBef>
              <a:defRPr sz="1300" b="0">
                <a:solidFill>
                  <a:srgbClr val="CCCCCC"/>
                </a:solidFill>
                <a:latin typeface="Microsoft JhengHei"/>
              </a:defRPr>
            </a:pPr>
            <a:r>
              <a:t>•   ├─ auth (登入/註冊)</a:t>
            </a:r>
          </a:p>
          <a:p>
            <a:pPr algn="l">
              <a:spcBef>
                <a:spcPts val="300"/>
              </a:spcBef>
              <a:defRPr sz="1300" b="0">
                <a:solidFill>
                  <a:srgbClr val="CCCCCC"/>
                </a:solidFill>
                <a:latin typeface="Microsoft JhengHei"/>
              </a:defRPr>
            </a:pPr>
            <a:r>
              <a:t>•   ├─ onboarding (新手引導)</a:t>
            </a:r>
          </a:p>
          <a:p>
            <a:pPr algn="l">
              <a:spcBef>
                <a:spcPts val="300"/>
              </a:spcBef>
              <a:defRPr sz="1300" b="0">
                <a:solidFill>
                  <a:srgbClr val="CCCCCC"/>
                </a:solidFill>
                <a:latin typeface="Microsoft JhengHei"/>
              </a:defRPr>
            </a:pPr>
            <a:r>
              <a:t>•   └─ (tabs) 主應用</a:t>
            </a:r>
          </a:p>
          <a:p>
            <a:pPr algn="l">
              <a:spcBef>
                <a:spcPts val="300"/>
              </a:spcBef>
              <a:defRPr sz="1300" b="0">
                <a:solidFill>
                  <a:srgbClr val="CCCCCC"/>
                </a:solidFill>
                <a:latin typeface="Microsoft JhengHei"/>
              </a:defRPr>
            </a:pPr>
            <a:r>
              <a:t>•        ├─ 🔮 靈寵 Tab</a:t>
            </a:r>
          </a:p>
          <a:p>
            <a:pPr algn="l">
              <a:spcBef>
                <a:spcPts val="300"/>
              </a:spcBef>
              <a:defRPr sz="1300" b="0">
                <a:solidFill>
                  <a:srgbClr val="CCCCCC"/>
                </a:solidFill>
                <a:latin typeface="Microsoft JhengHei"/>
              </a:defRPr>
            </a:pPr>
            <a:r>
              <a:t>•        └─ ⚙️ 我的 Tab</a:t>
            </a:r>
          </a:p>
          <a:p>
            <a:pPr algn="l">
              <a:spcBef>
                <a:spcPts val="300"/>
              </a:spcBef>
              <a:defRPr sz="1300" b="0">
                <a:solidFill>
                  <a:srgbClr val="CCCCCC"/>
                </a:solidFill>
                <a:latin typeface="Microsoft JhengHei"/>
              </a:defRPr>
            </a:pPr>
            <a:r>
              <a:t>• Auth Guard 自動跳轉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206240"/>
            <a:ext cx="11247120" cy="2286000"/>
          </a:xfrm>
          <a:prstGeom prst="roundRect">
            <a:avLst/>
          </a:prstGeom>
          <a:solidFill>
            <a:srgbClr val="12121A"/>
          </a:solidFill>
          <a:ln w="12700">
            <a:solidFill>
              <a:srgbClr val="B89A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42976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8C547"/>
                </a:solidFill>
                <a:latin typeface="Microsoft JhengHei"/>
              </a:defRPr>
            </a:pPr>
            <a:r>
              <a:t>📱 使用者流程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754880"/>
            <a:ext cx="1554480" cy="1463040"/>
          </a:xfrm>
          <a:prstGeom prst="roundRect">
            <a:avLst/>
          </a:prstGeom>
          <a:solidFill>
            <a:srgbClr val="1A1A25"/>
          </a:solidFill>
          <a:ln w="12700">
            <a:solidFill>
              <a:srgbClr val="B89A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19" y="48006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E8C547"/>
                </a:solidFill>
                <a:latin typeface="Microsoft JhengHei"/>
              </a:defRPr>
            </a:pPr>
            <a:r>
              <a:t>啟動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19" y="5120640"/>
            <a:ext cx="1371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CCCCC"/>
                </a:solidFill>
                <a:latin typeface="Microsoft JhengHei"/>
              </a:defRPr>
            </a:pPr>
            <a:r>
              <a:t>Splash</a:t>
            </a:r>
            <a:br/>
            <a:r>
              <a:t>字型載入</a:t>
            </a:r>
            <a:br/>
            <a:r>
              <a:t>認證檢查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14600" y="502920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E8C547"/>
                </a:solidFill>
                <a:latin typeface="Microsoft JhengHei"/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834640" y="4754880"/>
            <a:ext cx="1554480" cy="1463040"/>
          </a:xfrm>
          <a:prstGeom prst="roundRect">
            <a:avLst/>
          </a:prstGeom>
          <a:solidFill>
            <a:srgbClr val="1A1A25"/>
          </a:solidFill>
          <a:ln w="12700">
            <a:solidFill>
              <a:srgbClr val="B89A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26080" y="48006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E8C547"/>
                </a:solidFill>
                <a:latin typeface="Microsoft JhengHei"/>
              </a:defRPr>
            </a:pPr>
            <a:r>
              <a:t>登入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26080" y="5120640"/>
            <a:ext cx="1371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CCCCC"/>
                </a:solidFill>
                <a:latin typeface="Microsoft JhengHei"/>
              </a:defRPr>
            </a:pPr>
            <a:r>
              <a:t>Email/密碼</a:t>
            </a:r>
            <a:br/>
            <a:r>
              <a:t>Apple Sign-In</a:t>
            </a:r>
            <a:br/>
            <a:r>
              <a:t>新用戶註冊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09160" y="502920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E8C547"/>
                </a:solidFill>
                <a:latin typeface="Microsoft JhengHei"/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0" y="4754880"/>
            <a:ext cx="1554480" cy="1463040"/>
          </a:xfrm>
          <a:prstGeom prst="roundRect">
            <a:avLst/>
          </a:prstGeom>
          <a:solidFill>
            <a:srgbClr val="1A1A25"/>
          </a:solidFill>
          <a:ln w="12700">
            <a:solidFill>
              <a:srgbClr val="B89A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20640" y="48006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E8C547"/>
                </a:solidFill>
                <a:latin typeface="Microsoft JhengHei"/>
              </a:defRPr>
            </a:pPr>
            <a:r>
              <a:t>引導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0640" y="5120640"/>
            <a:ext cx="1371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CCCCC"/>
                </a:solidFill>
                <a:latin typeface="Microsoft JhengHei"/>
              </a:defRPr>
            </a:pPr>
            <a:r>
              <a:t>語言選擇</a:t>
            </a:r>
            <a:br/>
            <a:r>
              <a:t>姓名輸入</a:t>
            </a:r>
            <a:br/>
            <a:r>
              <a:t>生辰設定</a:t>
            </a:r>
            <a:br/>
            <a:r>
              <a:t>靈寵召喚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03720" y="502920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E8C547"/>
                </a:solidFill>
                <a:latin typeface="Microsoft JhengHei"/>
              </a:defRPr>
            </a:pPr>
            <a: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223759" y="4754880"/>
            <a:ext cx="1554480" cy="1463040"/>
          </a:xfrm>
          <a:prstGeom prst="roundRect">
            <a:avLst/>
          </a:prstGeom>
          <a:solidFill>
            <a:srgbClr val="1A1A25"/>
          </a:solidFill>
          <a:ln w="12700">
            <a:solidFill>
              <a:srgbClr val="B89A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199" y="48006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E8C547"/>
                </a:solidFill>
                <a:latin typeface="Microsoft JhengHei"/>
              </a:defRPr>
            </a:pPr>
            <a:r>
              <a:t>主畫面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199" y="5120640"/>
            <a:ext cx="1371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CCCCC"/>
                </a:solidFill>
                <a:latin typeface="Microsoft JhengHei"/>
              </a:defRPr>
            </a:pPr>
            <a:r>
              <a:t>每日運勢</a:t>
            </a:r>
            <a:br/>
            <a:r>
              <a:t>靈寵互動</a:t>
            </a:r>
            <a:br/>
            <a:r>
              <a:t>養成系統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98280" y="502920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E8C547"/>
                </a:solidFill>
                <a:latin typeface="Microsoft JhengHei"/>
              </a:defRPr>
            </a:pPr>
            <a: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418319" y="4754880"/>
            <a:ext cx="1554480" cy="1463040"/>
          </a:xfrm>
          <a:prstGeom prst="roundRect">
            <a:avLst/>
          </a:prstGeom>
          <a:solidFill>
            <a:srgbClr val="1A1A25"/>
          </a:solidFill>
          <a:ln w="12700">
            <a:solidFill>
              <a:srgbClr val="B89A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509759" y="48006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E8C547"/>
                </a:solidFill>
                <a:latin typeface="Microsoft JhengHei"/>
              </a:defRPr>
            </a:pPr>
            <a:r>
              <a:t>三大功能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509759" y="5120640"/>
            <a:ext cx="1371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CCCCC"/>
                </a:solidFill>
                <a:latin typeface="Microsoft JhengHei"/>
              </a:defRPr>
            </a:pPr>
            <a:r>
              <a:t>👁 靈眼·面相</a:t>
            </a:r>
            <a:br/>
            <a:r>
              <a:t>🌍 靈心·風水</a:t>
            </a:r>
            <a:br/>
            <a:r>
              <a:t>🏮 靈魂·占卜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92839" y="502920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E8C547"/>
                </a:solidFill>
                <a:latin typeface="Microsoft JhengHei"/>
              </a:defRPr>
            </a:pPr>
            <a:r>
              <a:t>→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612879" y="4754880"/>
            <a:ext cx="1554480" cy="1463040"/>
          </a:xfrm>
          <a:prstGeom prst="roundRect">
            <a:avLst/>
          </a:prstGeom>
          <a:solidFill>
            <a:srgbClr val="1A1A25"/>
          </a:solidFill>
          <a:ln w="12700">
            <a:solidFill>
              <a:srgbClr val="B89A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704319" y="48006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E8C547"/>
                </a:solidFill>
                <a:latin typeface="Microsoft JhengHei"/>
              </a:defRPr>
            </a:pPr>
            <a:r>
              <a:t>額度門檻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704319" y="5120640"/>
            <a:ext cx="1371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CCCCC"/>
                </a:solidFill>
                <a:latin typeface="Microsoft JhengHei"/>
              </a:defRPr>
            </a:pPr>
            <a:r>
              <a:t>超量→升級</a:t>
            </a:r>
            <a:br/>
            <a:r>
              <a:t>等級→升級</a:t>
            </a:r>
            <a:br/>
            <a:r>
              <a:t>RevenueCat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8C547"/>
                </a:solidFill>
                <a:latin typeface="Microsoft JhengHei"/>
              </a:defRPr>
            </a:pPr>
            <a:r>
              <a:t>02  登入 / 註冊畫面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99999"/>
                </a:solidFill>
                <a:latin typeface="Microsoft JhengHei"/>
              </a:defRPr>
            </a:pPr>
            <a:r>
              <a:t>app/auth.tsx — Email 帳號密碼登入 + Apple Sign-In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2560320" cy="4754880"/>
          </a:xfrm>
          <a:prstGeom prst="roundRect">
            <a:avLst/>
          </a:prstGeom>
          <a:solidFill>
            <a:srgbClr val="0E0E16"/>
          </a:solidFill>
          <a:ln w="25400">
            <a:solidFill>
              <a:srgbClr val="E8C5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645920" y="1353312"/>
            <a:ext cx="731520" cy="137160"/>
          </a:xfrm>
          <a:prstGeom prst="roundRect">
            <a:avLst/>
          </a:prstGeom>
          <a:solidFill>
            <a:srgbClr val="1A1A25"/>
          </a:solidFill>
          <a:ln w="12700">
            <a:solidFill>
              <a:srgbClr val="1A1A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E8C547"/>
                </a:solidFill>
                <a:latin typeface="Microsoft JhengHei"/>
              </a:defRPr>
            </a:pPr>
            <a:r>
              <a:t>登入模式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96596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8C547"/>
                </a:solidFill>
                <a:latin typeface="Microsoft JhengHei"/>
              </a:defRPr>
            </a:pPr>
            <a:r>
              <a:t>🔮 靈犀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203704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  <a:r>
              <a:t>LING XI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441448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868680" y="2679191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Microsoft JhengHei"/>
              </a:defRPr>
            </a:pPr>
            <a:r>
              <a:t>繼續使用 Apple 帳號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916935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  <a:r>
              <a:t>──── 或 ────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154679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868680" y="3392423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8C547"/>
                </a:solidFill>
                <a:latin typeface="Microsoft JhengHei"/>
              </a:defRPr>
            </a:pPr>
            <a:r>
              <a:t>登入帳號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630167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  <a:r>
              <a:t>📧 電子郵件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867911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  <a:r>
              <a:t>   your@email.com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105655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  <a:r>
              <a:t>🔒 密碼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343399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  <a:r>
              <a:t>   ••••••••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4581143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868680" y="4818887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Microsoft JhengHei"/>
              </a:defRPr>
            </a:pPr>
            <a:r>
              <a:t>[ 登    入 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5056631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</a:p>
        </p:txBody>
      </p:sp>
      <p:sp>
        <p:nvSpPr>
          <p:cNvPr id="21" name="TextBox 20"/>
          <p:cNvSpPr txBox="1"/>
          <p:nvPr/>
        </p:nvSpPr>
        <p:spPr>
          <a:xfrm>
            <a:off x="868680" y="5294375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  <a:r>
              <a:t>沒有帳號？ 註冊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57600" y="1280160"/>
            <a:ext cx="2560320" cy="4754880"/>
          </a:xfrm>
          <a:prstGeom prst="roundRect">
            <a:avLst/>
          </a:prstGeom>
          <a:solidFill>
            <a:srgbClr val="0E0E16"/>
          </a:solidFill>
          <a:ln w="25400">
            <a:solidFill>
              <a:srgbClr val="E8C5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572000" y="1353312"/>
            <a:ext cx="731520" cy="137160"/>
          </a:xfrm>
          <a:prstGeom prst="roundRect">
            <a:avLst/>
          </a:prstGeom>
          <a:solidFill>
            <a:srgbClr val="1A1A25"/>
          </a:solidFill>
          <a:ln w="12700">
            <a:solidFill>
              <a:srgbClr val="1A1A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794760" y="1600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E8C547"/>
                </a:solidFill>
                <a:latin typeface="Microsoft JhengHei"/>
              </a:defRPr>
            </a:pPr>
            <a:r>
              <a:t>註冊模式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94760" y="196596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8C547"/>
                </a:solidFill>
                <a:latin typeface="Microsoft JhengHei"/>
              </a:defRPr>
            </a:pPr>
            <a:r>
              <a:t>🔮 靈犀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94760" y="2203704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  <a:r>
              <a:t>LING XI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94760" y="2441448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</a:p>
        </p:txBody>
      </p:sp>
      <p:sp>
        <p:nvSpPr>
          <p:cNvPr id="28" name="TextBox 27"/>
          <p:cNvSpPr txBox="1"/>
          <p:nvPr/>
        </p:nvSpPr>
        <p:spPr>
          <a:xfrm>
            <a:off x="3794760" y="2679191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Microsoft JhengHei"/>
              </a:defRPr>
            </a:pPr>
            <a:r>
              <a:t>繼續使用 Apple 帳號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794760" y="2916935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  <a:r>
              <a:t>──── 或 ────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94760" y="3154679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</a:p>
        </p:txBody>
      </p:sp>
      <p:sp>
        <p:nvSpPr>
          <p:cNvPr id="31" name="TextBox 30"/>
          <p:cNvSpPr txBox="1"/>
          <p:nvPr/>
        </p:nvSpPr>
        <p:spPr>
          <a:xfrm>
            <a:off x="3794760" y="3392423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8C547"/>
                </a:solidFill>
                <a:latin typeface="Microsoft JhengHei"/>
              </a:defRPr>
            </a:pPr>
            <a:r>
              <a:t>註冊帳號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794760" y="3630167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  <a:r>
              <a:t>👤 姓名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794760" y="3867911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  <a:r>
              <a:t>   請輸入你的名字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794760" y="4105655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  <a:r>
              <a:t>📧 電子郵件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794760" y="4343399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  <a:r>
              <a:t>   your@email.com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794760" y="4581143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  <a:r>
              <a:t>🔒 密碼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794760" y="4818887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  <a:r>
              <a:t>   請輸入密碼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794760" y="5056631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Microsoft JhengHei"/>
              </a:defRPr>
            </a:pPr>
            <a:r>
              <a:t>[ 註    冊 ]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794760" y="5294375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  <a:r>
              <a:t>已有帳號？ 登入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675120" y="1280160"/>
            <a:ext cx="5029200" cy="2011680"/>
          </a:xfrm>
          <a:prstGeom prst="roundRect">
            <a:avLst/>
          </a:prstGeom>
          <a:solidFill>
            <a:srgbClr val="12121A"/>
          </a:solidFill>
          <a:ln w="12700">
            <a:solidFill>
              <a:srgbClr val="B89A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858000" y="1417319"/>
            <a:ext cx="4663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E8C547"/>
                </a:solidFill>
                <a:latin typeface="Microsoft JhengHei"/>
              </a:defRPr>
            </a:pPr>
            <a:r>
              <a:t>🔐 認證方式</a:t>
            </a:r>
          </a:p>
          <a:p>
            <a:pPr algn="l">
              <a:spcBef>
                <a:spcPts val="300"/>
              </a:spcBef>
              <a:defRPr sz="1300" b="0">
                <a:solidFill>
                  <a:srgbClr val="CCCCCC"/>
                </a:solidFill>
                <a:latin typeface="Microsoft JhengHei"/>
              </a:defRPr>
            </a:pPr>
            <a:r>
              <a:t>• Apple Sign-In — iOS 原生按鈕（請求 fullName + email scope）</a:t>
            </a:r>
          </a:p>
          <a:p>
            <a:pPr algn="l">
              <a:spcBef>
                <a:spcPts val="300"/>
              </a:spcBef>
              <a:defRPr sz="1300" b="0">
                <a:solidFill>
                  <a:srgbClr val="CCCCCC"/>
                </a:solidFill>
                <a:latin typeface="Microsoft JhengHei"/>
              </a:defRPr>
            </a:pPr>
            <a:r>
              <a:t>• Email / Password 登入 — JWT token 儲存於 AsyncStorage</a:t>
            </a:r>
          </a:p>
          <a:p>
            <a:pPr algn="l">
              <a:spcBef>
                <a:spcPts val="300"/>
              </a:spcBef>
              <a:defRPr sz="1300" b="0">
                <a:solidFill>
                  <a:srgbClr val="CCCCCC"/>
                </a:solidFill>
                <a:latin typeface="Microsoft JhengHei"/>
              </a:defRPr>
            </a:pPr>
            <a:r>
              <a:t>• Email / Password 註冊 — 必填：姓名、電子郵件、密碼</a:t>
            </a:r>
          </a:p>
          <a:p>
            <a:pPr algn="l">
              <a:spcBef>
                <a:spcPts val="300"/>
              </a:spcBef>
              <a:defRPr sz="1300" b="0">
                <a:solidFill>
                  <a:srgbClr val="CCCCCC"/>
                </a:solidFill>
                <a:latin typeface="Microsoft JhengHei"/>
              </a:defRPr>
            </a:pPr>
            <a:r>
              <a:t>• 登入/註冊模式切換 — 底部文字連結切換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675120" y="3566160"/>
            <a:ext cx="5029200" cy="1371600"/>
          </a:xfrm>
          <a:prstGeom prst="roundRect">
            <a:avLst/>
          </a:prstGeom>
          <a:solidFill>
            <a:srgbClr val="12121A"/>
          </a:solidFill>
          <a:ln w="12700">
            <a:solidFill>
              <a:srgbClr val="B89A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858000" y="3703320"/>
            <a:ext cx="4663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E8C547"/>
                </a:solidFill>
                <a:latin typeface="Microsoft JhengHei"/>
              </a:defRPr>
            </a:pPr>
            <a:r>
              <a:t>⚙️ 技術細節</a:t>
            </a:r>
          </a:p>
          <a:p>
            <a:pPr algn="l">
              <a:spcBef>
                <a:spcPts val="300"/>
              </a:spcBef>
              <a:defRPr sz="1300" b="0">
                <a:solidFill>
                  <a:srgbClr val="CCCCCC"/>
                </a:solidFill>
                <a:latin typeface="Microsoft JhengHei"/>
              </a:defRPr>
            </a:pPr>
            <a:r>
              <a:t>• Backend: /auth/login, /auth/register, /auth/apple</a:t>
            </a:r>
          </a:p>
          <a:p>
            <a:pPr algn="l">
              <a:spcBef>
                <a:spcPts val="300"/>
              </a:spcBef>
              <a:defRPr sz="1300" b="0">
                <a:solidFill>
                  <a:srgbClr val="CCCCCC"/>
                </a:solidFill>
                <a:latin typeface="Microsoft JhengHei"/>
              </a:defRPr>
            </a:pPr>
            <a:r>
              <a:t>• Token: JWT access + refresh token 自動更新</a:t>
            </a:r>
          </a:p>
          <a:p>
            <a:pPr algn="l">
              <a:spcBef>
                <a:spcPts val="300"/>
              </a:spcBef>
              <a:defRPr sz="1300" b="0">
                <a:solidFill>
                  <a:srgbClr val="CCCCCC"/>
                </a:solidFill>
                <a:latin typeface="Microsoft JhengHei"/>
              </a:defRPr>
            </a:pPr>
            <a:r>
              <a:t>• Apple Sign-In 需 development build（非 Expo Go）</a:t>
            </a:r>
          </a:p>
          <a:p>
            <a:pPr algn="l">
              <a:spcBef>
                <a:spcPts val="300"/>
              </a:spcBef>
              <a:defRPr sz="1300" b="0">
                <a:solidFill>
                  <a:srgbClr val="CCCCCC"/>
                </a:solidFill>
                <a:latin typeface="Microsoft JhengHei"/>
              </a:defRPr>
            </a:pPr>
            <a:r>
              <a:t>• Bundle ID: com.youquan.lingxi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675120" y="5166360"/>
            <a:ext cx="5029200" cy="914400"/>
          </a:xfrm>
          <a:prstGeom prst="roundRect">
            <a:avLst/>
          </a:prstGeom>
          <a:solidFill>
            <a:srgbClr val="12121A"/>
          </a:solidFill>
          <a:ln w="12700">
            <a:solidFill>
              <a:srgbClr val="B89A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858000" y="5303520"/>
            <a:ext cx="4663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E8C547"/>
                </a:solidFill>
                <a:latin typeface="Microsoft JhengHei"/>
              </a:defRPr>
            </a:pPr>
            <a:r>
              <a:t>💡 UX 處理</a:t>
            </a:r>
          </a:p>
          <a:p>
            <a:pPr algn="l">
              <a:spcBef>
                <a:spcPts val="300"/>
              </a:spcBef>
              <a:defRPr sz="1300" b="0">
                <a:solidFill>
                  <a:srgbClr val="CCCCCC"/>
                </a:solidFill>
                <a:latin typeface="Microsoft JhengHei"/>
              </a:defRPr>
            </a:pPr>
            <a:r>
              <a:t>• 全螢幕 Loading overlay：「認證中...」+ Spinner</a:t>
            </a:r>
          </a:p>
          <a:p>
            <a:pPr algn="l">
              <a:spcBef>
                <a:spcPts val="300"/>
              </a:spcBef>
              <a:defRPr sz="1300" b="0">
                <a:solidFill>
                  <a:srgbClr val="CCCCCC"/>
                </a:solidFill>
                <a:latin typeface="Microsoft JhengHei"/>
              </a:defRPr>
            </a:pPr>
            <a:r>
              <a:t>• 錯誤顯示：紅色邊框卡片顯示具體錯誤訊息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8C547"/>
                </a:solidFill>
                <a:latin typeface="Microsoft JhengHei"/>
              </a:defRPr>
            </a:pPr>
            <a:r>
              <a:t>03  新手引導流程 (1/2)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99999"/>
                </a:solidFill>
                <a:latin typeface="Microsoft JhengHei"/>
              </a:defRPr>
            </a:pPr>
            <a:r>
              <a:t>app/onboarding.tsx — 5 步驟精靈：語言 → 歡迎 → 姓名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2560320" cy="4754880"/>
          </a:xfrm>
          <a:prstGeom prst="roundRect">
            <a:avLst/>
          </a:prstGeom>
          <a:solidFill>
            <a:srgbClr val="0E0E16"/>
          </a:solidFill>
          <a:ln w="25400">
            <a:solidFill>
              <a:srgbClr val="E8C5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371600" y="1353312"/>
            <a:ext cx="731520" cy="137160"/>
          </a:xfrm>
          <a:prstGeom prst="roundRect">
            <a:avLst/>
          </a:prstGeom>
          <a:solidFill>
            <a:srgbClr val="1A1A25"/>
          </a:solidFill>
          <a:ln w="12700">
            <a:solidFill>
              <a:srgbClr val="1A1A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E8C547"/>
                </a:solidFill>
                <a:latin typeface="Microsoft JhengHei"/>
              </a:defRPr>
            </a:pPr>
            <a:r>
              <a:t>Step 0 · 語言選擇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96596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594360" y="2203704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8C547"/>
                </a:solidFill>
                <a:latin typeface="Microsoft JhengHei"/>
              </a:defRPr>
            </a:pPr>
            <a:r>
              <a:t>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441448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594360" y="2679191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  <a:r>
              <a:t>🇹🇼 繁體中文        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916935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  <a:r>
              <a:t>🇨🇳 简体中文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154679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  <a:r>
              <a:t>🇯🇵 日本語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392423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  <a:r>
              <a:t>🇺🇸 English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630167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  <a:r>
              <a:t>🇩🇪 Deutsch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3867911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  <a:r>
              <a:t>🇫🇷 Français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4105655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</a:p>
        </p:txBody>
      </p:sp>
      <p:sp>
        <p:nvSpPr>
          <p:cNvPr id="17" name="TextBox 16"/>
          <p:cNvSpPr txBox="1"/>
          <p:nvPr/>
        </p:nvSpPr>
        <p:spPr>
          <a:xfrm>
            <a:off x="594360" y="4343399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</a:p>
        </p:txBody>
      </p:sp>
      <p:sp>
        <p:nvSpPr>
          <p:cNvPr id="18" name="TextBox 17"/>
          <p:cNvSpPr txBox="1"/>
          <p:nvPr/>
        </p:nvSpPr>
        <p:spPr>
          <a:xfrm>
            <a:off x="594360" y="4581143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594360" y="4818887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Microsoft JhengHei"/>
              </a:defRPr>
            </a:pPr>
            <a:r>
              <a:t>[ 下一步 ]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383280" y="1280160"/>
            <a:ext cx="2560320" cy="4754880"/>
          </a:xfrm>
          <a:prstGeom prst="roundRect">
            <a:avLst/>
          </a:prstGeom>
          <a:solidFill>
            <a:srgbClr val="0E0E16"/>
          </a:solidFill>
          <a:ln w="25400">
            <a:solidFill>
              <a:srgbClr val="E8C5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297679" y="1353312"/>
            <a:ext cx="731520" cy="137160"/>
          </a:xfrm>
          <a:prstGeom prst="roundRect">
            <a:avLst/>
          </a:prstGeom>
          <a:solidFill>
            <a:srgbClr val="1A1A25"/>
          </a:solidFill>
          <a:ln w="12700">
            <a:solidFill>
              <a:srgbClr val="1A1A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520440" y="1600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E8C547"/>
                </a:solidFill>
                <a:latin typeface="Microsoft JhengHei"/>
              </a:defRPr>
            </a:pPr>
            <a:r>
              <a:t>Step 1 · 歡迎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20440" y="196596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</a:p>
        </p:txBody>
      </p:sp>
      <p:sp>
        <p:nvSpPr>
          <p:cNvPr id="24" name="TextBox 23"/>
          <p:cNvSpPr txBox="1"/>
          <p:nvPr/>
        </p:nvSpPr>
        <p:spPr>
          <a:xfrm>
            <a:off x="3520440" y="2203704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8C547"/>
                </a:solidFill>
                <a:latin typeface="Microsoft JhengHei"/>
              </a:defRPr>
            </a:pPr>
            <a:r>
              <a:t>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20440" y="2441448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</a:p>
        </p:txBody>
      </p:sp>
      <p:sp>
        <p:nvSpPr>
          <p:cNvPr id="26" name="TextBox 25"/>
          <p:cNvSpPr txBox="1"/>
          <p:nvPr/>
        </p:nvSpPr>
        <p:spPr>
          <a:xfrm>
            <a:off x="3520440" y="2679191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8C547"/>
                </a:solidFill>
                <a:latin typeface="Microsoft JhengHei"/>
              </a:defRPr>
            </a:pPr>
            <a:r>
              <a:t>靈犀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20440" y="2916935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  <a:r>
              <a:t>LING XI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20440" y="3154679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</a:p>
        </p:txBody>
      </p:sp>
      <p:sp>
        <p:nvSpPr>
          <p:cNvPr id="29" name="TextBox 28"/>
          <p:cNvSpPr txBox="1"/>
          <p:nvPr/>
        </p:nvSpPr>
        <p:spPr>
          <a:xfrm>
            <a:off x="3520440" y="3392423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  <a:r>
              <a:t>AI 面相 · 八字命理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20440" y="3630167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  <a:r>
              <a:t>紫微斗數 · 奇門遁甲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20440" y="3867911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  <a:r>
              <a:t>靈寵陪伴 · 即時風水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20440" y="4105655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</a:p>
        </p:txBody>
      </p:sp>
      <p:sp>
        <p:nvSpPr>
          <p:cNvPr id="33" name="TextBox 32"/>
          <p:cNvSpPr txBox="1"/>
          <p:nvPr/>
        </p:nvSpPr>
        <p:spPr>
          <a:xfrm>
            <a:off x="3520440" y="4343399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  <a:r>
              <a:t>你的隨身玄學生活顧問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20440" y="4581143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</a:p>
        </p:txBody>
      </p:sp>
      <p:sp>
        <p:nvSpPr>
          <p:cNvPr id="35" name="TextBox 34"/>
          <p:cNvSpPr txBox="1"/>
          <p:nvPr/>
        </p:nvSpPr>
        <p:spPr>
          <a:xfrm>
            <a:off x="3520440" y="4818887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</a:p>
        </p:txBody>
      </p:sp>
      <p:sp>
        <p:nvSpPr>
          <p:cNvPr id="36" name="TextBox 35"/>
          <p:cNvSpPr txBox="1"/>
          <p:nvPr/>
        </p:nvSpPr>
        <p:spPr>
          <a:xfrm>
            <a:off x="3520440" y="5056631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Microsoft JhengHei"/>
              </a:defRPr>
            </a:pPr>
            <a:r>
              <a:t>[ 開始體驗 ]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309360" y="1280160"/>
            <a:ext cx="2560320" cy="4754880"/>
          </a:xfrm>
          <a:prstGeom prst="roundRect">
            <a:avLst/>
          </a:prstGeom>
          <a:solidFill>
            <a:srgbClr val="0E0E16"/>
          </a:solidFill>
          <a:ln w="25400">
            <a:solidFill>
              <a:srgbClr val="E8C5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7223760" y="1353312"/>
            <a:ext cx="731520" cy="137160"/>
          </a:xfrm>
          <a:prstGeom prst="roundRect">
            <a:avLst/>
          </a:prstGeom>
          <a:solidFill>
            <a:srgbClr val="1A1A25"/>
          </a:solidFill>
          <a:ln w="12700">
            <a:solidFill>
              <a:srgbClr val="1A1A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46520" y="1600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E8C547"/>
                </a:solidFill>
                <a:latin typeface="Microsoft JhengHei"/>
              </a:defRPr>
            </a:pPr>
            <a:r>
              <a:t>Step 2 · 姓名輸入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46520" y="196596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</a:p>
        </p:txBody>
      </p:sp>
      <p:sp>
        <p:nvSpPr>
          <p:cNvPr id="41" name="TextBox 40"/>
          <p:cNvSpPr txBox="1"/>
          <p:nvPr/>
        </p:nvSpPr>
        <p:spPr>
          <a:xfrm>
            <a:off x="6446520" y="2203704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8C547"/>
                </a:solidFill>
                <a:latin typeface="Microsoft JhengHei"/>
              </a:defRPr>
            </a:pPr>
            <a:r>
              <a:t>你是誰？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46520" y="2441448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</a:p>
        </p:txBody>
      </p:sp>
      <p:sp>
        <p:nvSpPr>
          <p:cNvPr id="43" name="TextBox 42"/>
          <p:cNvSpPr txBox="1"/>
          <p:nvPr/>
        </p:nvSpPr>
        <p:spPr>
          <a:xfrm>
            <a:off x="6446520" y="2679191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  <a:r>
              <a:t>請告訴靈犀你的名字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46520" y="2916935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  <a:r>
              <a:t>讓靈寵認識你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46520" y="3154679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</a:p>
        </p:txBody>
      </p:sp>
      <p:sp>
        <p:nvSpPr>
          <p:cNvPr id="46" name="TextBox 45"/>
          <p:cNvSpPr txBox="1"/>
          <p:nvPr/>
        </p:nvSpPr>
        <p:spPr>
          <a:xfrm>
            <a:off x="6446520" y="3392423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  <a:r>
              <a:t>┌──────────────┐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46520" y="3630167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  <a:r>
              <a:t>│ 請輸入你的名字    │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46520" y="3867911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  <a:r>
              <a:t>└──────────────┘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46520" y="4105655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  <a:r>
              <a:t>(最多 20 字元)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46520" y="4343399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</a:p>
        </p:txBody>
      </p:sp>
      <p:sp>
        <p:nvSpPr>
          <p:cNvPr id="51" name="TextBox 50"/>
          <p:cNvSpPr txBox="1"/>
          <p:nvPr/>
        </p:nvSpPr>
        <p:spPr>
          <a:xfrm>
            <a:off x="6446520" y="4581143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</a:p>
        </p:txBody>
      </p:sp>
      <p:sp>
        <p:nvSpPr>
          <p:cNvPr id="52" name="TextBox 51"/>
          <p:cNvSpPr txBox="1"/>
          <p:nvPr/>
        </p:nvSpPr>
        <p:spPr>
          <a:xfrm>
            <a:off x="6446520" y="4818887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</a:p>
        </p:txBody>
      </p:sp>
      <p:sp>
        <p:nvSpPr>
          <p:cNvPr id="53" name="TextBox 52"/>
          <p:cNvSpPr txBox="1"/>
          <p:nvPr/>
        </p:nvSpPr>
        <p:spPr>
          <a:xfrm>
            <a:off x="6446520" y="5056631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Microsoft JhengHei"/>
              </a:defRPr>
            </a:pPr>
            <a:r>
              <a:t>[ 下一步 ]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9235440" y="1280160"/>
            <a:ext cx="2560320" cy="4754880"/>
          </a:xfrm>
          <a:prstGeom prst="roundRect">
            <a:avLst/>
          </a:prstGeom>
          <a:solidFill>
            <a:srgbClr val="12121A"/>
          </a:solidFill>
          <a:ln w="12700">
            <a:solidFill>
              <a:srgbClr val="B89A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418319" y="1417319"/>
            <a:ext cx="21945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E8C547"/>
                </a:solidFill>
                <a:latin typeface="Microsoft JhengHei"/>
              </a:defRPr>
            </a:pPr>
            <a:r>
              <a:t>📝 引導說明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CCCCCC"/>
                </a:solidFill>
                <a:latin typeface="Microsoft JhengHei"/>
              </a:defRPr>
            </a:pPr>
            <a:r>
              <a:t>• 共 5 步驟 (0-4)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CCCCCC"/>
                </a:solidFill>
                <a:latin typeface="Microsoft JhengHei"/>
              </a:defRPr>
            </a:pPr>
            <a:r>
              <a:t>• 進度指示器顯示當前步驟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CCCCCC"/>
                </a:solidFill>
                <a:latin typeface="Microsoft JhengHei"/>
              </a:defRPr>
            </a:pPr>
            <a:r>
              <a:t>• 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CCCCCC"/>
                </a:solidFill>
                <a:latin typeface="Microsoft JhengHei"/>
              </a:defRPr>
            </a:pPr>
            <a:r>
              <a:t>• Step 0: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CCCCCC"/>
                </a:solidFill>
                <a:latin typeface="Microsoft JhengHei"/>
              </a:defRPr>
            </a:pPr>
            <a:r>
              <a:t>•   自動偵測裝置語系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CCCCCC"/>
                </a:solidFill>
                <a:latin typeface="Microsoft JhengHei"/>
              </a:defRPr>
            </a:pPr>
            <a:r>
              <a:t>•   支援 6 種語言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CCCCCC"/>
                </a:solidFill>
                <a:latin typeface="Microsoft JhengHei"/>
              </a:defRPr>
            </a:pPr>
            <a:r>
              <a:t>•   選擇後立即切換 UI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CCCCCC"/>
                </a:solidFill>
                <a:latin typeface="Microsoft JhengHei"/>
              </a:defRPr>
            </a:pPr>
            <a:r>
              <a:t>• 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CCCCCC"/>
                </a:solidFill>
                <a:latin typeface="Microsoft JhengHei"/>
              </a:defRPr>
            </a:pPr>
            <a:r>
              <a:t>• Step 1: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CCCCCC"/>
                </a:solidFill>
                <a:latin typeface="Microsoft JhengHei"/>
              </a:defRPr>
            </a:pPr>
            <a:r>
              <a:t>•   品牌展示頁面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CCCCCC"/>
                </a:solidFill>
                <a:latin typeface="Microsoft JhengHei"/>
              </a:defRPr>
            </a:pPr>
            <a:r>
              <a:t>•   列出所有核心功能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CCCCCC"/>
                </a:solidFill>
                <a:latin typeface="Microsoft JhengHei"/>
              </a:defRPr>
            </a:pPr>
            <a:r>
              <a:t>• 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CCCCCC"/>
                </a:solidFill>
                <a:latin typeface="Microsoft JhengHei"/>
              </a:defRPr>
            </a:pPr>
            <a:r>
              <a:t>• Step 2: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CCCCCC"/>
                </a:solidFill>
                <a:latin typeface="Microsoft JhengHei"/>
              </a:defRPr>
            </a:pPr>
            <a:r>
              <a:t>•   姓名為必填欄位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CCCCCC"/>
                </a:solidFill>
                <a:latin typeface="Microsoft JhengHei"/>
              </a:defRPr>
            </a:pPr>
            <a:r>
              <a:t>•   未填寫時按鈕禁用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CCCCCC"/>
                </a:solidFill>
                <a:latin typeface="Microsoft JhengHei"/>
              </a:defRPr>
            </a:pPr>
            <a:r>
              <a:t>•   最多 20 字元限制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8C547"/>
                </a:solidFill>
                <a:latin typeface="Microsoft JhengHei"/>
              </a:defRPr>
            </a:pPr>
            <a:r>
              <a:t>03  新手引導流程 (2/2)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99999"/>
                </a:solidFill>
                <a:latin typeface="Microsoft JhengHei"/>
              </a:defRPr>
            </a:pPr>
            <a:r>
              <a:t>生辰資料輸入 → 靈寵召喚結果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3200400" cy="5029200"/>
          </a:xfrm>
          <a:prstGeom prst="roundRect">
            <a:avLst/>
          </a:prstGeom>
          <a:solidFill>
            <a:srgbClr val="0E0E16"/>
          </a:solidFill>
          <a:ln w="25400">
            <a:solidFill>
              <a:srgbClr val="E8C5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691640" y="1353312"/>
            <a:ext cx="731520" cy="137160"/>
          </a:xfrm>
          <a:prstGeom prst="roundRect">
            <a:avLst/>
          </a:prstGeom>
          <a:solidFill>
            <a:srgbClr val="1A1A25"/>
          </a:solidFill>
          <a:ln w="12700">
            <a:solidFill>
              <a:srgbClr val="1A1A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E8C547"/>
                </a:solidFill>
                <a:latin typeface="Microsoft JhengHei"/>
              </a:defRPr>
            </a:pPr>
            <a:r>
              <a:t>Step 3 · 生辰輸入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965960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8C547"/>
                </a:solidFill>
                <a:latin typeface="Microsoft JhengHei"/>
              </a:defRPr>
            </a:pPr>
            <a:r>
              <a:t>你的生辰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203704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594360" y="2441448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  <a:r>
              <a:t>☀ 國曆（西元）  |  🌙 農曆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679191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594360" y="2916935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  <a:r>
              <a:t>┌──┐ ┌──┐ ┌──┐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154679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  <a:r>
              <a:t>│年│ │月│ │日│  ← 滾輪選擇器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392423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  <a:r>
              <a:t>└──┘ └──┘ └──┘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630167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  <a:r>
              <a:t>(1930-2026) (1-12) (動態)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3867911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594360" y="4105655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Microsoft JhengHei"/>
              </a:defRPr>
            </a:pPr>
            <a:r>
              <a:t>時辰選擇（橫向捲動）: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4343399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  <a:r>
              <a:t>子時 丑時 寅時 卯時 辰時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4581143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  <a:r>
              <a:t>巳時 午時 未時 申時 酉時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4818887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  <a:r>
              <a:t>戌時 亥時  [不知道時辰]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5056631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</a:p>
        </p:txBody>
      </p:sp>
      <p:sp>
        <p:nvSpPr>
          <p:cNvPr id="21" name="TextBox 20"/>
          <p:cNvSpPr txBox="1"/>
          <p:nvPr/>
        </p:nvSpPr>
        <p:spPr>
          <a:xfrm>
            <a:off x="594360" y="5294375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Microsoft JhengHei"/>
              </a:defRPr>
            </a:pPr>
            <a:r>
              <a:t>性別:  ♂ 男  |  ♀ 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5532119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594360" y="5769863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  <a:r>
              <a:t>[返回]     [召喚靈寵]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023360" y="1280160"/>
            <a:ext cx="3200400" cy="5029200"/>
          </a:xfrm>
          <a:prstGeom prst="roundRect">
            <a:avLst/>
          </a:prstGeom>
          <a:solidFill>
            <a:srgbClr val="0E0E16"/>
          </a:solidFill>
          <a:ln w="25400">
            <a:solidFill>
              <a:srgbClr val="E8C5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257800" y="1353312"/>
            <a:ext cx="731520" cy="137160"/>
          </a:xfrm>
          <a:prstGeom prst="roundRect">
            <a:avLst/>
          </a:prstGeom>
          <a:solidFill>
            <a:srgbClr val="1A1A25"/>
          </a:solidFill>
          <a:ln w="12700">
            <a:solidFill>
              <a:srgbClr val="1A1A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60520" y="160020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E8C547"/>
                </a:solidFill>
                <a:latin typeface="Microsoft JhengHei"/>
              </a:defRPr>
            </a:pPr>
            <a:r>
              <a:t>Step 4 · 靈寵降臨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60520" y="1965960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</a:p>
        </p:txBody>
      </p:sp>
      <p:sp>
        <p:nvSpPr>
          <p:cNvPr id="28" name="TextBox 27"/>
          <p:cNvSpPr txBox="1"/>
          <p:nvPr/>
        </p:nvSpPr>
        <p:spPr>
          <a:xfrm>
            <a:off x="4160520" y="2203704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8C547"/>
                </a:solidFill>
                <a:latin typeface="Microsoft JhengHei"/>
              </a:defRPr>
            </a:pPr>
            <a:r>
              <a:t>🦌 (靈寵 emoji, 80px)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60520" y="2441448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</a:p>
        </p:txBody>
      </p:sp>
      <p:sp>
        <p:nvSpPr>
          <p:cNvPr id="30" name="TextBox 29"/>
          <p:cNvSpPr txBox="1"/>
          <p:nvPr/>
        </p:nvSpPr>
        <p:spPr>
          <a:xfrm>
            <a:off x="4160520" y="2679191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8C547"/>
                </a:solidFill>
                <a:latin typeface="Microsoft JhengHei"/>
              </a:defRPr>
            </a:pPr>
            <a:r>
              <a:t>靈寵已降臨！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60520" y="2916935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  <a:r>
              <a:t>「青芽鹿」已與你建立靈犀之約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60520" y="3154679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</a:p>
        </p:txBody>
      </p:sp>
      <p:sp>
        <p:nvSpPr>
          <p:cNvPr id="33" name="TextBox 32"/>
          <p:cNvSpPr txBox="1"/>
          <p:nvPr/>
        </p:nvSpPr>
        <p:spPr>
          <a:xfrm>
            <a:off x="4160520" y="3392423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Microsoft JhengHei"/>
              </a:defRPr>
            </a:pPr>
            <a:r>
              <a:t>紫微命盤: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60520" y="3630167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  <a:r>
              <a:t>  命宮主星 + 性格描述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60520" y="3867911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Microsoft JhengHei"/>
              </a:defRPr>
            </a:pPr>
            <a:r>
              <a:t>西洋占星: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60520" y="4105655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  <a:r>
              <a:t>  ♓ 星座 + 元素 + 守護星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60520" y="4343399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</a:p>
        </p:txBody>
      </p:sp>
      <p:sp>
        <p:nvSpPr>
          <p:cNvPr id="38" name="TextBox 37"/>
          <p:cNvSpPr txBox="1"/>
          <p:nvPr/>
        </p:nvSpPr>
        <p:spPr>
          <a:xfrm>
            <a:off x="4160520" y="4581143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Microsoft JhengHei"/>
              </a:defRPr>
            </a:pPr>
            <a:r>
              <a:t>解鎖路線圖: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160520" y="4818887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  <a:r>
              <a:t>Lv.1 💬  Lv.3 🔔  Lv.5 👔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160520" y="5056631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  <a:r>
              <a:t>Lv.8 🧭  Lv.10 ✨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160520" y="5294375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</a:p>
        </p:txBody>
      </p:sp>
      <p:sp>
        <p:nvSpPr>
          <p:cNvPr id="42" name="TextBox 41"/>
          <p:cNvSpPr txBox="1"/>
          <p:nvPr/>
        </p:nvSpPr>
        <p:spPr>
          <a:xfrm>
            <a:off x="4160520" y="5532119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  <a:r>
              <a:t>免費版 | 會員版 | 至尊版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160520" y="5769863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</a:p>
        </p:txBody>
      </p:sp>
      <p:sp>
        <p:nvSpPr>
          <p:cNvPr id="44" name="Rounded Rectangle 43"/>
          <p:cNvSpPr/>
          <p:nvPr/>
        </p:nvSpPr>
        <p:spPr>
          <a:xfrm>
            <a:off x="7589520" y="1280160"/>
            <a:ext cx="4206240" cy="2377440"/>
          </a:xfrm>
          <a:prstGeom prst="roundRect">
            <a:avLst/>
          </a:prstGeom>
          <a:solidFill>
            <a:srgbClr val="12121A"/>
          </a:solidFill>
          <a:ln w="12700">
            <a:solidFill>
              <a:srgbClr val="B89A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772400" y="1417319"/>
            <a:ext cx="3840479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E8C547"/>
                </a:solidFill>
                <a:latin typeface="Microsoft JhengHei"/>
              </a:defRPr>
            </a:pPr>
            <a:r>
              <a:t>📅 Step 3 · 生辰設定細節</a:t>
            </a:r>
          </a:p>
          <a:p>
            <a:pPr algn="l">
              <a:spcBef>
                <a:spcPts val="300"/>
              </a:spcBef>
              <a:defRPr sz="1300" b="0">
                <a:solidFill>
                  <a:srgbClr val="CCCCCC"/>
                </a:solidFill>
                <a:latin typeface="Microsoft JhengHei"/>
              </a:defRPr>
            </a:pPr>
            <a:r>
              <a:t>• 日曆類型切換：國曆 ↔ 農曆（含自動轉換）</a:t>
            </a:r>
          </a:p>
          <a:p>
            <a:pPr algn="l">
              <a:spcBef>
                <a:spcPts val="300"/>
              </a:spcBef>
              <a:defRPr sz="1300" b="0">
                <a:solidFill>
                  <a:srgbClr val="CCCCCC"/>
                </a:solidFill>
                <a:latin typeface="Microsoft JhengHei"/>
              </a:defRPr>
            </a:pPr>
            <a:r>
              <a:t>• WheelPicker 滾輪選擇器：iOS 風格, 5 項可見</a:t>
            </a:r>
          </a:p>
          <a:p>
            <a:pPr algn="l">
              <a:spcBef>
                <a:spcPts val="300"/>
              </a:spcBef>
              <a:defRPr sz="1300" b="0">
                <a:solidFill>
                  <a:srgbClr val="CCCCCC"/>
                </a:solidFill>
                <a:latin typeface="Microsoft JhengHei"/>
              </a:defRPr>
            </a:pPr>
            <a:r>
              <a:t>• 十二時辰：子時(23-01)到亥時(21-23)，含「不知道」選項</a:t>
            </a:r>
          </a:p>
          <a:p>
            <a:pPr algn="l">
              <a:spcBef>
                <a:spcPts val="300"/>
              </a:spcBef>
              <a:defRPr sz="1300" b="0">
                <a:solidFill>
                  <a:srgbClr val="CCCCCC"/>
                </a:solidFill>
                <a:latin typeface="Microsoft JhengHei"/>
              </a:defRPr>
            </a:pPr>
            <a:r>
              <a:t>• 性別選擇：影響八字命理計算</a:t>
            </a:r>
          </a:p>
          <a:p>
            <a:pPr algn="l">
              <a:spcBef>
                <a:spcPts val="300"/>
              </a:spcBef>
              <a:defRPr sz="1300" b="0">
                <a:solidFill>
                  <a:srgbClr val="CCCCCC"/>
                </a:solidFill>
                <a:latin typeface="Microsoft JhengHei"/>
              </a:defRPr>
            </a:pPr>
            <a:r>
              <a:t>• 所有數據同步儲存至 user-store + 後端 API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589520" y="3931920"/>
            <a:ext cx="4206240" cy="2377440"/>
          </a:xfrm>
          <a:prstGeom prst="roundRect">
            <a:avLst/>
          </a:prstGeom>
          <a:solidFill>
            <a:srgbClr val="12121A"/>
          </a:solidFill>
          <a:ln w="12700">
            <a:solidFill>
              <a:srgbClr val="B89A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772400" y="4069080"/>
            <a:ext cx="3840479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E8C547"/>
                </a:solidFill>
                <a:latin typeface="Microsoft JhengHei"/>
              </a:defRPr>
            </a:pPr>
            <a:r>
              <a:t>🐉 Step 4 · 靈寵召喚結果</a:t>
            </a:r>
          </a:p>
          <a:p>
            <a:pPr algn="l">
              <a:spcBef>
                <a:spcPts val="300"/>
              </a:spcBef>
              <a:defRPr sz="1300" b="0">
                <a:solidFill>
                  <a:srgbClr val="CCCCCC"/>
                </a:solidFill>
                <a:latin typeface="Microsoft JhengHei"/>
              </a:defRPr>
            </a:pPr>
            <a:r>
              <a:t>• 根據生日節氣自動配對 24 靈寵之一</a:t>
            </a:r>
          </a:p>
          <a:p>
            <a:pPr algn="l">
              <a:spcBef>
                <a:spcPts val="300"/>
              </a:spcBef>
              <a:defRPr sz="1300" b="0">
                <a:solidFill>
                  <a:srgbClr val="CCCCCC"/>
                </a:solidFill>
                <a:latin typeface="Microsoft JhengHei"/>
              </a:defRPr>
            </a:pPr>
            <a:r>
              <a:t>• 顯示紫微斗數命盤摘要（命宮主星）</a:t>
            </a:r>
          </a:p>
          <a:p>
            <a:pPr algn="l">
              <a:spcBef>
                <a:spcPts val="300"/>
              </a:spcBef>
              <a:defRPr sz="1300" b="0">
                <a:solidFill>
                  <a:srgbClr val="CCCCCC"/>
                </a:solidFill>
                <a:latin typeface="Microsoft JhengHei"/>
              </a:defRPr>
            </a:pPr>
            <a:r>
              <a:t>• 顯示西洋占星資訊（星座/元素/守護星）</a:t>
            </a:r>
          </a:p>
          <a:p>
            <a:pPr algn="l">
              <a:spcBef>
                <a:spcPts val="300"/>
              </a:spcBef>
              <a:defRPr sz="1300" b="0">
                <a:solidFill>
                  <a:srgbClr val="CCCCCC"/>
                </a:solidFill>
                <a:latin typeface="Microsoft JhengHei"/>
              </a:defRPr>
            </a:pPr>
            <a:r>
              <a:t>• 5 階段解鎖路線圖預覽</a:t>
            </a:r>
          </a:p>
          <a:p>
            <a:pPr algn="l">
              <a:spcBef>
                <a:spcPts val="300"/>
              </a:spcBef>
              <a:defRPr sz="1300" b="0">
                <a:solidFill>
                  <a:srgbClr val="CCCCCC"/>
                </a:solidFill>
                <a:latin typeface="Microsoft JhengHei"/>
              </a:defRPr>
            </a:pPr>
            <a:r>
              <a:t>• 三種訂閱方案比較（免費/會員/至尊）</a:t>
            </a:r>
          </a:p>
          <a:p>
            <a:pPr algn="l">
              <a:spcBef>
                <a:spcPts val="300"/>
              </a:spcBef>
              <a:defRPr sz="1300" b="0">
                <a:solidFill>
                  <a:srgbClr val="CCCCCC"/>
                </a:solidFill>
                <a:latin typeface="Microsoft JhengHei"/>
              </a:defRPr>
            </a:pPr>
            <a:r>
              <a:t>• 完成後導航至主畫面 /(tabs)/pet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8C547"/>
                </a:solidFill>
                <a:latin typeface="Microsoft JhengHei"/>
              </a:defRPr>
            </a:pPr>
            <a:r>
              <a:t>04  主畫面 — 靈寵互動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99999"/>
                </a:solidFill>
                <a:latin typeface="Microsoft JhengHei"/>
              </a:defRPr>
            </a:pPr>
            <a:r>
              <a:t>app/(tabs)/pet.tsx — 核心互動畫面，兩種狀態佈局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2926080" cy="5029200"/>
          </a:xfrm>
          <a:prstGeom prst="roundRect">
            <a:avLst/>
          </a:prstGeom>
          <a:solidFill>
            <a:srgbClr val="0E0E16"/>
          </a:solidFill>
          <a:ln w="25400">
            <a:solidFill>
              <a:srgbClr val="E8C5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54480" y="1353312"/>
            <a:ext cx="731520" cy="137160"/>
          </a:xfrm>
          <a:prstGeom prst="roundRect">
            <a:avLst/>
          </a:prstGeom>
          <a:solidFill>
            <a:srgbClr val="1A1A25"/>
          </a:solidFill>
          <a:ln w="12700">
            <a:solidFill>
              <a:srgbClr val="1A1A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E8C547"/>
                </a:solidFill>
                <a:latin typeface="Microsoft JhengHei"/>
              </a:defRPr>
            </a:pPr>
            <a:r>
              <a:t>一般狀態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965960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Microsoft JhengHei"/>
              </a:defRPr>
            </a:pPr>
            <a:r>
              <a:t>靈犀          3月14日·午時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203704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  <a:r>
              <a:t>Lv.5 青芽鹿 · 木系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441448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594360" y="2679191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8C547"/>
                </a:solidFill>
                <a:latin typeface="Microsoft JhengHei"/>
              </a:defRPr>
            </a:pPr>
            <a:r>
              <a:t>[靈寵頭像區]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916935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  <a:r>
              <a:t>  🦌 浮動動畫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154679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  <a:r>
              <a:t>  Lv.5 青芽鹿 · 木系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392423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  <a:r>
              <a:t>  ████░░ EXP 65%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630167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  <a:r>
              <a:t>  ★★★★★ 進化 2/5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3867911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594360" y="4105655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8C547"/>
                </a:solidFill>
                <a:latin typeface="Microsoft JhengHei"/>
              </a:defRPr>
            </a:pPr>
            <a:r>
              <a:t>[對話區]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4343399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  <a:r>
              <a:t>  🦌 青芽鹿  10:30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4581143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  <a:r>
              <a:t>  今日運勢概覽...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4818887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  <a:r>
              <a:t>  財運 ████ 桃花 ███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5056631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</a:p>
        </p:txBody>
      </p:sp>
      <p:sp>
        <p:nvSpPr>
          <p:cNvPr id="21" name="TextBox 20"/>
          <p:cNvSpPr txBox="1"/>
          <p:nvPr/>
        </p:nvSpPr>
        <p:spPr>
          <a:xfrm>
            <a:off x="594360" y="5294375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  <a:r>
              <a:t>🍖餵食 🎾玩耍 🧘冥想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5532119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  <a:r>
              <a:t>👁靈眼 🌍靈心 🏮靈魂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749039" y="1280160"/>
            <a:ext cx="2926080" cy="5029200"/>
          </a:xfrm>
          <a:prstGeom prst="roundRect">
            <a:avLst/>
          </a:prstGeom>
          <a:solidFill>
            <a:srgbClr val="0E0E16"/>
          </a:solidFill>
          <a:ln w="25400">
            <a:solidFill>
              <a:srgbClr val="E8C5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846319" y="1353312"/>
            <a:ext cx="731520" cy="137160"/>
          </a:xfrm>
          <a:prstGeom prst="roundRect">
            <a:avLst/>
          </a:prstGeom>
          <a:solidFill>
            <a:srgbClr val="1A1A25"/>
          </a:solidFill>
          <a:ln w="12700">
            <a:solidFill>
              <a:srgbClr val="1A1A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886200" y="160020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E8C547"/>
                </a:solidFill>
                <a:latin typeface="Microsoft JhengHei"/>
              </a:defRPr>
            </a:pPr>
            <a:r>
              <a:t>功能啟動狀態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86200" y="1965960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Microsoft JhengHei"/>
              </a:defRPr>
            </a:pPr>
            <a:r>
              <a:t>靈犀          3月14日·午時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86200" y="2203704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  <a:r>
              <a:t>Lv.5 青芽鹿 · 木系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86200" y="2441448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</a:p>
        </p:txBody>
      </p:sp>
      <p:sp>
        <p:nvSpPr>
          <p:cNvPr id="29" name="TextBox 28"/>
          <p:cNvSpPr txBox="1"/>
          <p:nvPr/>
        </p:nvSpPr>
        <p:spPr>
          <a:xfrm>
            <a:off x="3886200" y="2679191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  <a:r>
              <a:t>┌────────────────┐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86200" y="2916935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  <a:r>
              <a:t>│                    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86200" y="3154679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  <a:r>
              <a:t>│  [功能面板區域]     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886200" y="3392423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  <a:r>
              <a:t>│  靈眼/靈心/靈魂     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886200" y="3630167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  <a:r>
              <a:t>│  佔據全部空間       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886200" y="3867911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  <a:r>
              <a:t>│                    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886200" y="4105655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  <a:r>
              <a:t>│  頭像+對話已隱藏    │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886200" y="4343399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  <a:r>
              <a:t>│  以提供最大操作空間  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886200" y="4581143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  <a:r>
              <a:t>│                    │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886200" y="4818887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  <a:r>
              <a:t>└────────────────┘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886200" y="5056631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</a:p>
        </p:txBody>
      </p:sp>
      <p:sp>
        <p:nvSpPr>
          <p:cNvPr id="40" name="TextBox 39"/>
          <p:cNvSpPr txBox="1"/>
          <p:nvPr/>
        </p:nvSpPr>
        <p:spPr>
          <a:xfrm>
            <a:off x="3886200" y="5294375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  <a:r>
              <a:t> 👁靈眼 🌍靈心 🏮靈魂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886200" y="5532119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  <a:r>
              <a:t> (養成列隱藏)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040880" y="1280160"/>
            <a:ext cx="4663440" cy="2286000"/>
          </a:xfrm>
          <a:prstGeom prst="roundRect">
            <a:avLst/>
          </a:prstGeom>
          <a:solidFill>
            <a:srgbClr val="12121A"/>
          </a:solidFill>
          <a:ln w="12700">
            <a:solidFill>
              <a:srgbClr val="B89A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223760" y="1417319"/>
            <a:ext cx="4297679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E8C547"/>
                </a:solidFill>
                <a:latin typeface="Microsoft JhengHei"/>
              </a:defRPr>
            </a:pPr>
            <a:r>
              <a:t>📱 畫面元素說明</a:t>
            </a:r>
          </a:p>
          <a:p>
            <a:pPr algn="l">
              <a:spcBef>
                <a:spcPts val="300"/>
              </a:spcBef>
              <a:defRPr sz="1300" b="0">
                <a:solidFill>
                  <a:srgbClr val="CCCCCC"/>
                </a:solidFill>
                <a:latin typeface="Microsoft JhengHei"/>
              </a:defRPr>
            </a:pPr>
            <a:r>
              <a:t>• 狀態列：「靈犀」書法字 + 農曆日期·時辰 + 等級/靈寵名/屬性</a:t>
            </a:r>
          </a:p>
          <a:p>
            <a:pPr algn="l">
              <a:spcBef>
                <a:spcPts val="300"/>
              </a:spcBef>
              <a:defRPr sz="1300" b="0">
                <a:solidFill>
                  <a:srgbClr val="CCCCCC"/>
                </a:solidFill>
                <a:latin typeface="Microsoft JhengHei"/>
              </a:defRPr>
            </a:pPr>
            <a:r>
              <a:t>• 靈寵頭像：浮動動畫（正弦波 ±6px）+ 脈衝光暈（功能啟動時）</a:t>
            </a:r>
          </a:p>
          <a:p>
            <a:pPr algn="l">
              <a:spcBef>
                <a:spcPts val="300"/>
              </a:spcBef>
              <a:defRPr sz="1300" b="0">
                <a:solidFill>
                  <a:srgbClr val="CCCCCC"/>
                </a:solidFill>
                <a:latin typeface="Microsoft JhengHei"/>
              </a:defRPr>
            </a:pPr>
            <a:r>
              <a:t>• EXP 進度條：金色填充，顯示百分比</a:t>
            </a:r>
          </a:p>
          <a:p>
            <a:pPr algn="l">
              <a:spcBef>
                <a:spcPts val="300"/>
              </a:spcBef>
              <a:defRPr sz="1300" b="0">
                <a:solidFill>
                  <a:srgbClr val="CCCCCC"/>
                </a:solidFill>
                <a:latin typeface="Microsoft JhengHei"/>
              </a:defRPr>
            </a:pPr>
            <a:r>
              <a:t>• 進化星星：5 顆星，已解鎖為金色，未解鎖 15% 透明度</a:t>
            </a:r>
          </a:p>
          <a:p>
            <a:pPr algn="l">
              <a:spcBef>
                <a:spcPts val="300"/>
              </a:spcBef>
              <a:defRPr sz="1300" b="0">
                <a:solidFill>
                  <a:srgbClr val="CCCCCC"/>
                </a:solidFill>
                <a:latin typeface="Microsoft JhengHei"/>
              </a:defRPr>
            </a:pPr>
            <a:r>
              <a:t>• 對話區：FlatList 捲動，日期分隔線，自動捲到最新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040880" y="3794760"/>
            <a:ext cx="2194560" cy="2468880"/>
          </a:xfrm>
          <a:prstGeom prst="roundRect">
            <a:avLst/>
          </a:prstGeom>
          <a:solidFill>
            <a:srgbClr val="12121A"/>
          </a:solidFill>
          <a:ln w="12700">
            <a:solidFill>
              <a:srgbClr val="B89A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223760" y="3931920"/>
            <a:ext cx="1828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E8C547"/>
                </a:solidFill>
                <a:latin typeface="Microsoft JhengHei"/>
              </a:defRPr>
            </a:pPr>
            <a:r>
              <a:t>🍖 養成操作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CCCCCC"/>
                </a:solidFill>
                <a:latin typeface="Microsoft JhengHei"/>
              </a:defRPr>
            </a:pPr>
            <a:r>
              <a:t>• 餵食 (+50 EXP)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CCCCCC"/>
                </a:solidFill>
                <a:latin typeface="Microsoft JhengHei"/>
              </a:defRPr>
            </a:pPr>
            <a:r>
              <a:t>• 玩耍 (+30 EXP)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CCCCCC"/>
                </a:solidFill>
                <a:latin typeface="Microsoft JhengHei"/>
              </a:defRPr>
            </a:pPr>
            <a:r>
              <a:t>• 冥想 (+20 EXP)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CCCCCC"/>
                </a:solidFill>
                <a:latin typeface="Microsoft JhengHei"/>
              </a:defRPr>
            </a:pPr>
            <a:r>
              <a:t>• 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CCCCCC"/>
                </a:solidFill>
                <a:latin typeface="Microsoft JhengHei"/>
              </a:defRPr>
            </a:pPr>
            <a:r>
              <a:t>• 經驗值公式: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CCCCCC"/>
                </a:solidFill>
                <a:latin typeface="Microsoft JhengHei"/>
              </a:defRPr>
            </a:pPr>
            <a:r>
              <a:t>• 升級需求 ×1.3/級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CCCCCC"/>
                </a:solidFill>
                <a:latin typeface="Microsoft JhengHei"/>
              </a:defRPr>
            </a:pPr>
            <a:r>
              <a:t>• 每 10 級進化一次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418320" y="3794760"/>
            <a:ext cx="2286000" cy="2468880"/>
          </a:xfrm>
          <a:prstGeom prst="roundRect">
            <a:avLst/>
          </a:prstGeom>
          <a:solidFill>
            <a:srgbClr val="12121A"/>
          </a:solidFill>
          <a:ln w="12700">
            <a:solidFill>
              <a:srgbClr val="B89A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601200" y="3931920"/>
            <a:ext cx="1920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E8C547"/>
                </a:solidFill>
                <a:latin typeface="Microsoft JhengHei"/>
              </a:defRPr>
            </a:pPr>
            <a:r>
              <a:t>✨ 功能切換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CCCCCC"/>
                </a:solidFill>
                <a:latin typeface="Microsoft JhengHei"/>
              </a:defRPr>
            </a:pPr>
            <a:r>
              <a:t>• 👁 靈眼 → 面相分析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CCCCCC"/>
                </a:solidFill>
                <a:latin typeface="Microsoft JhengHei"/>
              </a:defRPr>
            </a:pPr>
            <a:r>
              <a:t>• 🌍 靈心 → 風水羅盤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CCCCCC"/>
                </a:solidFill>
                <a:latin typeface="Microsoft JhengHei"/>
              </a:defRPr>
            </a:pPr>
            <a:r>
              <a:t>• 🏮 靈魂 → 易經占卜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CCCCCC"/>
                </a:solidFill>
                <a:latin typeface="Microsoft JhengHei"/>
              </a:defRPr>
            </a:pPr>
            <a:r>
              <a:t>• 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CCCCCC"/>
                </a:solidFill>
                <a:latin typeface="Microsoft JhengHei"/>
              </a:defRPr>
            </a:pPr>
            <a:r>
              <a:t>• 再按同一按鈕關閉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CCCCCC"/>
                </a:solidFill>
                <a:latin typeface="Microsoft JhengHei"/>
              </a:defRPr>
            </a:pPr>
            <a:r>
              <a:t>• 啟動時金色高亮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CCCCCC"/>
                </a:solidFill>
                <a:latin typeface="Microsoft JhengHei"/>
              </a:defRPr>
            </a:pPr>
            <a:r>
              <a:t>• 養成列自動隱藏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8C547"/>
                </a:solidFill>
                <a:latin typeface="Microsoft JhengHei"/>
              </a:defRPr>
            </a:pPr>
            <a:r>
              <a:t>05  靈眼模式 — AI 面相分析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99999"/>
                </a:solidFill>
                <a:latin typeface="Microsoft JhengHei"/>
              </a:defRPr>
            </a:pPr>
            <a:r>
              <a:t>components/features/PetEyeMode.tsx — 4 階段：拍攝 → 預覽 → 分析 → 結果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280160"/>
            <a:ext cx="2286000" cy="4389120"/>
          </a:xfrm>
          <a:prstGeom prst="roundRect">
            <a:avLst/>
          </a:prstGeom>
          <a:solidFill>
            <a:srgbClr val="0E0E16"/>
          </a:solidFill>
          <a:ln w="25400">
            <a:solidFill>
              <a:srgbClr val="E8C5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51560" y="1353312"/>
            <a:ext cx="731520" cy="137160"/>
          </a:xfrm>
          <a:prstGeom prst="roundRect">
            <a:avLst/>
          </a:prstGeom>
          <a:solidFill>
            <a:srgbClr val="1A1A25"/>
          </a:solidFill>
          <a:ln w="12700">
            <a:solidFill>
              <a:srgbClr val="1A1A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79" y="160020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E8C547"/>
                </a:solidFill>
                <a:latin typeface="Microsoft JhengHei"/>
              </a:defRPr>
            </a:pPr>
            <a:r>
              <a:t>Phase 1: 拍攝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79" y="1965960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411479" y="2203704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  <a:r>
              <a:t>┌──────────┐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79" y="2441448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  <a:r>
              <a:t>│ 📷 相機預覽  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79" y="2679191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  <a:r>
              <a:t>│   (240px)    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79" y="2916935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  <a:r>
              <a:t>│  ╭─────╮  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79" y="3154679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  <a:r>
              <a:t>│  │ 👤    │  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79" y="3392423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  <a:r>
              <a:t>│  │ 橢圓框 │  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79" y="3630167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  <a:r>
              <a:t>│  ╰─────╯  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79" y="3867911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  <a:r>
              <a:t>└──────────┘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79" y="4105655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</a:p>
        </p:txBody>
      </p:sp>
      <p:sp>
        <p:nvSpPr>
          <p:cNvPr id="17" name="TextBox 16"/>
          <p:cNvSpPr txBox="1"/>
          <p:nvPr/>
        </p:nvSpPr>
        <p:spPr>
          <a:xfrm>
            <a:off x="411479" y="4343399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  <a:r>
              <a:t>🦌 正在凝視面相...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79" y="4581143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411479" y="4818887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411479" y="5056631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Microsoft JhengHei"/>
              </a:defRPr>
            </a:pPr>
            <a:r>
              <a:t>[👁 啟動靈寵之眼]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743200" y="1280160"/>
            <a:ext cx="2286000" cy="4389120"/>
          </a:xfrm>
          <a:prstGeom prst="roundRect">
            <a:avLst/>
          </a:prstGeom>
          <a:solidFill>
            <a:srgbClr val="0E0E16"/>
          </a:solidFill>
          <a:ln w="25400">
            <a:solidFill>
              <a:srgbClr val="E8C5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520440" y="1353312"/>
            <a:ext cx="731520" cy="137160"/>
          </a:xfrm>
          <a:prstGeom prst="roundRect">
            <a:avLst/>
          </a:prstGeom>
          <a:solidFill>
            <a:srgbClr val="1A1A25"/>
          </a:solidFill>
          <a:ln w="12700">
            <a:solidFill>
              <a:srgbClr val="1A1A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880360" y="160020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E8C547"/>
                </a:solidFill>
                <a:latin typeface="Microsoft JhengHei"/>
              </a:defRPr>
            </a:pPr>
            <a:r>
              <a:t>Phase 2: 預覽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80360" y="1965960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</a:p>
        </p:txBody>
      </p:sp>
      <p:sp>
        <p:nvSpPr>
          <p:cNvPr id="25" name="TextBox 24"/>
          <p:cNvSpPr txBox="1"/>
          <p:nvPr/>
        </p:nvSpPr>
        <p:spPr>
          <a:xfrm>
            <a:off x="2880360" y="2203704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  <a:r>
              <a:t>┌──────────┐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80360" y="2441448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  <a:r>
              <a:t>│ 📸 拍攝結果  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880360" y="2679191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  <a:r>
              <a:t>│   (200px)    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80360" y="2916935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  <a:r>
              <a:t>│              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880360" y="3154679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  <a:r>
              <a:t>│  已拍照片    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880360" y="3392423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  <a:r>
              <a:t>│              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880360" y="3630167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  <a:r>
              <a:t>└──────────┘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880360" y="3867911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</a:p>
        </p:txBody>
      </p:sp>
      <p:sp>
        <p:nvSpPr>
          <p:cNvPr id="33" name="TextBox 32"/>
          <p:cNvSpPr txBox="1"/>
          <p:nvPr/>
        </p:nvSpPr>
        <p:spPr>
          <a:xfrm>
            <a:off x="2880360" y="4105655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</a:p>
        </p:txBody>
      </p:sp>
      <p:sp>
        <p:nvSpPr>
          <p:cNvPr id="34" name="TextBox 33"/>
          <p:cNvSpPr txBox="1"/>
          <p:nvPr/>
        </p:nvSpPr>
        <p:spPr>
          <a:xfrm>
            <a:off x="2880360" y="4343399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</a:p>
        </p:txBody>
      </p:sp>
      <p:sp>
        <p:nvSpPr>
          <p:cNvPr id="35" name="TextBox 34"/>
          <p:cNvSpPr txBox="1"/>
          <p:nvPr/>
        </p:nvSpPr>
        <p:spPr>
          <a:xfrm>
            <a:off x="2880360" y="4581143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</a:p>
        </p:txBody>
      </p:sp>
      <p:sp>
        <p:nvSpPr>
          <p:cNvPr id="36" name="TextBox 35"/>
          <p:cNvSpPr txBox="1"/>
          <p:nvPr/>
        </p:nvSpPr>
        <p:spPr>
          <a:xfrm>
            <a:off x="2880360" y="4818887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  <a:r>
              <a:t>[ 重拍 ]  [開始分析]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212080" y="1280160"/>
            <a:ext cx="2286000" cy="4389120"/>
          </a:xfrm>
          <a:prstGeom prst="roundRect">
            <a:avLst/>
          </a:prstGeom>
          <a:solidFill>
            <a:srgbClr val="0E0E16"/>
          </a:solidFill>
          <a:ln w="25400">
            <a:solidFill>
              <a:srgbClr val="E8C5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5989320" y="1353312"/>
            <a:ext cx="731520" cy="137160"/>
          </a:xfrm>
          <a:prstGeom prst="roundRect">
            <a:avLst/>
          </a:prstGeom>
          <a:solidFill>
            <a:srgbClr val="1A1A25"/>
          </a:solidFill>
          <a:ln w="12700">
            <a:solidFill>
              <a:srgbClr val="1A1A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349240" y="160020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E8C547"/>
                </a:solidFill>
                <a:latin typeface="Microsoft JhengHei"/>
              </a:defRPr>
            </a:pPr>
            <a:r>
              <a:t>Phase 3: 分析中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349240" y="1965960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</a:p>
        </p:txBody>
      </p:sp>
      <p:sp>
        <p:nvSpPr>
          <p:cNvPr id="41" name="TextBox 40"/>
          <p:cNvSpPr txBox="1"/>
          <p:nvPr/>
        </p:nvSpPr>
        <p:spPr>
          <a:xfrm>
            <a:off x="5349240" y="2203704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  <a:r>
              <a:t>   ╭─────╮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349240" y="2441448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  <a:r>
              <a:t>   │ 🧑   │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349240" y="2679191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  <a:r>
              <a:t>   │ · · · │  掃描點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349240" y="2916935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  <a:r>
              <a:t>   ╰─────╯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349240" y="3154679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</a:p>
        </p:txBody>
      </p:sp>
      <p:sp>
        <p:nvSpPr>
          <p:cNvPr id="46" name="TextBox 45"/>
          <p:cNvSpPr txBox="1"/>
          <p:nvPr/>
        </p:nvSpPr>
        <p:spPr>
          <a:xfrm>
            <a:off x="5349240" y="3392423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  <a:r>
              <a:t>🦌 正在凝視面相...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349240" y="3630167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  <a:r>
              <a:t>   發現了！看到了...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349240" y="3867911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</a:p>
        </p:txBody>
      </p:sp>
      <p:sp>
        <p:nvSpPr>
          <p:cNvPr id="49" name="TextBox 48"/>
          <p:cNvSpPr txBox="1"/>
          <p:nvPr/>
        </p:nvSpPr>
        <p:spPr>
          <a:xfrm>
            <a:off x="5349240" y="4105655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8C547"/>
                </a:solidFill>
                <a:latin typeface="Microsoft JhengHei"/>
              </a:defRPr>
            </a:pPr>
            <a:r>
              <a:t>68%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349240" y="4343399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  <a:r>
              <a:t>靈寵正在掃描面部...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349240" y="4581143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  <a:r>
              <a:t>████████░░░░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349240" y="4818887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</a:p>
        </p:txBody>
      </p:sp>
      <p:sp>
        <p:nvSpPr>
          <p:cNvPr id="53" name="Rounded Rectangle 52"/>
          <p:cNvSpPr/>
          <p:nvPr/>
        </p:nvSpPr>
        <p:spPr>
          <a:xfrm>
            <a:off x="7680960" y="1280160"/>
            <a:ext cx="2286000" cy="4389120"/>
          </a:xfrm>
          <a:prstGeom prst="roundRect">
            <a:avLst/>
          </a:prstGeom>
          <a:solidFill>
            <a:srgbClr val="0E0E16"/>
          </a:solidFill>
          <a:ln w="25400">
            <a:solidFill>
              <a:srgbClr val="E8C5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8458200" y="1353312"/>
            <a:ext cx="731520" cy="137160"/>
          </a:xfrm>
          <a:prstGeom prst="roundRect">
            <a:avLst/>
          </a:prstGeom>
          <a:solidFill>
            <a:srgbClr val="1A1A25"/>
          </a:solidFill>
          <a:ln w="12700">
            <a:solidFill>
              <a:srgbClr val="1A1A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818120" y="160020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E8C547"/>
                </a:solidFill>
                <a:latin typeface="Microsoft JhengHei"/>
              </a:defRPr>
            </a:pPr>
            <a:r>
              <a:t>Phase 4: 結果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818120" y="1965960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</a:p>
        </p:txBody>
      </p:sp>
      <p:sp>
        <p:nvSpPr>
          <p:cNvPr id="57" name="TextBox 56"/>
          <p:cNvSpPr txBox="1"/>
          <p:nvPr/>
        </p:nvSpPr>
        <p:spPr>
          <a:xfrm>
            <a:off x="7818120" y="2203704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8C547"/>
                </a:solidFill>
                <a:latin typeface="Microsoft JhengHei"/>
              </a:defRPr>
            </a:pPr>
            <a:r>
              <a:t>上上籤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818120" y="2441448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  <a:r>
              <a:t>★★★★☆  (80分)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818120" y="2679191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</a:p>
        </p:txBody>
      </p:sp>
      <p:sp>
        <p:nvSpPr>
          <p:cNvPr id="60" name="TextBox 59"/>
          <p:cNvSpPr txBox="1"/>
          <p:nvPr/>
        </p:nvSpPr>
        <p:spPr>
          <a:xfrm>
            <a:off x="7818120" y="2916935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  <a:r>
              <a:t>🦌 靈寵解讀: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818120" y="3154679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  <a:r>
              <a:t>天庭飽滿，五官端正...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818120" y="3392423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</a:p>
        </p:txBody>
      </p:sp>
      <p:sp>
        <p:nvSpPr>
          <p:cNvPr id="63" name="TextBox 62"/>
          <p:cNvSpPr txBox="1"/>
          <p:nvPr/>
        </p:nvSpPr>
        <p:spPr>
          <a:xfrm>
            <a:off x="7818120" y="3630167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  <a:r>
              <a:t>天庭 ████░ 82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818120" y="3867911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  <a:r>
              <a:t>眉運 ███░░ 75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818120" y="4105655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  <a:r>
              <a:t>眼運 ████░ 88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818120" y="4343399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  <a:r>
              <a:t>鼻運 ███░░ 70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818120" y="4581143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  <a:r>
              <a:t>口運 ████░ 85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818120" y="4818887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</a:p>
        </p:txBody>
      </p:sp>
      <p:sp>
        <p:nvSpPr>
          <p:cNvPr id="69" name="TextBox 68"/>
          <p:cNvSpPr txBox="1"/>
          <p:nvPr/>
        </p:nvSpPr>
        <p:spPr>
          <a:xfrm>
            <a:off x="7818120" y="5056631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  <a:r>
              <a:t>🍀 幸運物: ...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818120" y="5294375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  <a:r>
              <a:t>[ 重新分析 ]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274320" y="5852160"/>
            <a:ext cx="11247120" cy="822960"/>
          </a:xfrm>
          <a:prstGeom prst="roundRect">
            <a:avLst/>
          </a:prstGeom>
          <a:solidFill>
            <a:srgbClr val="12121A"/>
          </a:solidFill>
          <a:ln w="12700">
            <a:solidFill>
              <a:srgbClr val="B89A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57200" y="598932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E8C547"/>
                </a:solidFill>
                <a:latin typeface="Microsoft JhengHei"/>
              </a:defRPr>
            </a:pPr>
            <a:r>
              <a:t>💡 技術備註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CCCCCC"/>
                </a:solidFill>
                <a:latin typeface="Microsoft JhengHei"/>
              </a:defRPr>
            </a:pPr>
            <a:r>
              <a:t>• 前鏡頭拍攝 → Base64 編碼 → Claude Vision API 分析 → 結果以對話氣泡形式存入 chat-store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CCCCCC"/>
                </a:solidFill>
                <a:latin typeface="Microsoft JhengHei"/>
              </a:defRPr>
            </a:pPr>
            <a:r>
              <a:t>• 相機權限未授予時顯示權限請求畫面 | 分析結果同時送入對話記錄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8C547"/>
                </a:solidFill>
                <a:latin typeface="Microsoft JhengHei"/>
              </a:defRPr>
            </a:pPr>
            <a:r>
              <a:t>06  靈心模式 — 即時風水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99999"/>
                </a:solidFill>
                <a:latin typeface="Microsoft JhengHei"/>
              </a:defRPr>
            </a:pPr>
            <a:r>
              <a:t>components/features/PetHeartMode.tsx — GPS 定位 + 電子羅盤 + 奇門遁甲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2926080" cy="5029200"/>
          </a:xfrm>
          <a:prstGeom prst="roundRect">
            <a:avLst/>
          </a:prstGeom>
          <a:solidFill>
            <a:srgbClr val="0E0E16"/>
          </a:solidFill>
          <a:ln w="25400">
            <a:solidFill>
              <a:srgbClr val="E8C5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54480" y="1353312"/>
            <a:ext cx="731520" cy="137160"/>
          </a:xfrm>
          <a:prstGeom prst="roundRect">
            <a:avLst/>
          </a:prstGeom>
          <a:solidFill>
            <a:srgbClr val="1A1A25"/>
          </a:solidFill>
          <a:ln w="12700">
            <a:solidFill>
              <a:srgbClr val="1A1A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E8C547"/>
                </a:solidFill>
                <a:latin typeface="Microsoft JhengHei"/>
              </a:defRPr>
            </a:pPr>
            <a:r>
              <a:t>靈心操作畫面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965960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594360" y="2203704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Microsoft JhengHei"/>
              </a:defRPr>
            </a:pPr>
            <a:r>
              <a:t>🟢 GPS 定位中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441448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  <a:r>
              <a:t>  25.0330°N, 121.5654°E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679191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  <a:r>
              <a:t>  台北市中正區...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916935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  <a:r>
              <a:t>  🦌 靈寵正在感應此地能量...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154679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594360" y="3392423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  <a:r>
              <a:t>     ┌─────────┐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630167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  <a:r>
              <a:t>     │  N 北     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3867911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  <a:r>
              <a:t>     │W  🧭  E  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4105655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  <a:r>
              <a:t>     │    ↑      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4343399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  <a:r>
              <a:t>     │  S 南     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4581143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  <a:r>
              <a:t>     └─────────┘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4818887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  <a:r>
              <a:t>     (140×140 羅盤)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5056631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</a:p>
        </p:txBody>
      </p:sp>
      <p:sp>
        <p:nvSpPr>
          <p:cNvPr id="21" name="TextBox 20"/>
          <p:cNvSpPr txBox="1"/>
          <p:nvPr/>
        </p:nvSpPr>
        <p:spPr>
          <a:xfrm>
            <a:off x="594360" y="5294375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  <a:r>
              <a:t>✦ 吉方: 東南  ⚠ 凶方: 西北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5532119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594360" y="5769863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Microsoft JhengHei"/>
              </a:defRPr>
            </a:pPr>
            <a:r>
              <a:t>[🧭 啟動靈寵之心]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840480" y="1280160"/>
            <a:ext cx="3931920" cy="2468880"/>
          </a:xfrm>
          <a:prstGeom prst="roundRect">
            <a:avLst/>
          </a:prstGeom>
          <a:solidFill>
            <a:srgbClr val="12121A"/>
          </a:solidFill>
          <a:ln w="12700">
            <a:solidFill>
              <a:srgbClr val="B89A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023360" y="1417319"/>
            <a:ext cx="35661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E8C547"/>
                </a:solidFill>
                <a:latin typeface="Microsoft JhengHei"/>
              </a:defRPr>
            </a:pPr>
            <a:r>
              <a:t>🧭 羅盤元件說明</a:t>
            </a:r>
          </a:p>
          <a:p>
            <a:pPr algn="l">
              <a:spcBef>
                <a:spcPts val="300"/>
              </a:spcBef>
              <a:defRPr sz="1300" b="0">
                <a:solidFill>
                  <a:srgbClr val="CCCCCC"/>
                </a:solidFill>
                <a:latin typeface="Microsoft JhengHei"/>
              </a:defRPr>
            </a:pPr>
            <a:r>
              <a:t>• 即時旋轉：跟隨裝置磁力計（Magnetometer）方位</a:t>
            </a:r>
          </a:p>
          <a:p>
            <a:pPr algn="l">
              <a:spcBef>
                <a:spcPts val="300"/>
              </a:spcBef>
              <a:defRPr sz="1300" b="0">
                <a:solidFill>
                  <a:srgbClr val="CCCCCC"/>
                </a:solidFill>
                <a:latin typeface="Microsoft JhengHei"/>
              </a:defRPr>
            </a:pPr>
            <a:r>
              <a:t>• 8 方位標示：北/東北/東/東南/南/西南/西/西北</a:t>
            </a:r>
          </a:p>
          <a:p>
            <a:pPr algn="l">
              <a:spcBef>
                <a:spcPts val="300"/>
              </a:spcBef>
              <a:defRPr sz="1300" b="0">
                <a:solidFill>
                  <a:srgbClr val="CCCCCC"/>
                </a:solidFill>
                <a:latin typeface="Microsoft JhengHei"/>
              </a:defRPr>
            </a:pPr>
            <a:r>
              <a:t>• 吉方標示：金色高亮顯示（來自奇門遁甲計算）</a:t>
            </a:r>
          </a:p>
          <a:p>
            <a:pPr algn="l">
              <a:spcBef>
                <a:spcPts val="300"/>
              </a:spcBef>
              <a:defRPr sz="1300" b="0">
                <a:solidFill>
                  <a:srgbClr val="CCCCCC"/>
                </a:solidFill>
                <a:latin typeface="Microsoft JhengHei"/>
              </a:defRPr>
            </a:pPr>
            <a:r>
              <a:t>• 凶方標示：紅色警示顯示</a:t>
            </a:r>
          </a:p>
          <a:p>
            <a:pPr algn="l">
              <a:spcBef>
                <a:spcPts val="300"/>
              </a:spcBef>
              <a:defRPr sz="1300" b="0">
                <a:solidFill>
                  <a:srgbClr val="CCCCCC"/>
                </a:solidFill>
                <a:latin typeface="Microsoft JhengHei"/>
              </a:defRPr>
            </a:pPr>
            <a:r>
              <a:t>• 指南針針：紅白雙色指北針</a:t>
            </a:r>
          </a:p>
          <a:p>
            <a:pPr algn="l">
              <a:spcBef>
                <a:spcPts val="300"/>
              </a:spcBef>
              <a:defRPr sz="1300" b="0">
                <a:solidFill>
                  <a:srgbClr val="CCCCCC"/>
                </a:solidFill>
                <a:latin typeface="Microsoft JhengHei"/>
              </a:defRPr>
            </a:pPr>
            <a:r>
              <a:t>• 羅盤尺寸：140×140px（已從 180px 優化）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840480" y="3977639"/>
            <a:ext cx="3931920" cy="2377440"/>
          </a:xfrm>
          <a:prstGeom prst="roundRect">
            <a:avLst/>
          </a:prstGeom>
          <a:solidFill>
            <a:srgbClr val="12121A"/>
          </a:solidFill>
          <a:ln w="12700">
            <a:solidFill>
              <a:srgbClr val="B89A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023360" y="4114800"/>
            <a:ext cx="35661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E8C547"/>
                </a:solidFill>
                <a:latin typeface="Microsoft JhengHei"/>
              </a:defRPr>
            </a:pPr>
            <a:r>
              <a:t>📍 GPS 定位資訊</a:t>
            </a:r>
          </a:p>
          <a:p>
            <a:pPr algn="l">
              <a:spcBef>
                <a:spcPts val="300"/>
              </a:spcBef>
              <a:defRPr sz="1300" b="0">
                <a:solidFill>
                  <a:srgbClr val="CCCCCC"/>
                </a:solidFill>
                <a:latin typeface="Microsoft JhengHei"/>
              </a:defRPr>
            </a:pPr>
            <a:r>
              <a:t>• expo-location 取得座標 + 反向地理編碼</a:t>
            </a:r>
          </a:p>
          <a:p>
            <a:pPr algn="l">
              <a:spcBef>
                <a:spcPts val="300"/>
              </a:spcBef>
              <a:defRPr sz="1300" b="0">
                <a:solidFill>
                  <a:srgbClr val="CCCCCC"/>
                </a:solidFill>
                <a:latin typeface="Microsoft JhengHei"/>
              </a:defRPr>
            </a:pPr>
            <a:r>
              <a:t>• 顯示完整地址（區/路/號）</a:t>
            </a:r>
          </a:p>
          <a:p>
            <a:pPr algn="l">
              <a:spcBef>
                <a:spcPts val="300"/>
              </a:spcBef>
              <a:defRPr sz="1300" b="0">
                <a:solidFill>
                  <a:srgbClr val="CCCCCC"/>
                </a:solidFill>
                <a:latin typeface="Microsoft JhengHei"/>
              </a:defRPr>
            </a:pPr>
            <a:r>
              <a:t>• 靈寵感應訊息（依寵物個性生成）</a:t>
            </a:r>
          </a:p>
          <a:p>
            <a:pPr algn="l">
              <a:spcBef>
                <a:spcPts val="300"/>
              </a:spcBef>
              <a:defRPr sz="1300" b="0">
                <a:solidFill>
                  <a:srgbClr val="CCCCCC"/>
                </a:solidFill>
                <a:latin typeface="Microsoft JhengHei"/>
              </a:defRPr>
            </a:pPr>
            <a:r>
              <a:t>• GPS 卡片 + 靈寵感應合併為單行（節省空間）</a:t>
            </a:r>
          </a:p>
          <a:p>
            <a:pPr algn="l">
              <a:spcBef>
                <a:spcPts val="300"/>
              </a:spcBef>
              <a:defRPr sz="1300" b="0">
                <a:solidFill>
                  <a:srgbClr val="CCCCCC"/>
                </a:solidFill>
                <a:latin typeface="Microsoft JhengHei"/>
              </a:defRPr>
            </a:pPr>
            <a:r>
              <a:t>• 定位失敗時顯示「定位中...」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46720" y="1280160"/>
            <a:ext cx="3657600" cy="2468880"/>
          </a:xfrm>
          <a:prstGeom prst="roundRect">
            <a:avLst/>
          </a:prstGeom>
          <a:solidFill>
            <a:srgbClr val="12121A"/>
          </a:solidFill>
          <a:ln w="12700">
            <a:solidFill>
              <a:srgbClr val="B89A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0" y="1417319"/>
            <a:ext cx="32918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E8C547"/>
                </a:solidFill>
                <a:latin typeface="Microsoft JhengHei"/>
              </a:defRPr>
            </a:pPr>
            <a:r>
              <a:t>🔮 分析結果（送入對話）</a:t>
            </a:r>
          </a:p>
          <a:p>
            <a:pPr algn="l">
              <a:spcBef>
                <a:spcPts val="300"/>
              </a:spcBef>
              <a:defRPr sz="1300" b="0">
                <a:solidFill>
                  <a:srgbClr val="CCCCCC"/>
                </a:solidFill>
                <a:latin typeface="Microsoft JhengHei"/>
              </a:defRPr>
            </a:pPr>
            <a:r>
              <a:t>• 靈寵解讀：AI 產生的位置風水分析文字</a:t>
            </a:r>
          </a:p>
          <a:p>
            <a:pPr algn="l">
              <a:spcBef>
                <a:spcPts val="300"/>
              </a:spcBef>
              <a:defRPr sz="1300" b="0">
                <a:solidFill>
                  <a:srgbClr val="CCCCCC"/>
                </a:solidFill>
                <a:latin typeface="Microsoft JhengHei"/>
              </a:defRPr>
            </a:pPr>
            <a:r>
              <a:t>• 建議卡片：方位建議 + 注意事項</a:t>
            </a:r>
          </a:p>
          <a:p>
            <a:pPr algn="l">
              <a:spcBef>
                <a:spcPts val="300"/>
              </a:spcBef>
              <a:defRPr sz="1300" b="0">
                <a:solidFill>
                  <a:srgbClr val="CCCCCC"/>
                </a:solidFill>
                <a:latin typeface="Microsoft JhengHei"/>
              </a:defRPr>
            </a:pPr>
            <a:r>
              <a:t>• 座位建議：辦公/讀書最佳朝向</a:t>
            </a:r>
          </a:p>
          <a:p>
            <a:pPr algn="l">
              <a:spcBef>
                <a:spcPts val="300"/>
              </a:spcBef>
              <a:defRPr sz="1300" b="0">
                <a:solidFill>
                  <a:srgbClr val="CCCCCC"/>
                </a:solidFill>
                <a:latin typeface="Microsoft JhengHei"/>
              </a:defRPr>
            </a:pPr>
            <a:r>
              <a:t>• 3×3 九宮格：八門方位圖</a:t>
            </a:r>
          </a:p>
          <a:p>
            <a:pPr algn="l">
              <a:spcBef>
                <a:spcPts val="300"/>
              </a:spcBef>
              <a:defRPr sz="1300" b="0">
                <a:solidFill>
                  <a:srgbClr val="CCCCCC"/>
                </a:solidFill>
                <a:latin typeface="Microsoft JhengHei"/>
              </a:defRPr>
            </a:pPr>
            <a:r>
              <a:t>• 吉方/凶方標示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46720" y="3977639"/>
            <a:ext cx="3657600" cy="2377440"/>
          </a:xfrm>
          <a:prstGeom prst="roundRect">
            <a:avLst/>
          </a:prstGeom>
          <a:solidFill>
            <a:srgbClr val="12121A"/>
          </a:solidFill>
          <a:ln w="12700">
            <a:solidFill>
              <a:srgbClr val="B89A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0" y="4114800"/>
            <a:ext cx="32918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E8C547"/>
                </a:solidFill>
                <a:latin typeface="Microsoft JhengHei"/>
              </a:defRPr>
            </a:pPr>
            <a:r>
              <a:t>⚙️ 技術實作</a:t>
            </a:r>
          </a:p>
          <a:p>
            <a:pPr algn="l">
              <a:spcBef>
                <a:spcPts val="300"/>
              </a:spcBef>
              <a:defRPr sz="1300" b="0">
                <a:solidFill>
                  <a:srgbClr val="CCCCCC"/>
                </a:solidFill>
                <a:latin typeface="Microsoft JhengHei"/>
              </a:defRPr>
            </a:pPr>
            <a:r>
              <a:t>• 本地引擎：奇門遁甲 (qimen-engine.ts)</a:t>
            </a:r>
          </a:p>
          <a:p>
            <a:pPr algn="l">
              <a:spcBef>
                <a:spcPts val="300"/>
              </a:spcBef>
              <a:defRPr sz="1300" b="0">
                <a:solidFill>
                  <a:srgbClr val="CCCCCC"/>
                </a:solidFill>
                <a:latin typeface="Microsoft JhengHei"/>
              </a:defRPr>
            </a:pPr>
            <a:r>
              <a:t>• 計算八門九星配置 → 吉凶方位</a:t>
            </a:r>
          </a:p>
          <a:p>
            <a:pPr algn="l">
              <a:spcBef>
                <a:spcPts val="300"/>
              </a:spcBef>
              <a:defRPr sz="1300" b="0">
                <a:solidFill>
                  <a:srgbClr val="CCCCCC"/>
                </a:solidFill>
                <a:latin typeface="Microsoft JhengHei"/>
              </a:defRPr>
            </a:pPr>
            <a:r>
              <a:t>• Claude API：深度位置風水解讀</a:t>
            </a:r>
          </a:p>
          <a:p>
            <a:pPr algn="l">
              <a:spcBef>
                <a:spcPts val="300"/>
              </a:spcBef>
              <a:defRPr sz="1300" b="0">
                <a:solidFill>
                  <a:srgbClr val="CCCCCC"/>
                </a:solidFill>
                <a:latin typeface="Microsoft JhengHei"/>
              </a:defRPr>
            </a:pPr>
            <a:r>
              <a:t>• 按鈕固定底部 (bottomBar 佈局)</a:t>
            </a:r>
          </a:p>
          <a:p>
            <a:pPr algn="l">
              <a:spcBef>
                <a:spcPts val="300"/>
              </a:spcBef>
              <a:defRPr sz="1300" b="0">
                <a:solidFill>
                  <a:srgbClr val="CCCCCC"/>
                </a:solidFill>
                <a:latin typeface="Microsoft JhengHei"/>
              </a:defRPr>
            </a:pPr>
            <a:r>
              <a:t>• 磁力計 + GPS 同時運作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8C547"/>
                </a:solidFill>
                <a:latin typeface="Microsoft JhengHei"/>
              </a:defRPr>
            </a:pPr>
            <a:r>
              <a:t>07  靈魂模式 — 易經占卜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99999"/>
                </a:solidFill>
                <a:latin typeface="Microsoft JhengHei"/>
              </a:defRPr>
            </a:pPr>
            <a:r>
              <a:t>components/features/PetPearlMode.tsx — 六十四卦占卜：選類別 → 提問 → 搖卦 → 解讀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280160"/>
            <a:ext cx="2560320" cy="5029200"/>
          </a:xfrm>
          <a:prstGeom prst="roundRect">
            <a:avLst/>
          </a:prstGeom>
          <a:solidFill>
            <a:srgbClr val="0E0E16"/>
          </a:solidFill>
          <a:ln w="25400">
            <a:solidFill>
              <a:srgbClr val="E8C5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188719" y="1353312"/>
            <a:ext cx="731520" cy="137160"/>
          </a:xfrm>
          <a:prstGeom prst="roundRect">
            <a:avLst/>
          </a:prstGeom>
          <a:solidFill>
            <a:srgbClr val="1A1A25"/>
          </a:solidFill>
          <a:ln w="12700">
            <a:solidFill>
              <a:srgbClr val="1A1A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79" y="1600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E8C547"/>
                </a:solidFill>
                <a:latin typeface="Microsoft JhengHei"/>
              </a:defRPr>
            </a:pPr>
            <a:r>
              <a:t>Phase 1: 選擇與提問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79" y="196596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411479" y="2203704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  <a:r>
              <a:t>🦌 為你感應天地靈氣...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79" y="2441448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411479" y="2679191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Microsoft JhengHei"/>
              </a:defRPr>
            </a:pPr>
            <a:r>
              <a:t>選擇類別: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79" y="2916935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  <a:r>
              <a:t>💼事業  ❤️感情  🏠家庭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79" y="3154679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  <a:r>
              <a:t>   💪健康  📚學業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79" y="3392423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411479" y="3630167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Microsoft JhengHei"/>
              </a:defRPr>
            </a:pPr>
            <a:r>
              <a:t>輸入問題: (可選)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79" y="3867911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  <a:r>
              <a:t>┌──────────────┐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79" y="4105655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  <a:r>
              <a:t>│ 這筆投資是否     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79" y="4343399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  <a:r>
              <a:t>│ 該進行？          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79" y="4581143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  <a:r>
              <a:t>└──────────────┘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79" y="4818887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  <a:r>
              <a:t>(最多 100 字)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79" y="5056631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</a:p>
        </p:txBody>
      </p:sp>
      <p:sp>
        <p:nvSpPr>
          <p:cNvPr id="21" name="TextBox 20"/>
          <p:cNvSpPr txBox="1"/>
          <p:nvPr/>
        </p:nvSpPr>
        <p:spPr>
          <a:xfrm>
            <a:off x="411479" y="5294375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</a:p>
        </p:txBody>
      </p:sp>
      <p:sp>
        <p:nvSpPr>
          <p:cNvPr id="22" name="TextBox 21"/>
          <p:cNvSpPr txBox="1"/>
          <p:nvPr/>
        </p:nvSpPr>
        <p:spPr>
          <a:xfrm>
            <a:off x="411479" y="5532119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Microsoft JhengHei"/>
              </a:defRPr>
            </a:pPr>
            <a:r>
              <a:t>[🏮 啟動靈寵之魂]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108960" y="1280160"/>
            <a:ext cx="2560320" cy="5029200"/>
          </a:xfrm>
          <a:prstGeom prst="roundRect">
            <a:avLst/>
          </a:prstGeom>
          <a:solidFill>
            <a:srgbClr val="0E0E16"/>
          </a:solidFill>
          <a:ln w="25400">
            <a:solidFill>
              <a:srgbClr val="E8C5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023359" y="1353312"/>
            <a:ext cx="731520" cy="137160"/>
          </a:xfrm>
          <a:prstGeom prst="roundRect">
            <a:avLst/>
          </a:prstGeom>
          <a:solidFill>
            <a:srgbClr val="1A1A25"/>
          </a:solidFill>
          <a:ln w="12700">
            <a:solidFill>
              <a:srgbClr val="1A1A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46120" y="1600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E8C547"/>
                </a:solidFill>
                <a:latin typeface="Microsoft JhengHei"/>
              </a:defRPr>
            </a:pPr>
            <a:r>
              <a:t>Phase 2: 搖卦動畫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46120" y="196596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</a:p>
        </p:txBody>
      </p:sp>
      <p:sp>
        <p:nvSpPr>
          <p:cNvPr id="27" name="TextBox 26"/>
          <p:cNvSpPr txBox="1"/>
          <p:nvPr/>
        </p:nvSpPr>
        <p:spPr>
          <a:xfrm>
            <a:off x="3246120" y="2203704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</a:p>
        </p:txBody>
      </p:sp>
      <p:sp>
        <p:nvSpPr>
          <p:cNvPr id="28" name="TextBox 27"/>
          <p:cNvSpPr txBox="1"/>
          <p:nvPr/>
        </p:nvSpPr>
        <p:spPr>
          <a:xfrm>
            <a:off x="3246120" y="2441448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</a:p>
        </p:txBody>
      </p:sp>
      <p:sp>
        <p:nvSpPr>
          <p:cNvPr id="29" name="TextBox 28"/>
          <p:cNvSpPr txBox="1"/>
          <p:nvPr/>
        </p:nvSpPr>
        <p:spPr>
          <a:xfrm>
            <a:off x="3246120" y="2679191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</a:p>
        </p:txBody>
      </p:sp>
      <p:sp>
        <p:nvSpPr>
          <p:cNvPr id="30" name="TextBox 29"/>
          <p:cNvSpPr txBox="1"/>
          <p:nvPr/>
        </p:nvSpPr>
        <p:spPr>
          <a:xfrm>
            <a:off x="3246120" y="2916935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8C547"/>
                </a:solidFill>
                <a:latin typeface="Microsoft JhengHei"/>
              </a:defRPr>
            </a:pPr>
            <a:r>
              <a:t>☰ ☷ ☳ ☴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46120" y="3154679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8C547"/>
                </a:solidFill>
                <a:latin typeface="Microsoft JhengHei"/>
              </a:defRPr>
            </a:pPr>
            <a:r>
              <a:t>☵ ☲ ☶ ☱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46120" y="3392423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</a:p>
        </p:txBody>
      </p:sp>
      <p:sp>
        <p:nvSpPr>
          <p:cNvPr id="33" name="TextBox 32"/>
          <p:cNvSpPr txBox="1"/>
          <p:nvPr/>
        </p:nvSpPr>
        <p:spPr>
          <a:xfrm>
            <a:off x="3246120" y="3630167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  <a:r>
              <a:t>靈珠運轉中...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46120" y="3867911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</a:p>
        </p:txBody>
      </p:sp>
      <p:sp>
        <p:nvSpPr>
          <p:cNvPr id="35" name="TextBox 34"/>
          <p:cNvSpPr txBox="1"/>
          <p:nvPr/>
        </p:nvSpPr>
        <p:spPr>
          <a:xfrm>
            <a:off x="3246120" y="4105655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  <a:r>
              <a:t>🦌 正在連接靈界...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246120" y="4343399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</a:p>
        </p:txBody>
      </p:sp>
      <p:sp>
        <p:nvSpPr>
          <p:cNvPr id="37" name="TextBox 36"/>
          <p:cNvSpPr txBox="1"/>
          <p:nvPr/>
        </p:nvSpPr>
        <p:spPr>
          <a:xfrm>
            <a:off x="3246120" y="4581143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</a:p>
        </p:txBody>
      </p:sp>
      <p:sp>
        <p:nvSpPr>
          <p:cNvPr id="38" name="TextBox 37"/>
          <p:cNvSpPr txBox="1"/>
          <p:nvPr/>
        </p:nvSpPr>
        <p:spPr>
          <a:xfrm>
            <a:off x="3246120" y="4818887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  <a:r>
              <a:t>(裝置震動回饋)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246120" y="5056631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  <a:r>
              <a:t>(1.5 秒動畫)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943600" y="1280160"/>
            <a:ext cx="2560320" cy="5029200"/>
          </a:xfrm>
          <a:prstGeom prst="roundRect">
            <a:avLst/>
          </a:prstGeom>
          <a:solidFill>
            <a:srgbClr val="0E0E16"/>
          </a:solidFill>
          <a:ln w="25400">
            <a:solidFill>
              <a:srgbClr val="E8C5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6858000" y="1353312"/>
            <a:ext cx="731520" cy="137160"/>
          </a:xfrm>
          <a:prstGeom prst="roundRect">
            <a:avLst/>
          </a:prstGeom>
          <a:solidFill>
            <a:srgbClr val="1A1A25"/>
          </a:solidFill>
          <a:ln w="12700">
            <a:solidFill>
              <a:srgbClr val="1A1A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080760" y="1600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E8C547"/>
                </a:solidFill>
                <a:latin typeface="Microsoft JhengHei"/>
              </a:defRPr>
            </a:pPr>
            <a:r>
              <a:t>Phase 3: 卦象結果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080760" y="196596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</a:p>
        </p:txBody>
      </p:sp>
      <p:sp>
        <p:nvSpPr>
          <p:cNvPr id="44" name="TextBox 43"/>
          <p:cNvSpPr txBox="1"/>
          <p:nvPr/>
        </p:nvSpPr>
        <p:spPr>
          <a:xfrm>
            <a:off x="6080760" y="2203704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8C547"/>
                </a:solidFill>
                <a:latin typeface="Microsoft JhengHei"/>
              </a:defRPr>
            </a:pPr>
            <a:r>
              <a:t>☰  (64px)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080760" y="2441448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Microsoft JhengHei"/>
              </a:defRPr>
            </a:pPr>
            <a:r>
              <a:t>第1卦 · 乾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080760" y="2679191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</a:p>
        </p:txBody>
      </p:sp>
      <p:sp>
        <p:nvSpPr>
          <p:cNvPr id="47" name="TextBox 46"/>
          <p:cNvSpPr txBox="1"/>
          <p:nvPr/>
        </p:nvSpPr>
        <p:spPr>
          <a:xfrm>
            <a:off x="6080760" y="2916935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  <a:r>
              <a:t>元亨利貞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080760" y="3154679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  <a:r>
              <a:t>(Oracle 卦辭)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080760" y="3392423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</a:p>
        </p:txBody>
      </p:sp>
      <p:sp>
        <p:nvSpPr>
          <p:cNvPr id="50" name="TextBox 49"/>
          <p:cNvSpPr txBox="1"/>
          <p:nvPr/>
        </p:nvSpPr>
        <p:spPr>
          <a:xfrm>
            <a:off x="6080760" y="3630167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Microsoft JhengHei"/>
              </a:defRPr>
            </a:pPr>
            <a:r>
              <a:t>大吉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080760" y="3867911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  <a:r>
              <a:t>事業類別解讀...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080760" y="4105655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  <a:r>
              <a:t>行動指引...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080760" y="4343399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  <a:r>
              <a:t>時機建議...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080760" y="4581143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</a:p>
        </p:txBody>
      </p:sp>
      <p:sp>
        <p:nvSpPr>
          <p:cNvPr id="55" name="TextBox 54"/>
          <p:cNvSpPr txBox="1"/>
          <p:nvPr/>
        </p:nvSpPr>
        <p:spPr>
          <a:xfrm>
            <a:off x="6080760" y="4818887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  <a:r>
              <a:t>上卦:乾 下卦:乾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080760" y="5056631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  <a:r>
              <a:t>五行:金  吉凶:大吉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080760" y="5294375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</a:p>
        </p:txBody>
      </p:sp>
      <p:sp>
        <p:nvSpPr>
          <p:cNvPr id="58" name="TextBox 57"/>
          <p:cNvSpPr txBox="1"/>
          <p:nvPr/>
        </p:nvSpPr>
        <p:spPr>
          <a:xfrm>
            <a:off x="6080760" y="5532119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  <a:r>
              <a:t>📤分享  [重新求籤]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8778240" y="1280160"/>
            <a:ext cx="3017520" cy="2194560"/>
          </a:xfrm>
          <a:prstGeom prst="roundRect">
            <a:avLst/>
          </a:prstGeom>
          <a:solidFill>
            <a:srgbClr val="12121A"/>
          </a:solidFill>
          <a:ln w="12700">
            <a:solidFill>
              <a:srgbClr val="B89A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961119" y="1417319"/>
            <a:ext cx="26517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E8C547"/>
                </a:solidFill>
                <a:latin typeface="Microsoft JhengHei"/>
              </a:defRPr>
            </a:pPr>
            <a:r>
              <a:t>🎴 卦象解讀內容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CCCCCC"/>
                </a:solidFill>
                <a:latin typeface="Microsoft JhengHei"/>
              </a:defRPr>
            </a:pPr>
            <a:r>
              <a:t>• 卦象符號 + 第 N 卦名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CCCCCC"/>
                </a:solidFill>
                <a:latin typeface="Microsoft JhengHei"/>
              </a:defRPr>
            </a:pPr>
            <a:r>
              <a:t>• 卦辭（Oracle）金色框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CCCCCC"/>
                </a:solidFill>
                <a:latin typeface="Microsoft JhengHei"/>
              </a:defRPr>
            </a:pPr>
            <a:r>
              <a:t>• 吉凶判定 badge 色彩對應: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CCCCCC"/>
                </a:solidFill>
                <a:latin typeface="Microsoft JhengHei"/>
              </a:defRPr>
            </a:pPr>
            <a:r>
              <a:t>•   大吉=金 中吉=綠 小吉=藍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CCCCCC"/>
                </a:solidFill>
                <a:latin typeface="Microsoft JhengHei"/>
              </a:defRPr>
            </a:pPr>
            <a:r>
              <a:t>•   平=灰 小凶=紅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CCCCCC"/>
                </a:solidFill>
                <a:latin typeface="Microsoft JhengHei"/>
              </a:defRPr>
            </a:pPr>
            <a:r>
              <a:t>• 變卦顯示（紫色主題）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8778240" y="3703320"/>
            <a:ext cx="3017520" cy="1280160"/>
          </a:xfrm>
          <a:prstGeom prst="roundRect">
            <a:avLst/>
          </a:prstGeom>
          <a:solidFill>
            <a:srgbClr val="12121A"/>
          </a:solidFill>
          <a:ln w="12700">
            <a:solidFill>
              <a:srgbClr val="B89A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961119" y="3840480"/>
            <a:ext cx="2651760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E8C547"/>
                </a:solidFill>
                <a:latin typeface="Microsoft JhengHei"/>
              </a:defRPr>
            </a:pPr>
            <a:r>
              <a:t>🔧 互動功能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CCCCCC"/>
                </a:solidFill>
                <a:latin typeface="Microsoft JhengHei"/>
              </a:defRPr>
            </a:pPr>
            <a:r>
              <a:t>• 5 種問題類別（必選）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CCCCCC"/>
                </a:solidFill>
                <a:latin typeface="Microsoft JhengHei"/>
              </a:defRPr>
            </a:pPr>
            <a:r>
              <a:t>• 自由輸入問題（可選, 100字）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CCCCCC"/>
                </a:solidFill>
                <a:latin typeface="Microsoft JhengHei"/>
              </a:defRPr>
            </a:pPr>
            <a:r>
              <a:t>• 搖卦震動回饋 [0,80,60,80...]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CCCCCC"/>
                </a:solidFill>
                <a:latin typeface="Microsoft JhengHei"/>
              </a:defRPr>
            </a:pPr>
            <a:r>
              <a:t>• 分享籤詩 + 重新求籤按鈕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8778240" y="5212080"/>
            <a:ext cx="3017520" cy="1097280"/>
          </a:xfrm>
          <a:prstGeom prst="roundRect">
            <a:avLst/>
          </a:prstGeom>
          <a:solidFill>
            <a:srgbClr val="12121A"/>
          </a:solidFill>
          <a:ln w="12700">
            <a:solidFill>
              <a:srgbClr val="B89A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961119" y="5349240"/>
            <a:ext cx="2651760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E8C547"/>
                </a:solidFill>
                <a:latin typeface="Microsoft JhengHei"/>
              </a:defRPr>
            </a:pPr>
            <a:r>
              <a:t>⚙️ 技術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CCCCCC"/>
                </a:solidFill>
                <a:latin typeface="Microsoft JhengHei"/>
              </a:defRPr>
            </a:pPr>
            <a:r>
              <a:t>• hexagram-engine.ts 本地運算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CCCCCC"/>
                </a:solidFill>
                <a:latin typeface="Microsoft JhengHei"/>
              </a:defRPr>
            </a:pPr>
            <a:r>
              <a:t>• 64 卦完整資料庫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CCCCCC"/>
                </a:solidFill>
                <a:latin typeface="Microsoft JhengHei"/>
              </a:defRPr>
            </a:pPr>
            <a:r>
              <a:t>• 結果送入 chat-store 對話記錄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8C547"/>
                </a:solidFill>
                <a:latin typeface="Microsoft JhengHei"/>
              </a:defRPr>
            </a:pPr>
            <a:r>
              <a:t>08  個人檔案 / 設定畫面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99999"/>
                </a:solidFill>
                <a:latin typeface="Microsoft JhengHei"/>
              </a:defRPr>
            </a:pPr>
            <a:r>
              <a:t>app/(tabs)/profile.tsx — 使用者資訊、命盤資料、系統設定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2926080" cy="5029200"/>
          </a:xfrm>
          <a:prstGeom prst="roundRect">
            <a:avLst/>
          </a:prstGeom>
          <a:solidFill>
            <a:srgbClr val="0E0E16"/>
          </a:solidFill>
          <a:ln w="25400">
            <a:solidFill>
              <a:srgbClr val="E8C5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54480" y="1353312"/>
            <a:ext cx="731520" cy="137160"/>
          </a:xfrm>
          <a:prstGeom prst="roundRect">
            <a:avLst/>
          </a:prstGeom>
          <a:solidFill>
            <a:srgbClr val="1A1A25"/>
          </a:solidFill>
          <a:ln w="12700">
            <a:solidFill>
              <a:srgbClr val="1A1A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E8C547"/>
                </a:solidFill>
                <a:latin typeface="Microsoft JhengHei"/>
              </a:defRPr>
            </a:pPr>
            <a:r>
              <a:t>我的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965960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594360" y="2203704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Microsoft JhengHei"/>
              </a:defRPr>
            </a:pPr>
            <a:r>
              <a:t>🦌 用戶名稱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441448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  <a:r>
              <a:t>Lv.5 青芽鹿 · 木屬性 · 驚蟄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679191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  <a:r>
              <a:t>[免費版]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916935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594360" y="3154679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  <a:r>
              <a:t>⭐ 升級會員解鎖更多功能 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392423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594360" y="3630167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Microsoft JhengHei"/>
              </a:defRPr>
            </a:pPr>
            <a:r>
              <a:t>語言設定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3867911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  <a:r>
              <a:t>🇹🇼 繁體中文  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4105655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</a:p>
        </p:txBody>
      </p:sp>
      <p:sp>
        <p:nvSpPr>
          <p:cNvPr id="17" name="TextBox 16"/>
          <p:cNvSpPr txBox="1"/>
          <p:nvPr/>
        </p:nvSpPr>
        <p:spPr>
          <a:xfrm>
            <a:off x="594360" y="4343399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Microsoft JhengHei"/>
              </a:defRPr>
            </a:pPr>
            <a:r>
              <a:t>命盤資料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4581143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  <a:r>
              <a:t>八字: 甲寅 丙午 壬子 辛未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4818887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  <a:r>
              <a:t>紫微主星: 天機星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5056631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  <a:r>
              <a:t>西洋星座: 雙魚座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294375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  <a:r>
              <a:t>節氣靈寵: 🦌 青芽鹿·驚蟄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57600" y="1280160"/>
            <a:ext cx="2926080" cy="5029200"/>
          </a:xfrm>
          <a:prstGeom prst="roundRect">
            <a:avLst/>
          </a:prstGeom>
          <a:solidFill>
            <a:srgbClr val="0E0E16"/>
          </a:solidFill>
          <a:ln w="25400">
            <a:solidFill>
              <a:srgbClr val="E8C5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754879" y="1353312"/>
            <a:ext cx="731520" cy="137160"/>
          </a:xfrm>
          <a:prstGeom prst="roundRect">
            <a:avLst/>
          </a:prstGeom>
          <a:solidFill>
            <a:srgbClr val="1A1A25"/>
          </a:solidFill>
          <a:ln w="12700">
            <a:solidFill>
              <a:srgbClr val="1A1A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794760" y="160020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E8C547"/>
                </a:solidFill>
                <a:latin typeface="Microsoft JhengHei"/>
              </a:defRPr>
            </a:pPr>
            <a:r>
              <a:t>我的（續）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94760" y="1965960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</a:p>
        </p:txBody>
      </p:sp>
      <p:sp>
        <p:nvSpPr>
          <p:cNvPr id="26" name="TextBox 25"/>
          <p:cNvSpPr txBox="1"/>
          <p:nvPr/>
        </p:nvSpPr>
        <p:spPr>
          <a:xfrm>
            <a:off x="3794760" y="2203704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Microsoft JhengHei"/>
              </a:defRPr>
            </a:pPr>
            <a:r>
              <a:t>其他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94760" y="2441448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</a:p>
        </p:txBody>
      </p:sp>
      <p:sp>
        <p:nvSpPr>
          <p:cNvPr id="28" name="TextBox 27"/>
          <p:cNvSpPr txBox="1"/>
          <p:nvPr/>
        </p:nvSpPr>
        <p:spPr>
          <a:xfrm>
            <a:off x="3794760" y="2679191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  <a:r>
              <a:t>🔔 推播通知          ›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794760" y="2916935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</a:p>
        </p:txBody>
      </p:sp>
      <p:sp>
        <p:nvSpPr>
          <p:cNvPr id="30" name="TextBox 29"/>
          <p:cNvSpPr txBox="1"/>
          <p:nvPr/>
        </p:nvSpPr>
        <p:spPr>
          <a:xfrm>
            <a:off x="3794760" y="3154679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  <a:r>
              <a:t>📄 隱私政策          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794760" y="3392423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</a:p>
        </p:txBody>
      </p:sp>
      <p:sp>
        <p:nvSpPr>
          <p:cNvPr id="32" name="TextBox 31"/>
          <p:cNvSpPr txBox="1"/>
          <p:nvPr/>
        </p:nvSpPr>
        <p:spPr>
          <a:xfrm>
            <a:off x="3794760" y="3630167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  <a:r>
              <a:t>📋 服務條款          ›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794760" y="3867911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</a:p>
        </p:txBody>
      </p:sp>
      <p:sp>
        <p:nvSpPr>
          <p:cNvPr id="34" name="TextBox 33"/>
          <p:cNvSpPr txBox="1"/>
          <p:nvPr/>
        </p:nvSpPr>
        <p:spPr>
          <a:xfrm>
            <a:off x="3794760" y="4105655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  <a:r>
              <a:t>ℹ️  關於靈犀          ›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794760" y="4343399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</a:p>
        </p:txBody>
      </p:sp>
      <p:sp>
        <p:nvSpPr>
          <p:cNvPr id="36" name="TextBox 35"/>
          <p:cNvSpPr txBox="1"/>
          <p:nvPr/>
        </p:nvSpPr>
        <p:spPr>
          <a:xfrm>
            <a:off x="3794760" y="4581143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  <a:r>
              <a:t>🔄 恢復購買          ›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794760" y="4818887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</a:p>
        </p:txBody>
      </p:sp>
      <p:sp>
        <p:nvSpPr>
          <p:cNvPr id="38" name="TextBox 37"/>
          <p:cNvSpPr txBox="1"/>
          <p:nvPr/>
        </p:nvSpPr>
        <p:spPr>
          <a:xfrm>
            <a:off x="3794760" y="5056631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</a:p>
        </p:txBody>
      </p:sp>
      <p:sp>
        <p:nvSpPr>
          <p:cNvPr id="39" name="TextBox 38"/>
          <p:cNvSpPr txBox="1"/>
          <p:nvPr/>
        </p:nvSpPr>
        <p:spPr>
          <a:xfrm>
            <a:off x="3794760" y="5294375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Microsoft JhengHei"/>
              </a:defRPr>
            </a:pPr>
            <a:r>
              <a:t>🚪 登出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794760" y="5532119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  <a:r>
              <a:t>(紅色文字, 需二次確認)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040880" y="1280160"/>
            <a:ext cx="4663440" cy="1828800"/>
          </a:xfrm>
          <a:prstGeom prst="roundRect">
            <a:avLst/>
          </a:prstGeom>
          <a:solidFill>
            <a:srgbClr val="12121A"/>
          </a:solidFill>
          <a:ln w="12700">
            <a:solidFill>
              <a:srgbClr val="B89A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223760" y="1417319"/>
            <a:ext cx="4297679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E8C547"/>
                </a:solidFill>
                <a:latin typeface="Microsoft JhengHei"/>
              </a:defRPr>
            </a:pPr>
            <a:r>
              <a:t>👤 使用者資訊卡</a:t>
            </a:r>
          </a:p>
          <a:p>
            <a:pPr algn="l">
              <a:spcBef>
                <a:spcPts val="300"/>
              </a:spcBef>
              <a:defRPr sz="1300" b="0">
                <a:solidFill>
                  <a:srgbClr val="CCCCCC"/>
                </a:solidFill>
                <a:latin typeface="Microsoft JhengHei"/>
              </a:defRPr>
            </a:pPr>
            <a:r>
              <a:t>• 顯示靈寵 emoji + 用戶名稱（明體粗體）</a:t>
            </a:r>
          </a:p>
          <a:p>
            <a:pPr algn="l">
              <a:spcBef>
                <a:spcPts val="300"/>
              </a:spcBef>
              <a:defRPr sz="1300" b="0">
                <a:solidFill>
                  <a:srgbClr val="CCCCCC"/>
                </a:solidFill>
                <a:latin typeface="Microsoft JhengHei"/>
              </a:defRPr>
            </a:pPr>
            <a:r>
              <a:t>• 等級 + 靈寵名 + 五行屬性 + 節氣名稱</a:t>
            </a:r>
          </a:p>
          <a:p>
            <a:pPr algn="l">
              <a:spcBef>
                <a:spcPts val="300"/>
              </a:spcBef>
              <a:defRPr sz="1300" b="0">
                <a:solidFill>
                  <a:srgbClr val="CCCCCC"/>
                </a:solidFill>
                <a:latin typeface="Microsoft JhengHei"/>
              </a:defRPr>
            </a:pPr>
            <a:r>
              <a:t>• 訂閱等級 badge：免費版 / 靈犀會員 / 靈犀至尊（至尊紫色底）</a:t>
            </a:r>
          </a:p>
          <a:p>
            <a:pPr algn="l">
              <a:spcBef>
                <a:spcPts val="300"/>
              </a:spcBef>
              <a:defRPr sz="1300" b="0">
                <a:solidFill>
                  <a:srgbClr val="CCCCCC"/>
                </a:solidFill>
                <a:latin typeface="Microsoft JhengHei"/>
              </a:defRPr>
            </a:pPr>
            <a:r>
              <a:t>• 免費用戶顯示升級 CTA 卡片 → 點擊開啟 UpgradeModal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040880" y="3337560"/>
            <a:ext cx="4663440" cy="1463040"/>
          </a:xfrm>
          <a:prstGeom prst="roundRect">
            <a:avLst/>
          </a:prstGeom>
          <a:solidFill>
            <a:srgbClr val="12121A"/>
          </a:solidFill>
          <a:ln w="12700">
            <a:solidFill>
              <a:srgbClr val="B89A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223760" y="3474720"/>
            <a:ext cx="4297679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E8C547"/>
                </a:solidFill>
                <a:latin typeface="Microsoft JhengHei"/>
              </a:defRPr>
            </a:pPr>
            <a:r>
              <a:t>📅 命盤資料</a:t>
            </a:r>
          </a:p>
          <a:p>
            <a:pPr algn="l">
              <a:spcBef>
                <a:spcPts val="300"/>
              </a:spcBef>
              <a:defRPr sz="1300" b="0">
                <a:solidFill>
                  <a:srgbClr val="CCCCCC"/>
                </a:solidFill>
                <a:latin typeface="Microsoft JhengHei"/>
              </a:defRPr>
            </a:pPr>
            <a:r>
              <a:t>• 八字四柱：年柱/月柱/日柱/時柱（天干地支組合）</a:t>
            </a:r>
          </a:p>
          <a:p>
            <a:pPr algn="l">
              <a:spcBef>
                <a:spcPts val="300"/>
              </a:spcBef>
              <a:defRPr sz="1300" b="0">
                <a:solidFill>
                  <a:srgbClr val="CCCCCC"/>
                </a:solidFill>
                <a:latin typeface="Microsoft JhengHei"/>
              </a:defRPr>
            </a:pPr>
            <a:r>
              <a:t>• 紫微斗數：命宮主星名稱</a:t>
            </a:r>
          </a:p>
          <a:p>
            <a:pPr algn="l">
              <a:spcBef>
                <a:spcPts val="300"/>
              </a:spcBef>
              <a:defRPr sz="1300" b="0">
                <a:solidFill>
                  <a:srgbClr val="CCCCCC"/>
                </a:solidFill>
                <a:latin typeface="Microsoft JhengHei"/>
              </a:defRPr>
            </a:pPr>
            <a:r>
              <a:t>• 西洋占星：對應星座中文名稱</a:t>
            </a:r>
          </a:p>
          <a:p>
            <a:pPr algn="l">
              <a:spcBef>
                <a:spcPts val="300"/>
              </a:spcBef>
              <a:defRPr sz="1300" b="0">
                <a:solidFill>
                  <a:srgbClr val="CCCCCC"/>
                </a:solidFill>
                <a:latin typeface="Microsoft JhengHei"/>
              </a:defRPr>
            </a:pPr>
            <a:r>
              <a:t>• 節氣靈寵：emoji + 寵物名 + 節氣名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040880" y="5029200"/>
            <a:ext cx="4663440" cy="1280160"/>
          </a:xfrm>
          <a:prstGeom prst="roundRect">
            <a:avLst/>
          </a:prstGeom>
          <a:solidFill>
            <a:srgbClr val="12121A"/>
          </a:solidFill>
          <a:ln w="12700">
            <a:solidFill>
              <a:srgbClr val="B89A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223760" y="5166360"/>
            <a:ext cx="4297679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E8C547"/>
                </a:solidFill>
                <a:latin typeface="Microsoft JhengHei"/>
              </a:defRPr>
            </a:pPr>
            <a:r>
              <a:t>⚙️ 系統設定</a:t>
            </a:r>
          </a:p>
          <a:p>
            <a:pPr algn="l">
              <a:spcBef>
                <a:spcPts val="300"/>
              </a:spcBef>
              <a:defRPr sz="1300" b="0">
                <a:solidFill>
                  <a:srgbClr val="CCCCCC"/>
                </a:solidFill>
                <a:latin typeface="Microsoft JhengHei"/>
              </a:defRPr>
            </a:pPr>
            <a:r>
              <a:t>• 語言切換：底部滑出式 6 語言選單（含國旗 emoji）</a:t>
            </a:r>
          </a:p>
          <a:p>
            <a:pPr algn="l">
              <a:spcBef>
                <a:spcPts val="300"/>
              </a:spcBef>
              <a:defRPr sz="1300" b="0">
                <a:solidFill>
                  <a:srgbClr val="CCCCCC"/>
                </a:solidFill>
                <a:latin typeface="Microsoft JhengHei"/>
              </a:defRPr>
            </a:pPr>
            <a:r>
              <a:t>• 隱私政策 / 服務條款：外部瀏覽器開啟 HTML 頁面</a:t>
            </a:r>
          </a:p>
          <a:p>
            <a:pPr algn="l">
              <a:spcBef>
                <a:spcPts val="300"/>
              </a:spcBef>
              <a:defRPr sz="1300" b="0">
                <a:solidFill>
                  <a:srgbClr val="CCCCCC"/>
                </a:solidFill>
                <a:latin typeface="Microsoft JhengHei"/>
              </a:defRPr>
            </a:pPr>
            <a:r>
              <a:t>• 關於靈犀：顯示版本號 v1.0.0</a:t>
            </a:r>
          </a:p>
          <a:p>
            <a:pPr algn="l">
              <a:spcBef>
                <a:spcPts val="300"/>
              </a:spcBef>
              <a:defRPr sz="1300" b="0">
                <a:solidFill>
                  <a:srgbClr val="CCCCCC"/>
                </a:solidFill>
                <a:latin typeface="Microsoft JhengHei"/>
              </a:defRPr>
            </a:pPr>
            <a:r>
              <a:t>• 恢復購買：呼叫 RevenueCat restorePurchases</a:t>
            </a:r>
          </a:p>
          <a:p>
            <a:pPr algn="l">
              <a:spcBef>
                <a:spcPts val="300"/>
              </a:spcBef>
              <a:defRPr sz="1300" b="0">
                <a:solidFill>
                  <a:srgbClr val="CCCCCC"/>
                </a:solidFill>
                <a:latin typeface="Microsoft JhengHei"/>
              </a:defRPr>
            </a:pPr>
            <a:r>
              <a:t>• 登出：確認對話框 → 清除所有本地儲存 + token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8C547"/>
                </a:solidFill>
                <a:latin typeface="Microsoft JhengHei"/>
              </a:defRPr>
            </a:pPr>
            <a:r>
              <a:t>09  升級彈窗 / 訂閱方案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99999"/>
                </a:solidFill>
                <a:latin typeface="Microsoft JhengHei"/>
              </a:defRPr>
            </a:pPr>
            <a:r>
              <a:t>components/UpgradeModal.tsx — 三種觸發時機、兩種付費方案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3200400" cy="5029200"/>
          </a:xfrm>
          <a:prstGeom prst="roundRect">
            <a:avLst/>
          </a:prstGeom>
          <a:solidFill>
            <a:srgbClr val="0E0E16"/>
          </a:solidFill>
          <a:ln w="25400">
            <a:solidFill>
              <a:srgbClr val="E8C5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691640" y="1353312"/>
            <a:ext cx="731520" cy="137160"/>
          </a:xfrm>
          <a:prstGeom prst="roundRect">
            <a:avLst/>
          </a:prstGeom>
          <a:solidFill>
            <a:srgbClr val="1A1A25"/>
          </a:solidFill>
          <a:ln w="12700">
            <a:solidFill>
              <a:srgbClr val="1A1A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E8C547"/>
                </a:solidFill>
                <a:latin typeface="Microsoft JhengHei"/>
              </a:defRPr>
            </a:pPr>
            <a:r>
              <a:t>升級彈窗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965960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594360" y="2203704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  <a:r>
              <a:t>🦌 主人，今天的次數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441448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  <a:r>
              <a:t>用完了...升級的話，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679191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  <a:r>
              <a:t>我能幫你做更多喔！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916935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594360" y="3154679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Microsoft JhengHei"/>
              </a:defRPr>
            </a:pPr>
            <a:r>
              <a:t>⭐ 靈犀會員  $390/月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392423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  <a:r>
              <a:t>• 靈眼/靈心/靈魂 5次/日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630167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  <a:r>
              <a:t>• 靈寵等級上限 Lv.20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3867911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  <a:r>
              <a:t>• AI 深度解讀 (Sonnet)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4105655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  <a:r>
              <a:t>   [ 立即升級 ] (金色)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4343399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</a:p>
        </p:txBody>
      </p:sp>
      <p:sp>
        <p:nvSpPr>
          <p:cNvPr id="18" name="TextBox 17"/>
          <p:cNvSpPr txBox="1"/>
          <p:nvPr/>
        </p:nvSpPr>
        <p:spPr>
          <a:xfrm>
            <a:off x="594360" y="4581143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Microsoft JhengHei"/>
              </a:defRPr>
            </a:pPr>
            <a:r>
              <a:t>👑 靈犀至尊  $1990/月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4818887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  <a:r>
              <a:t>• 全功能無限使用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5056631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  <a:r>
              <a:t>• 靈寵等級無上限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294375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  <a:r>
              <a:t>• 專屬進化 + 皮膚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5532119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  <a:r>
              <a:t>   [ 立即升級 ] (紫色)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5769863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</a:p>
        </p:txBody>
      </p:sp>
      <p:sp>
        <p:nvSpPr>
          <p:cNvPr id="24" name="Rounded Rectangle 23"/>
          <p:cNvSpPr/>
          <p:nvPr/>
        </p:nvSpPr>
        <p:spPr>
          <a:xfrm>
            <a:off x="4114800" y="1280160"/>
            <a:ext cx="7589520" cy="3200400"/>
          </a:xfrm>
          <a:prstGeom prst="roundRect">
            <a:avLst/>
          </a:prstGeom>
          <a:solidFill>
            <a:srgbClr val="12121A"/>
          </a:solidFill>
          <a:ln w="12700">
            <a:solidFill>
              <a:srgbClr val="B89A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97680" y="13716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8C547"/>
                </a:solidFill>
                <a:latin typeface="Microsoft JhengHei"/>
              </a:defRPr>
            </a:pPr>
            <a:r>
              <a:t>💎 訂閱方案比較表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89120" y="18288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E8C547"/>
                </a:solidFill>
                <a:latin typeface="Microsoft JhengHei"/>
              </a:defRPr>
            </a:pPr>
            <a:r>
              <a:t>功能項目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0" y="1828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icrosoft JhengHei"/>
              </a:defRPr>
            </a:pPr>
            <a:r>
              <a:t>免費版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0" y="18288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icrosoft JhengHei"/>
              </a:defRPr>
            </a:pPr>
            <a:r>
              <a:t>⭐ 會員 $390/月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92640" y="18288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icrosoft JhengHei"/>
              </a:defRPr>
            </a:pPr>
            <a:r>
              <a:t>👑 至尊 $1990/月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89120" y="21945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Microsoft JhengHei"/>
              </a:defRPr>
            </a:pPr>
            <a:r>
              <a:t>每日使用次數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7920" y="21945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CCCCC"/>
                </a:solidFill>
                <a:latin typeface="Microsoft JhengHei"/>
              </a:defRPr>
            </a:pPr>
            <a:r>
              <a:t>1 次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0" y="21945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E8C547"/>
                </a:solidFill>
                <a:latin typeface="Microsoft JhengHei"/>
              </a:defRPr>
            </a:pPr>
            <a:r>
              <a:t>5 次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92640" y="21945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A878E8"/>
                </a:solidFill>
                <a:latin typeface="Microsoft JhengHei"/>
              </a:defRPr>
            </a:pPr>
            <a:r>
              <a:t>無限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89120" y="2496312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Microsoft JhengHei"/>
              </a:defRPr>
            </a:pPr>
            <a:r>
              <a:t>靈寵等級上限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17920" y="249631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CCCCC"/>
                </a:solidFill>
                <a:latin typeface="Microsoft JhengHei"/>
              </a:defRPr>
            </a:pPr>
            <a:r>
              <a:t>Lv.10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0" y="249631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E8C547"/>
                </a:solidFill>
                <a:latin typeface="Microsoft JhengHei"/>
              </a:defRPr>
            </a:pPr>
            <a:r>
              <a:t>Lv.20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92640" y="249631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A878E8"/>
                </a:solidFill>
                <a:latin typeface="Microsoft JhengHei"/>
              </a:defRPr>
            </a:pPr>
            <a:r>
              <a:t>無上限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89120" y="2798064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Microsoft JhengHei"/>
              </a:defRPr>
            </a:pPr>
            <a:r>
              <a:t>進化階段上限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17920" y="279806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CCCCC"/>
                </a:solidFill>
                <a:latin typeface="Microsoft JhengHei"/>
              </a:defRPr>
            </a:pPr>
            <a:r>
              <a:t>1 階段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72400" y="2798064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E8C547"/>
                </a:solidFill>
                <a:latin typeface="Microsoft JhengHei"/>
              </a:defRPr>
            </a:pPr>
            <a:r>
              <a:t>2 階段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92640" y="2798064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A878E8"/>
                </a:solidFill>
                <a:latin typeface="Microsoft JhengHei"/>
              </a:defRPr>
            </a:pPr>
            <a:r>
              <a:t>5 階段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389120" y="3099815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Microsoft JhengHei"/>
              </a:defRPr>
            </a:pPr>
            <a:r>
              <a:t>AI 分析模型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17920" y="3099815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CCCCC"/>
                </a:solidFill>
                <a:latin typeface="Microsoft JhengHei"/>
              </a:defRPr>
            </a:pPr>
            <a:r>
              <a:t>基礎範本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772400" y="3099815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E8C547"/>
                </a:solidFill>
                <a:latin typeface="Microsoft JhengHei"/>
              </a:defRPr>
            </a:pPr>
            <a:r>
              <a:t>Haiku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692640" y="3099815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A878E8"/>
                </a:solidFill>
                <a:latin typeface="Microsoft JhengHei"/>
              </a:defRPr>
            </a:pPr>
            <a:r>
              <a:t>Sonnet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389120" y="340156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Microsoft JhengHei"/>
              </a:defRPr>
            </a:pPr>
            <a:r>
              <a:t>Lv.10+ 加成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17920" y="340156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CCCCC"/>
                </a:solidFill>
                <a:latin typeface="Microsoft JhengHei"/>
              </a:defRPr>
            </a:pPr>
            <a:r>
              <a:t>+1 次/日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772400" y="340156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E8C547"/>
                </a:solidFill>
                <a:latin typeface="Microsoft JhengHei"/>
              </a:defRPr>
            </a:pPr>
            <a:r>
              <a:t>+1 次/日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692640" y="340156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A878E8"/>
                </a:solidFill>
                <a:latin typeface="Microsoft JhengHei"/>
              </a:defRPr>
            </a:pPr>
            <a:r>
              <a:t>N/A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389120" y="37033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Microsoft JhengHei"/>
              </a:defRPr>
            </a:pPr>
            <a:r>
              <a:t>Lv.20+ 加成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217920" y="37033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CCCCC"/>
                </a:solidFill>
                <a:latin typeface="Microsoft JhengHei"/>
              </a:defRPr>
            </a:pPr>
            <a:r>
              <a:t>+2 總次數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772400" y="37033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E8C547"/>
                </a:solidFill>
                <a:latin typeface="Microsoft JhengHei"/>
              </a:defRPr>
            </a:pPr>
            <a:r>
              <a:t>+2 總次數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692640" y="37033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A878E8"/>
                </a:solidFill>
                <a:latin typeface="Microsoft JhengHei"/>
              </a:defRPr>
            </a:pPr>
            <a:r>
              <a:t>N/A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4114800" y="4709160"/>
            <a:ext cx="3657600" cy="1600200"/>
          </a:xfrm>
          <a:prstGeom prst="roundRect">
            <a:avLst/>
          </a:prstGeom>
          <a:solidFill>
            <a:srgbClr val="12121A"/>
          </a:solidFill>
          <a:ln w="12700">
            <a:solidFill>
              <a:srgbClr val="B89A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297680" y="4846320"/>
            <a:ext cx="329184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E8C547"/>
                </a:solidFill>
                <a:latin typeface="Microsoft JhengHei"/>
              </a:defRPr>
            </a:pPr>
            <a:r>
              <a:t>⚡ 彈窗觸發條件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CCCCCC"/>
                </a:solidFill>
                <a:latin typeface="Microsoft JhengHei"/>
              </a:defRPr>
            </a:pPr>
            <a:r>
              <a:t>• 每日使用次數用盡 → 自動彈出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CCCCCC"/>
                </a:solidFill>
                <a:latin typeface="Microsoft JhengHei"/>
              </a:defRPr>
            </a:pPr>
            <a:r>
              <a:t>• 靈寵等級達到方案上限 → 自動彈出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CCCCCC"/>
                </a:solidFill>
                <a:latin typeface="Microsoft JhengHei"/>
              </a:defRPr>
            </a:pPr>
            <a:r>
              <a:t>• 個人檔案頁手動點擊升級 CTA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CCCCCC"/>
                </a:solidFill>
                <a:latin typeface="Microsoft JhengHei"/>
              </a:defRPr>
            </a:pPr>
            <a:r>
              <a:t>• 購買進行中顯示 Loading Spinner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8046720" y="4709160"/>
            <a:ext cx="3657600" cy="1600200"/>
          </a:xfrm>
          <a:prstGeom prst="roundRect">
            <a:avLst/>
          </a:prstGeom>
          <a:solidFill>
            <a:srgbClr val="12121A"/>
          </a:solidFill>
          <a:ln w="12700">
            <a:solidFill>
              <a:srgbClr val="B89A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229600" y="4846320"/>
            <a:ext cx="329184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E8C547"/>
                </a:solidFill>
                <a:latin typeface="Microsoft JhengHei"/>
              </a:defRPr>
            </a:pPr>
            <a:r>
              <a:t>🔧 付費整合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CCCCCC"/>
                </a:solidFill>
                <a:latin typeface="Microsoft JhengHei"/>
              </a:defRPr>
            </a:pPr>
            <a:r>
              <a:t>• RevenueCat SDK 管理訂閱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CCCCCC"/>
                </a:solidFill>
                <a:latin typeface="Microsoft JhengHei"/>
              </a:defRPr>
            </a:pPr>
            <a:r>
              <a:t>• Product ID: lingxi_member_monthly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CCCCCC"/>
                </a:solidFill>
                <a:latin typeface="Microsoft JhengHei"/>
              </a:defRPr>
            </a:pPr>
            <a:r>
              <a:t>• Product ID: lingxi_supreme_monthly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CCCCCC"/>
                </a:solidFill>
                <a:latin typeface="Microsoft JhengHei"/>
              </a:defRPr>
            </a:pPr>
            <a:r>
              <a:t>• 恢復購買支援（Profile 頁面）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8C547"/>
                </a:solidFill>
                <a:latin typeface="Microsoft JhengHei"/>
              </a:defRPr>
            </a:pPr>
            <a:r>
              <a:t>10  對話氣泡系統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99999"/>
                </a:solidFill>
                <a:latin typeface="Microsoft JhengHei"/>
              </a:defRPr>
            </a:pPr>
            <a:r>
              <a:t>components/PetBubble.tsx — 11 種訊息類型，富內容渲染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2743200" cy="1600200"/>
          </a:xfrm>
          <a:prstGeom prst="roundRect">
            <a:avLst/>
          </a:prstGeom>
          <a:solidFill>
            <a:srgbClr val="12121A"/>
          </a:solidFill>
          <a:ln w="12700">
            <a:solidFill>
              <a:srgbClr val="B89A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46304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8C547"/>
                </a:solidFill>
                <a:latin typeface="Microsoft JhengHei"/>
              </a:defRPr>
            </a:pPr>
            <a:r>
              <a:t>🔮  每日運勢  (fortune)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78308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CCCCC"/>
                </a:solidFill>
                <a:latin typeface="Microsoft JhengHei"/>
              </a:defRPr>
            </a:pPr>
            <a:r>
              <a:t>• 5 項分數條：財運/桃花/事業/健康/學業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984248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CCCCC"/>
                </a:solidFill>
                <a:latin typeface="Microsoft JhengHei"/>
              </a:defRPr>
            </a:pPr>
            <a:r>
              <a:t>• 幸運方位 + 幸運色 + 幸運數字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185416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CCCCC"/>
                </a:solidFill>
                <a:latin typeface="Microsoft JhengHei"/>
              </a:defRPr>
            </a:pPr>
            <a:r>
              <a:t>• 整體運勢分數 + 靈寵評語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83280" y="1371600"/>
            <a:ext cx="2743200" cy="1600200"/>
          </a:xfrm>
          <a:prstGeom prst="roundRect">
            <a:avLst/>
          </a:prstGeom>
          <a:solidFill>
            <a:srgbClr val="12121A"/>
          </a:solidFill>
          <a:ln w="12700">
            <a:solidFill>
              <a:srgbClr val="B89A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20440" y="146304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8C547"/>
                </a:solidFill>
                <a:latin typeface="Microsoft JhengHei"/>
              </a:defRPr>
            </a:pPr>
            <a:r>
              <a:t>👁  面相結果  (face)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0440" y="178308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CCCCC"/>
                </a:solidFill>
                <a:latin typeface="Microsoft JhengHei"/>
              </a:defRPr>
            </a:pPr>
            <a:r>
              <a:t>• 5 項面相分數：天庭/眉運/眼運/鼻運/口運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0440" y="1984248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CCCCC"/>
                </a:solidFill>
                <a:latin typeface="Microsoft JhengHei"/>
              </a:defRPr>
            </a:pPr>
            <a:r>
              <a:t>• 總分 + 星級評定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2185416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CCCCC"/>
                </a:solidFill>
                <a:latin typeface="Microsoft JhengHei"/>
              </a:defRPr>
            </a:pPr>
            <a:r>
              <a:t>• 幸運物 + 幸運方位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1371600"/>
            <a:ext cx="2743200" cy="1600200"/>
          </a:xfrm>
          <a:prstGeom prst="roundRect">
            <a:avLst/>
          </a:prstGeom>
          <a:solidFill>
            <a:srgbClr val="12121A"/>
          </a:solidFill>
          <a:ln w="12700">
            <a:solidFill>
              <a:srgbClr val="B89A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146304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8C547"/>
                </a:solidFill>
                <a:latin typeface="Microsoft JhengHei"/>
              </a:defRPr>
            </a:pPr>
            <a:r>
              <a:t>🧭  風水結果  (fengshui)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178308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CCCCC"/>
                </a:solidFill>
                <a:latin typeface="Microsoft JhengHei"/>
              </a:defRPr>
            </a:pPr>
            <a:r>
              <a:t>• 3×3 九宮格方位圖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1984248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CCCCC"/>
                </a:solidFill>
                <a:latin typeface="Microsoft JhengHei"/>
              </a:defRPr>
            </a:pPr>
            <a:r>
              <a:t>• 八門標註（生門/休門...）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2185416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CCCCC"/>
                </a:solidFill>
                <a:latin typeface="Microsoft JhengHei"/>
              </a:defRPr>
            </a:pPr>
            <a:r>
              <a:t>• 吉方金色 / 凶方紅色高亮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235440" y="1371600"/>
            <a:ext cx="2743200" cy="1600200"/>
          </a:xfrm>
          <a:prstGeom prst="roundRect">
            <a:avLst/>
          </a:prstGeom>
          <a:solidFill>
            <a:srgbClr val="12121A"/>
          </a:solidFill>
          <a:ln w="12700">
            <a:solidFill>
              <a:srgbClr val="B89A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72600" y="146304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8C547"/>
                </a:solidFill>
                <a:latin typeface="Microsoft JhengHei"/>
              </a:defRPr>
            </a:pPr>
            <a:r>
              <a:t>🏮  占卜結果  (divination)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72600" y="178308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CCCCC"/>
                </a:solidFill>
                <a:latin typeface="Microsoft JhengHei"/>
              </a:defRPr>
            </a:pPr>
            <a:r>
              <a:t>• 卦象符號 (40px) + 卦名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72600" y="1984248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CCCCC"/>
                </a:solidFill>
                <a:latin typeface="Microsoft JhengHei"/>
              </a:defRPr>
            </a:pPr>
            <a:r>
              <a:t>• 卦辭 (Oracle) 引用框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72600" y="2185416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CCCCC"/>
                </a:solidFill>
                <a:latin typeface="Microsoft JhengHei"/>
              </a:defRPr>
            </a:pPr>
            <a:r>
              <a:t>• 上卦/下卦/五行/吉凶資訊列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3154680"/>
            <a:ext cx="2743200" cy="1600200"/>
          </a:xfrm>
          <a:prstGeom prst="roundRect">
            <a:avLst/>
          </a:prstGeom>
          <a:solidFill>
            <a:srgbClr val="12121A"/>
          </a:solidFill>
          <a:ln w="12700">
            <a:solidFill>
              <a:srgbClr val="B89A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324612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8C547"/>
                </a:solidFill>
                <a:latin typeface="Microsoft JhengHei"/>
              </a:defRPr>
            </a:pPr>
            <a:r>
              <a:t>🍖  餵食  (feed)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356616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CCCCC"/>
                </a:solidFill>
                <a:latin typeface="Microsoft JhengHei"/>
              </a:defRPr>
            </a:pPr>
            <a:r>
              <a:t>• +50 EXP badge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3767328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CCCCC"/>
                </a:solidFill>
                <a:latin typeface="Microsoft JhengHei"/>
              </a:defRPr>
            </a:pPr>
            <a:r>
              <a:t>• 金色背景高亮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383280" y="3154680"/>
            <a:ext cx="2743200" cy="1600200"/>
          </a:xfrm>
          <a:prstGeom prst="roundRect">
            <a:avLst/>
          </a:prstGeom>
          <a:solidFill>
            <a:srgbClr val="12121A"/>
          </a:solidFill>
          <a:ln w="12700">
            <a:solidFill>
              <a:srgbClr val="B89A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520440" y="324612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8C547"/>
                </a:solidFill>
                <a:latin typeface="Microsoft JhengHei"/>
              </a:defRPr>
            </a:pPr>
            <a:r>
              <a:t>🎾  玩耍  (play)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20440" y="356616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CCCCC"/>
                </a:solidFill>
                <a:latin typeface="Microsoft JhengHei"/>
              </a:defRPr>
            </a:pPr>
            <a:r>
              <a:t>• +30 EXP badge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20440" y="3767328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CCCCC"/>
                </a:solidFill>
                <a:latin typeface="Microsoft JhengHei"/>
              </a:defRPr>
            </a:pPr>
            <a:r>
              <a:t>• 金色背景高亮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309360" y="3154680"/>
            <a:ext cx="2743200" cy="1600200"/>
          </a:xfrm>
          <a:prstGeom prst="roundRect">
            <a:avLst/>
          </a:prstGeom>
          <a:solidFill>
            <a:srgbClr val="12121A"/>
          </a:solidFill>
          <a:ln w="12700">
            <a:solidFill>
              <a:srgbClr val="B89A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46520" y="324612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8C547"/>
                </a:solidFill>
                <a:latin typeface="Microsoft JhengHei"/>
              </a:defRPr>
            </a:pPr>
            <a:r>
              <a:t>🧘  冥想  (meditate)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46520" y="356616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CCCCC"/>
                </a:solidFill>
                <a:latin typeface="Microsoft JhengHei"/>
              </a:defRPr>
            </a:pPr>
            <a:r>
              <a:t>• +20 EXP badge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46520" y="3767328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CCCCC"/>
                </a:solidFill>
                <a:latin typeface="Microsoft JhengHei"/>
              </a:defRPr>
            </a:pPr>
            <a:r>
              <a:t>• 金色背景高亮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235440" y="3154680"/>
            <a:ext cx="2743200" cy="1600200"/>
          </a:xfrm>
          <a:prstGeom prst="roundRect">
            <a:avLst/>
          </a:prstGeom>
          <a:solidFill>
            <a:srgbClr val="12121A"/>
          </a:solidFill>
          <a:ln w="12700">
            <a:solidFill>
              <a:srgbClr val="B89A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372600" y="324612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8C547"/>
                </a:solidFill>
                <a:latin typeface="Microsoft JhengHei"/>
              </a:defRPr>
            </a:pPr>
            <a:r>
              <a:t>⬆️  升級  (levelup)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72600" y="356616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CCCCC"/>
                </a:solidFill>
                <a:latin typeface="Microsoft JhengHei"/>
              </a:defRPr>
            </a:pPr>
            <a:r>
              <a:t>• 金色慶祝 badge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372600" y="3767328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CCCCC"/>
                </a:solidFill>
                <a:latin typeface="Microsoft JhengHei"/>
              </a:defRPr>
            </a:pPr>
            <a:r>
              <a:t>• 新等級顯示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57200" y="4937760"/>
            <a:ext cx="2743200" cy="1600200"/>
          </a:xfrm>
          <a:prstGeom prst="roundRect">
            <a:avLst/>
          </a:prstGeom>
          <a:solidFill>
            <a:srgbClr val="12121A"/>
          </a:solidFill>
          <a:ln w="12700">
            <a:solidFill>
              <a:srgbClr val="B89A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94360" y="502920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8C547"/>
                </a:solidFill>
                <a:latin typeface="Microsoft JhengHei"/>
              </a:defRPr>
            </a:pPr>
            <a:r>
              <a:t>✨  進化  (evolve)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94360" y="534924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CCCCC"/>
                </a:solidFill>
                <a:latin typeface="Microsoft JhengHei"/>
              </a:defRPr>
            </a:pPr>
            <a:r>
              <a:t>• 紫色慶祝 badge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94360" y="5550408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CCCCC"/>
                </a:solidFill>
                <a:latin typeface="Microsoft JhengHei"/>
              </a:defRPr>
            </a:pPr>
            <a:r>
              <a:t>• 新進化階段顯示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383280" y="4937760"/>
            <a:ext cx="2743200" cy="1600200"/>
          </a:xfrm>
          <a:prstGeom prst="roundRect">
            <a:avLst/>
          </a:prstGeom>
          <a:solidFill>
            <a:srgbClr val="12121A"/>
          </a:solidFill>
          <a:ln w="12700">
            <a:solidFill>
              <a:srgbClr val="B89A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520440" y="502920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8C547"/>
                </a:solidFill>
                <a:latin typeface="Microsoft JhengHei"/>
              </a:defRPr>
            </a:pPr>
            <a:r>
              <a:t>💬  一般文字  (text)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520440" y="534924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CCCCC"/>
                </a:solidFill>
                <a:latin typeface="Microsoft JhengHei"/>
              </a:defRPr>
            </a:pPr>
            <a:r>
              <a:t>• 純文字訊息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520440" y="5550408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CCCCC"/>
                </a:solidFill>
                <a:latin typeface="Microsoft JhengHei"/>
              </a:defRPr>
            </a:pPr>
            <a:r>
              <a:t>• 靈寵回應內容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309360" y="4937760"/>
            <a:ext cx="2743200" cy="1600200"/>
          </a:xfrm>
          <a:prstGeom prst="roundRect">
            <a:avLst/>
          </a:prstGeom>
          <a:solidFill>
            <a:srgbClr val="12121A"/>
          </a:solidFill>
          <a:ln w="12700">
            <a:solidFill>
              <a:srgbClr val="B89A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446520" y="502920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8C547"/>
                </a:solidFill>
                <a:latin typeface="Microsoft JhengHei"/>
              </a:defRPr>
            </a:pPr>
            <a:r>
              <a:t>⚙️  系統訊息  (system)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46520" y="534924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CCCCC"/>
                </a:solidFill>
                <a:latin typeface="Microsoft JhengHei"/>
              </a:defRPr>
            </a:pPr>
            <a:r>
              <a:t>• 系統通知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46520" y="5550408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CCCCC"/>
                </a:solidFill>
                <a:latin typeface="Microsoft JhengHei"/>
              </a:defRPr>
            </a:pPr>
            <a:r>
              <a:t>• 狀態變更提示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57200" y="6400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99999"/>
                </a:solidFill>
                <a:latin typeface="Microsoft JhengHei"/>
              </a:defRPr>
            </a:pPr>
            <a:r>
              <a:t>所有氣泡：靈寵 emoji + 名字 + 時間戳 | 左對齊 | 深金色半透明背景 | 日期分隔線 | 最多保留 200 則訊息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8C547"/>
                </a:solidFill>
                <a:latin typeface="Microsoft JhengHei"/>
              </a:defRPr>
            </a:pPr>
            <a:r>
              <a:t>11  靈寵養成系統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99999"/>
                </a:solidFill>
                <a:latin typeface="Microsoft JhengHei"/>
              </a:defRPr>
            </a:pPr>
            <a:r>
              <a:t>24 節氣靈寵 × 五行屬性 × 等級進化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371600"/>
            <a:ext cx="1371600" cy="868680"/>
          </a:xfrm>
          <a:prstGeom prst="roundRect">
            <a:avLst/>
          </a:prstGeom>
          <a:solidFill>
            <a:srgbClr val="12121A"/>
          </a:solidFill>
          <a:ln w="12700">
            <a:solidFill>
              <a:srgbClr val="4EC9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41732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Microsoft JhengHei"/>
              </a:defRPr>
            </a:pPr>
            <a:r>
              <a:t>🦌 青芽鹿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69164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EC94E"/>
                </a:solidFill>
                <a:latin typeface="Microsoft JhengHei"/>
              </a:defRPr>
            </a:pPr>
            <a:r>
              <a:t>立春 · 木系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92024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99999"/>
                </a:solidFill>
                <a:latin typeface="Microsoft JhengHei"/>
              </a:defRPr>
            </a:pPr>
          </a:p>
        </p:txBody>
      </p:sp>
      <p:sp>
        <p:nvSpPr>
          <p:cNvPr id="8" name="Rounded Rectangle 7"/>
          <p:cNvSpPr/>
          <p:nvPr/>
        </p:nvSpPr>
        <p:spPr>
          <a:xfrm>
            <a:off x="1737360" y="1371600"/>
            <a:ext cx="1371600" cy="868680"/>
          </a:xfrm>
          <a:prstGeom prst="roundRect">
            <a:avLst/>
          </a:prstGeom>
          <a:solidFill>
            <a:srgbClr val="12121A"/>
          </a:solidFill>
          <a:ln w="12700">
            <a:solidFill>
              <a:srgbClr val="478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783080" y="141732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Microsoft JhengHei"/>
              </a:defRPr>
            </a:pPr>
            <a:r>
              <a:t>🐸 潤澤蛙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83080" y="169164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78DE8"/>
                </a:solidFill>
                <a:latin typeface="Microsoft JhengHei"/>
              </a:defRPr>
            </a:pPr>
            <a:r>
              <a:t>雨水 · 水系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83080" y="192024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99999"/>
                </a:solidFill>
                <a:latin typeface="Microsoft JhengHei"/>
              </a:defRPr>
            </a:pPr>
          </a:p>
        </p:txBody>
      </p:sp>
      <p:sp>
        <p:nvSpPr>
          <p:cNvPr id="12" name="Rounded Rectangle 11"/>
          <p:cNvSpPr/>
          <p:nvPr/>
        </p:nvSpPr>
        <p:spPr>
          <a:xfrm>
            <a:off x="3200400" y="1371600"/>
            <a:ext cx="1371600" cy="868680"/>
          </a:xfrm>
          <a:prstGeom prst="roundRect">
            <a:avLst/>
          </a:prstGeom>
          <a:solidFill>
            <a:srgbClr val="12121A"/>
          </a:solidFill>
          <a:ln w="12700">
            <a:solidFill>
              <a:srgbClr val="4EC9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46120" y="141732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Microsoft JhengHei"/>
              </a:defRPr>
            </a:pPr>
            <a:r>
              <a:t>🐉 驚雷龍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46120" y="169164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EC94E"/>
                </a:solidFill>
                <a:latin typeface="Microsoft JhengHei"/>
              </a:defRPr>
            </a:pPr>
            <a:r>
              <a:t>驚蟄 · 木系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46120" y="192024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99999"/>
                </a:solidFill>
                <a:latin typeface="Microsoft JhengHei"/>
              </a:defRPr>
            </a:pPr>
          </a:p>
        </p:txBody>
      </p:sp>
      <p:sp>
        <p:nvSpPr>
          <p:cNvPr id="16" name="Rounded Rectangle 15"/>
          <p:cNvSpPr/>
          <p:nvPr/>
        </p:nvSpPr>
        <p:spPr>
          <a:xfrm>
            <a:off x="4663440" y="1371600"/>
            <a:ext cx="1371600" cy="868680"/>
          </a:xfrm>
          <a:prstGeom prst="roundRect">
            <a:avLst/>
          </a:prstGeom>
          <a:solidFill>
            <a:srgbClr val="12121A"/>
          </a:solidFill>
          <a:ln w="12700">
            <a:solidFill>
              <a:srgbClr val="4EC9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09160" y="141732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Microsoft JhengHei"/>
              </a:defRPr>
            </a:pPr>
            <a:r>
              <a:t>🦋 春翼蝶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09160" y="169164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EC94E"/>
                </a:solidFill>
                <a:latin typeface="Microsoft JhengHei"/>
              </a:defRPr>
            </a:pPr>
            <a:r>
              <a:t>春分 · 木系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09160" y="192024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99999"/>
                </a:solidFill>
                <a:latin typeface="Microsoft JhengHei"/>
              </a:defRPr>
            </a:pPr>
          </a:p>
        </p:txBody>
      </p:sp>
      <p:sp>
        <p:nvSpPr>
          <p:cNvPr id="20" name="Rounded Rectangle 19"/>
          <p:cNvSpPr/>
          <p:nvPr/>
        </p:nvSpPr>
        <p:spPr>
          <a:xfrm>
            <a:off x="6126480" y="1371600"/>
            <a:ext cx="1371600" cy="868680"/>
          </a:xfrm>
          <a:prstGeom prst="roundRect">
            <a:avLst/>
          </a:prstGeom>
          <a:solidFill>
            <a:srgbClr val="12121A"/>
          </a:solidFill>
          <a:ln w="12700">
            <a:solidFill>
              <a:srgbClr val="4EC9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72200" y="141732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Microsoft JhengHei"/>
              </a:defRPr>
            </a:pPr>
            <a:r>
              <a:t>🦢 清風鶴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72200" y="169164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EC94E"/>
                </a:solidFill>
                <a:latin typeface="Microsoft JhengHei"/>
              </a:defRPr>
            </a:pPr>
            <a:r>
              <a:t>清明 · 木系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72200" y="192024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99999"/>
                </a:solidFill>
                <a:latin typeface="Microsoft JhengHei"/>
              </a:defRPr>
            </a:pPr>
          </a:p>
        </p:txBody>
      </p:sp>
      <p:sp>
        <p:nvSpPr>
          <p:cNvPr id="24" name="Rounded Rectangle 23"/>
          <p:cNvSpPr/>
          <p:nvPr/>
        </p:nvSpPr>
        <p:spPr>
          <a:xfrm>
            <a:off x="7589520" y="1371600"/>
            <a:ext cx="1371600" cy="868680"/>
          </a:xfrm>
          <a:prstGeom prst="roundRect">
            <a:avLst/>
          </a:prstGeom>
          <a:solidFill>
            <a:srgbClr val="12121A"/>
          </a:solidFill>
          <a:ln w="12700">
            <a:solidFill>
              <a:srgbClr val="C9A8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635240" y="141732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Microsoft JhengHei"/>
              </a:defRPr>
            </a:pPr>
            <a:r>
              <a:t>🐍 穀靈蛇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35240" y="169164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9A84E"/>
                </a:solidFill>
                <a:latin typeface="Microsoft JhengHei"/>
              </a:defRPr>
            </a:pPr>
            <a:r>
              <a:t>穀雨 · 土系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35240" y="192024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99999"/>
                </a:solidFill>
                <a:latin typeface="Microsoft JhengHei"/>
              </a:defRPr>
            </a:pPr>
          </a:p>
        </p:txBody>
      </p:sp>
      <p:sp>
        <p:nvSpPr>
          <p:cNvPr id="28" name="Rounded Rectangle 27"/>
          <p:cNvSpPr/>
          <p:nvPr/>
        </p:nvSpPr>
        <p:spPr>
          <a:xfrm>
            <a:off x="9052560" y="1371600"/>
            <a:ext cx="1371600" cy="868680"/>
          </a:xfrm>
          <a:prstGeom prst="roundRect">
            <a:avLst/>
          </a:prstGeom>
          <a:solidFill>
            <a:srgbClr val="12121A"/>
          </a:solidFill>
          <a:ln w="12700">
            <a:solidFill>
              <a:srgbClr val="E864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098280" y="141732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Microsoft JhengHei"/>
              </a:defRPr>
            </a:pPr>
            <a:r>
              <a:t>🦅 炎翼鷹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98280" y="169164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86447"/>
                </a:solidFill>
                <a:latin typeface="Microsoft JhengHei"/>
              </a:defRPr>
            </a:pPr>
            <a:r>
              <a:t>立夏 · 火系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98280" y="192024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99999"/>
                </a:solidFill>
                <a:latin typeface="Microsoft JhengHei"/>
              </a:defRPr>
            </a:pPr>
          </a:p>
        </p:txBody>
      </p:sp>
      <p:sp>
        <p:nvSpPr>
          <p:cNvPr id="32" name="Rounded Rectangle 31"/>
          <p:cNvSpPr/>
          <p:nvPr/>
        </p:nvSpPr>
        <p:spPr>
          <a:xfrm>
            <a:off x="10515600" y="1371600"/>
            <a:ext cx="1371600" cy="868680"/>
          </a:xfrm>
          <a:prstGeom prst="roundRect">
            <a:avLst/>
          </a:prstGeom>
          <a:solidFill>
            <a:srgbClr val="12121A"/>
          </a:solidFill>
          <a:ln w="12700">
            <a:solidFill>
              <a:srgbClr val="E864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561320" y="141732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Microsoft JhengHei"/>
              </a:defRPr>
            </a:pPr>
            <a:r>
              <a:t>🐝 蜜光蜂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61320" y="169164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86447"/>
                </a:solidFill>
                <a:latin typeface="Microsoft JhengHei"/>
              </a:defRPr>
            </a:pPr>
            <a:r>
              <a:t>小滿 · 火系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61320" y="192024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99999"/>
                </a:solidFill>
                <a:latin typeface="Microsoft JhengHei"/>
              </a:defRPr>
            </a:pPr>
          </a:p>
        </p:txBody>
      </p:sp>
      <p:sp>
        <p:nvSpPr>
          <p:cNvPr id="36" name="Rounded Rectangle 35"/>
          <p:cNvSpPr/>
          <p:nvPr/>
        </p:nvSpPr>
        <p:spPr>
          <a:xfrm>
            <a:off x="274320" y="2423160"/>
            <a:ext cx="1371600" cy="868680"/>
          </a:xfrm>
          <a:prstGeom prst="roundRect">
            <a:avLst/>
          </a:prstGeom>
          <a:solidFill>
            <a:srgbClr val="12121A"/>
          </a:solidFill>
          <a:ln w="12700">
            <a:solidFill>
              <a:srgbClr val="E864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20040" y="2468879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Microsoft JhengHei"/>
              </a:defRPr>
            </a:pPr>
            <a:r>
              <a:t>🦊 芒野狐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20040" y="274320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86447"/>
                </a:solidFill>
                <a:latin typeface="Microsoft JhengHei"/>
              </a:defRPr>
            </a:pPr>
            <a:r>
              <a:t>芒種 · 火系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20040" y="297180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99999"/>
                </a:solidFill>
                <a:latin typeface="Microsoft JhengHei"/>
              </a:defRPr>
            </a:pPr>
          </a:p>
        </p:txBody>
      </p:sp>
      <p:sp>
        <p:nvSpPr>
          <p:cNvPr id="40" name="Rounded Rectangle 39"/>
          <p:cNvSpPr/>
          <p:nvPr/>
        </p:nvSpPr>
        <p:spPr>
          <a:xfrm>
            <a:off x="1737360" y="2423160"/>
            <a:ext cx="1371600" cy="868680"/>
          </a:xfrm>
          <a:prstGeom prst="roundRect">
            <a:avLst/>
          </a:prstGeom>
          <a:solidFill>
            <a:srgbClr val="12121A"/>
          </a:solidFill>
          <a:ln w="12700">
            <a:solidFill>
              <a:srgbClr val="E864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783080" y="2468879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Microsoft JhengHei"/>
              </a:defRPr>
            </a:pPr>
            <a:r>
              <a:t>🦁 日輪獅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783080" y="274320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86447"/>
                </a:solidFill>
                <a:latin typeface="Microsoft JhengHei"/>
              </a:defRPr>
            </a:pPr>
            <a:r>
              <a:t>夏至 · 火系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783080" y="297180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99999"/>
                </a:solidFill>
                <a:latin typeface="Microsoft JhengHei"/>
              </a:defRPr>
            </a:pPr>
          </a:p>
        </p:txBody>
      </p:sp>
      <p:sp>
        <p:nvSpPr>
          <p:cNvPr id="44" name="Rounded Rectangle 43"/>
          <p:cNvSpPr/>
          <p:nvPr/>
        </p:nvSpPr>
        <p:spPr>
          <a:xfrm>
            <a:off x="3200400" y="2423160"/>
            <a:ext cx="1371600" cy="868680"/>
          </a:xfrm>
          <a:prstGeom prst="roundRect">
            <a:avLst/>
          </a:prstGeom>
          <a:solidFill>
            <a:srgbClr val="12121A"/>
          </a:solidFill>
          <a:ln w="12700">
            <a:solidFill>
              <a:srgbClr val="E864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246120" y="2468879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Microsoft JhengHei"/>
              </a:defRPr>
            </a:pPr>
            <a:r>
              <a:t>🐠 暑泉魚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246120" y="274320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86447"/>
                </a:solidFill>
                <a:latin typeface="Microsoft JhengHei"/>
              </a:defRPr>
            </a:pPr>
            <a:r>
              <a:t>小暑 · 火系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246120" y="297180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99999"/>
                </a:solidFill>
                <a:latin typeface="Microsoft JhengHei"/>
              </a:defRPr>
            </a:pPr>
          </a:p>
        </p:txBody>
      </p:sp>
      <p:sp>
        <p:nvSpPr>
          <p:cNvPr id="48" name="Rounded Rectangle 47"/>
          <p:cNvSpPr/>
          <p:nvPr/>
        </p:nvSpPr>
        <p:spPr>
          <a:xfrm>
            <a:off x="4663440" y="2423160"/>
            <a:ext cx="1371600" cy="868680"/>
          </a:xfrm>
          <a:prstGeom prst="roundRect">
            <a:avLst/>
          </a:prstGeom>
          <a:solidFill>
            <a:srgbClr val="12121A"/>
          </a:solidFill>
          <a:ln w="12700">
            <a:solidFill>
              <a:srgbClr val="E864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709160" y="2468879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Microsoft JhengHei"/>
              </a:defRPr>
            </a:pPr>
            <a:r>
              <a:t>🦎 烈陽蜥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709160" y="274320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86447"/>
                </a:solidFill>
                <a:latin typeface="Microsoft JhengHei"/>
              </a:defRPr>
            </a:pPr>
            <a:r>
              <a:t>大暑 · 火系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709160" y="297180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99999"/>
                </a:solidFill>
                <a:latin typeface="Microsoft JhengHei"/>
              </a:defRPr>
            </a:pPr>
          </a:p>
        </p:txBody>
      </p:sp>
      <p:sp>
        <p:nvSpPr>
          <p:cNvPr id="52" name="Rounded Rectangle 51"/>
          <p:cNvSpPr/>
          <p:nvPr/>
        </p:nvSpPr>
        <p:spPr>
          <a:xfrm>
            <a:off x="6126480" y="2423160"/>
            <a:ext cx="1371600" cy="868680"/>
          </a:xfrm>
          <a:prstGeom prst="roundRect">
            <a:avLst/>
          </a:prstGeom>
          <a:solidFill>
            <a:srgbClr val="12121A"/>
          </a:solidFill>
          <a:ln w="12700">
            <a:solidFill>
              <a:srgbClr val="E8C5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172200" y="2468879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Microsoft JhengHei"/>
              </a:defRPr>
            </a:pPr>
            <a:r>
              <a:t>🦅 金風鷹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172200" y="274320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8C547"/>
                </a:solidFill>
                <a:latin typeface="Microsoft JhengHei"/>
              </a:defRPr>
            </a:pPr>
            <a:r>
              <a:t>立秋 · 金系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172200" y="297180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99999"/>
                </a:solidFill>
                <a:latin typeface="Microsoft JhengHei"/>
              </a:defRPr>
            </a:pPr>
          </a:p>
        </p:txBody>
      </p:sp>
      <p:sp>
        <p:nvSpPr>
          <p:cNvPr id="56" name="Rounded Rectangle 55"/>
          <p:cNvSpPr/>
          <p:nvPr/>
        </p:nvSpPr>
        <p:spPr>
          <a:xfrm>
            <a:off x="7589520" y="2423160"/>
            <a:ext cx="1371600" cy="868680"/>
          </a:xfrm>
          <a:prstGeom prst="roundRect">
            <a:avLst/>
          </a:prstGeom>
          <a:solidFill>
            <a:srgbClr val="12121A"/>
          </a:solidFill>
          <a:ln w="12700">
            <a:solidFill>
              <a:srgbClr val="E8C5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635240" y="2468879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Microsoft JhengHei"/>
              </a:defRPr>
            </a:pPr>
            <a:r>
              <a:t>🐺 暮嵐狼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635240" y="274320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8C547"/>
                </a:solidFill>
                <a:latin typeface="Microsoft JhengHei"/>
              </a:defRPr>
            </a:pPr>
            <a:r>
              <a:t>處暑 · 金系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635240" y="297180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99999"/>
                </a:solidFill>
                <a:latin typeface="Microsoft JhengHei"/>
              </a:defRPr>
            </a:pPr>
          </a:p>
        </p:txBody>
      </p:sp>
      <p:sp>
        <p:nvSpPr>
          <p:cNvPr id="60" name="Rounded Rectangle 59"/>
          <p:cNvSpPr/>
          <p:nvPr/>
        </p:nvSpPr>
        <p:spPr>
          <a:xfrm>
            <a:off x="9052560" y="2423160"/>
            <a:ext cx="1371600" cy="868680"/>
          </a:xfrm>
          <a:prstGeom prst="roundRect">
            <a:avLst/>
          </a:prstGeom>
          <a:solidFill>
            <a:srgbClr val="12121A"/>
          </a:solidFill>
          <a:ln w="12700">
            <a:solidFill>
              <a:srgbClr val="E8C5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098280" y="2468879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Microsoft JhengHei"/>
              </a:defRPr>
            </a:pPr>
            <a:r>
              <a:t>🦉 露光鴞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098280" y="274320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8C547"/>
                </a:solidFill>
                <a:latin typeface="Microsoft JhengHei"/>
              </a:defRPr>
            </a:pPr>
            <a:r>
              <a:t>白露 · 金系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098280" y="297180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99999"/>
                </a:solidFill>
                <a:latin typeface="Microsoft JhengHei"/>
              </a:defRPr>
            </a:pPr>
          </a:p>
        </p:txBody>
      </p:sp>
      <p:sp>
        <p:nvSpPr>
          <p:cNvPr id="64" name="Rounded Rectangle 63"/>
          <p:cNvSpPr/>
          <p:nvPr/>
        </p:nvSpPr>
        <p:spPr>
          <a:xfrm>
            <a:off x="10515600" y="2423160"/>
            <a:ext cx="1371600" cy="868680"/>
          </a:xfrm>
          <a:prstGeom prst="roundRect">
            <a:avLst/>
          </a:prstGeom>
          <a:solidFill>
            <a:srgbClr val="12121A"/>
          </a:solidFill>
          <a:ln w="12700">
            <a:solidFill>
              <a:srgbClr val="E8C5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0561320" y="2468879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Microsoft JhengHei"/>
              </a:defRPr>
            </a:pPr>
            <a:r>
              <a:t>🦊 秋影狐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561320" y="274320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8C547"/>
                </a:solidFill>
                <a:latin typeface="Microsoft JhengHei"/>
              </a:defRPr>
            </a:pPr>
            <a:r>
              <a:t>秋分 · 金系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561320" y="297180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99999"/>
                </a:solidFill>
                <a:latin typeface="Microsoft JhengHei"/>
              </a:defRPr>
            </a:pPr>
          </a:p>
        </p:txBody>
      </p:sp>
      <p:sp>
        <p:nvSpPr>
          <p:cNvPr id="68" name="Rounded Rectangle 67"/>
          <p:cNvSpPr/>
          <p:nvPr/>
        </p:nvSpPr>
        <p:spPr>
          <a:xfrm>
            <a:off x="274320" y="3474720"/>
            <a:ext cx="1371600" cy="868680"/>
          </a:xfrm>
          <a:prstGeom prst="roundRect">
            <a:avLst/>
          </a:prstGeom>
          <a:solidFill>
            <a:srgbClr val="12121A"/>
          </a:solidFill>
          <a:ln w="12700">
            <a:solidFill>
              <a:srgbClr val="E8C5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320040" y="3520439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Microsoft JhengHei"/>
              </a:defRPr>
            </a:pPr>
            <a:r>
              <a:t>🐆 寒霜豹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20040" y="3794759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8C547"/>
                </a:solidFill>
                <a:latin typeface="Microsoft JhengHei"/>
              </a:defRPr>
            </a:pPr>
            <a:r>
              <a:t>寒露 · 金系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20040" y="4023359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99999"/>
                </a:solidFill>
                <a:latin typeface="Microsoft JhengHei"/>
              </a:defRPr>
            </a:pPr>
          </a:p>
        </p:txBody>
      </p:sp>
      <p:sp>
        <p:nvSpPr>
          <p:cNvPr id="72" name="Rounded Rectangle 71"/>
          <p:cNvSpPr/>
          <p:nvPr/>
        </p:nvSpPr>
        <p:spPr>
          <a:xfrm>
            <a:off x="1737360" y="3474720"/>
            <a:ext cx="1371600" cy="868680"/>
          </a:xfrm>
          <a:prstGeom prst="roundRect">
            <a:avLst/>
          </a:prstGeom>
          <a:solidFill>
            <a:srgbClr val="12121A"/>
          </a:solidFill>
          <a:ln w="12700">
            <a:solidFill>
              <a:srgbClr val="E8C5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1783080" y="3520439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Microsoft JhengHei"/>
              </a:defRPr>
            </a:pPr>
            <a:r>
              <a:t>🦇 霜翼蝠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783080" y="3794759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8C547"/>
                </a:solidFill>
                <a:latin typeface="Microsoft JhengHei"/>
              </a:defRPr>
            </a:pPr>
            <a:r>
              <a:t>霜降 · 金系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783080" y="4023359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99999"/>
                </a:solidFill>
                <a:latin typeface="Microsoft JhengHei"/>
              </a:defRPr>
            </a:pPr>
          </a:p>
        </p:txBody>
      </p:sp>
      <p:sp>
        <p:nvSpPr>
          <p:cNvPr id="76" name="Rounded Rectangle 75"/>
          <p:cNvSpPr/>
          <p:nvPr/>
        </p:nvSpPr>
        <p:spPr>
          <a:xfrm>
            <a:off x="3200400" y="3474720"/>
            <a:ext cx="1371600" cy="868680"/>
          </a:xfrm>
          <a:prstGeom prst="roundRect">
            <a:avLst/>
          </a:prstGeom>
          <a:solidFill>
            <a:srgbClr val="12121A"/>
          </a:solidFill>
          <a:ln w="12700">
            <a:solidFill>
              <a:srgbClr val="478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246120" y="3520439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Microsoft JhengHei"/>
              </a:defRPr>
            </a:pPr>
            <a:r>
              <a:t>🐻 玄冬熊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3246120" y="3794759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78DE8"/>
                </a:solidFill>
                <a:latin typeface="Microsoft JhengHei"/>
              </a:defRPr>
            </a:pPr>
            <a:r>
              <a:t>立冬 · 水系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246120" y="4023359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99999"/>
                </a:solidFill>
                <a:latin typeface="Microsoft JhengHei"/>
              </a:defRPr>
            </a:pPr>
          </a:p>
        </p:txBody>
      </p:sp>
      <p:sp>
        <p:nvSpPr>
          <p:cNvPr id="80" name="Rounded Rectangle 79"/>
          <p:cNvSpPr/>
          <p:nvPr/>
        </p:nvSpPr>
        <p:spPr>
          <a:xfrm>
            <a:off x="4663440" y="3474720"/>
            <a:ext cx="1371600" cy="868680"/>
          </a:xfrm>
          <a:prstGeom prst="roundRect">
            <a:avLst/>
          </a:prstGeom>
          <a:solidFill>
            <a:srgbClr val="12121A"/>
          </a:solidFill>
          <a:ln w="12700">
            <a:solidFill>
              <a:srgbClr val="478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4709160" y="3520439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Microsoft JhengHei"/>
              </a:defRPr>
            </a:pPr>
            <a:r>
              <a:t>🐧 雪靈企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709160" y="3794759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78DE8"/>
                </a:solidFill>
                <a:latin typeface="Microsoft JhengHei"/>
              </a:defRPr>
            </a:pPr>
            <a:r>
              <a:t>小雪 · 水系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709160" y="4023359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99999"/>
                </a:solidFill>
                <a:latin typeface="Microsoft JhengHei"/>
              </a:defRPr>
            </a:pPr>
          </a:p>
        </p:txBody>
      </p:sp>
      <p:sp>
        <p:nvSpPr>
          <p:cNvPr id="84" name="Rounded Rectangle 83"/>
          <p:cNvSpPr/>
          <p:nvPr/>
        </p:nvSpPr>
        <p:spPr>
          <a:xfrm>
            <a:off x="6126480" y="3474720"/>
            <a:ext cx="1371600" cy="868680"/>
          </a:xfrm>
          <a:prstGeom prst="roundRect">
            <a:avLst/>
          </a:prstGeom>
          <a:solidFill>
            <a:srgbClr val="12121A"/>
          </a:solidFill>
          <a:ln w="12700">
            <a:solidFill>
              <a:srgbClr val="478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6172200" y="3520439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Microsoft JhengHei"/>
              </a:defRPr>
            </a:pPr>
            <a:r>
              <a:t>🐺 雪嵐狼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172200" y="3794759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78DE8"/>
                </a:solidFill>
                <a:latin typeface="Microsoft JhengHei"/>
              </a:defRPr>
            </a:pPr>
            <a:r>
              <a:t>大雪 · 水系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172200" y="4023359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99999"/>
                </a:solidFill>
                <a:latin typeface="Microsoft JhengHei"/>
              </a:defRPr>
            </a:pPr>
          </a:p>
        </p:txBody>
      </p:sp>
      <p:sp>
        <p:nvSpPr>
          <p:cNvPr id="88" name="Rounded Rectangle 87"/>
          <p:cNvSpPr/>
          <p:nvPr/>
        </p:nvSpPr>
        <p:spPr>
          <a:xfrm>
            <a:off x="7589520" y="3474720"/>
            <a:ext cx="1371600" cy="868680"/>
          </a:xfrm>
          <a:prstGeom prst="roundRect">
            <a:avLst/>
          </a:prstGeom>
          <a:solidFill>
            <a:srgbClr val="12121A"/>
          </a:solidFill>
          <a:ln w="12700">
            <a:solidFill>
              <a:srgbClr val="478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7635240" y="3520439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Microsoft JhengHei"/>
              </a:defRPr>
            </a:pPr>
            <a:r>
              <a:t>🐉 玄冰龍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7635240" y="3794759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78DE8"/>
                </a:solidFill>
                <a:latin typeface="Microsoft JhengHei"/>
              </a:defRPr>
            </a:pPr>
            <a:r>
              <a:t>冬至 · 水系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7635240" y="4023359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99999"/>
                </a:solidFill>
                <a:latin typeface="Microsoft JhengHei"/>
              </a:defRPr>
            </a:pPr>
          </a:p>
        </p:txBody>
      </p:sp>
      <p:sp>
        <p:nvSpPr>
          <p:cNvPr id="92" name="Rounded Rectangle 91"/>
          <p:cNvSpPr/>
          <p:nvPr/>
        </p:nvSpPr>
        <p:spPr>
          <a:xfrm>
            <a:off x="9052560" y="3474720"/>
            <a:ext cx="1371600" cy="868680"/>
          </a:xfrm>
          <a:prstGeom prst="roundRect">
            <a:avLst/>
          </a:prstGeom>
          <a:solidFill>
            <a:srgbClr val="12121A"/>
          </a:solidFill>
          <a:ln w="12700">
            <a:solidFill>
              <a:srgbClr val="478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9098280" y="3520439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Microsoft JhengHei"/>
              </a:defRPr>
            </a:pPr>
            <a:r>
              <a:t>🦌 寒霧鹿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9098280" y="3794759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78DE8"/>
                </a:solidFill>
                <a:latin typeface="Microsoft JhengHei"/>
              </a:defRPr>
            </a:pPr>
            <a:r>
              <a:t>小寒 · 水系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098280" y="4023359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99999"/>
                </a:solidFill>
                <a:latin typeface="Microsoft JhengHei"/>
              </a:defRPr>
            </a:pPr>
          </a:p>
        </p:txBody>
      </p:sp>
      <p:sp>
        <p:nvSpPr>
          <p:cNvPr id="96" name="Rounded Rectangle 95"/>
          <p:cNvSpPr/>
          <p:nvPr/>
        </p:nvSpPr>
        <p:spPr>
          <a:xfrm>
            <a:off x="10515600" y="3474720"/>
            <a:ext cx="1371600" cy="868680"/>
          </a:xfrm>
          <a:prstGeom prst="roundRect">
            <a:avLst/>
          </a:prstGeom>
          <a:solidFill>
            <a:srgbClr val="12121A"/>
          </a:solidFill>
          <a:ln w="12700">
            <a:solidFill>
              <a:srgbClr val="478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10561320" y="3520439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Microsoft JhengHei"/>
              </a:defRPr>
            </a:pPr>
            <a:r>
              <a:t>🐢 玄武龜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10561320" y="3794759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78DE8"/>
                </a:solidFill>
                <a:latin typeface="Microsoft JhengHei"/>
              </a:defRPr>
            </a:pPr>
            <a:r>
              <a:t>大寒 · 水系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0561320" y="4023359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99999"/>
                </a:solidFill>
                <a:latin typeface="Microsoft JhengHei"/>
              </a:defRPr>
            </a:pPr>
          </a:p>
        </p:txBody>
      </p:sp>
      <p:sp>
        <p:nvSpPr>
          <p:cNvPr id="100" name="Rounded Rectangle 99"/>
          <p:cNvSpPr/>
          <p:nvPr/>
        </p:nvSpPr>
        <p:spPr>
          <a:xfrm>
            <a:off x="274320" y="4663440"/>
            <a:ext cx="11612880" cy="1920240"/>
          </a:xfrm>
          <a:prstGeom prst="roundRect">
            <a:avLst/>
          </a:prstGeom>
          <a:solidFill>
            <a:srgbClr val="12121A"/>
          </a:solidFill>
          <a:ln w="12700">
            <a:solidFill>
              <a:srgbClr val="B89A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457200" y="47548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8C547"/>
                </a:solidFill>
                <a:latin typeface="Microsoft JhengHei"/>
              </a:defRPr>
            </a:pPr>
            <a:r>
              <a:t>📈 養成進化機制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548640" y="5166360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8C547"/>
                </a:solidFill>
                <a:latin typeface="Microsoft JhengHei"/>
              </a:defRPr>
            </a:pPr>
            <a:r>
              <a:t>▸ 經驗值獲取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2560320" y="5166360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JhengHei"/>
              </a:defRPr>
            </a:pPr>
            <a:r>
              <a:t>餵食 +50 | 玩耍 +30 | 冥想 +20 EXP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548640" y="5440680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8C547"/>
                </a:solidFill>
                <a:latin typeface="Microsoft JhengHei"/>
              </a:defRPr>
            </a:pPr>
            <a:r>
              <a:t>▸ 升級公式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2560320" y="5440680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JhengHei"/>
              </a:defRPr>
            </a:pPr>
            <a:r>
              <a:t>所需 EXP = 基礎值 × 1.3^(當前等級)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548640" y="5715000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8C547"/>
                </a:solidFill>
                <a:latin typeface="Microsoft JhengHei"/>
              </a:defRPr>
            </a:pPr>
            <a:r>
              <a:t>▸ 進化機制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2560320" y="5715000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JhengHei"/>
              </a:defRPr>
            </a:pPr>
            <a:r>
              <a:t>每 10 級進化一次，共 5 階段（受訂閱方案限制）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548640" y="5989320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8C547"/>
                </a:solidFill>
                <a:latin typeface="Microsoft JhengHei"/>
              </a:defRPr>
            </a:pPr>
            <a:r>
              <a:t>▸ 屬性成長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2560320" y="5989320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JhengHei"/>
              </a:defRPr>
            </a:pPr>
            <a:r>
              <a:t>力量 (power) / 親和 (affinity) / 智慧 (wisdom) 隨等級提升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548640" y="6263640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8C547"/>
                </a:solidFill>
                <a:latin typeface="Microsoft JhengHei"/>
              </a:defRPr>
            </a:pPr>
            <a:r>
              <a:t>▸ Lv.10+ 加成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2560320" y="6263640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JhengHei"/>
              </a:defRPr>
            </a:pPr>
            <a:r>
              <a:t>免費/會員每日使用次數 +1（Lv.20+ 再 +1）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8C547"/>
                </a:solidFill>
                <a:latin typeface="Microsoft JhengHei"/>
              </a:defRPr>
            </a:pPr>
            <a:r>
              <a:t>12  多語系與全域元件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99999"/>
                </a:solidFill>
                <a:latin typeface="Microsoft JhengHei"/>
              </a:defRPr>
            </a:pPr>
            <a:r>
              <a:t>6 語言國際化 + WheelPicker + ErrorBoundary + 主題系統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5303520" cy="2286000"/>
          </a:xfrm>
          <a:prstGeom prst="roundRect">
            <a:avLst/>
          </a:prstGeom>
          <a:solidFill>
            <a:srgbClr val="12121A"/>
          </a:solidFill>
          <a:ln w="12700">
            <a:solidFill>
              <a:srgbClr val="B89A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4937759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E8C547"/>
                </a:solidFill>
                <a:latin typeface="Microsoft JhengHei"/>
              </a:defRPr>
            </a:pPr>
            <a:r>
              <a:t>🌐 國際化 (i18n) 系統</a:t>
            </a:r>
          </a:p>
          <a:p>
            <a:pPr algn="l">
              <a:spcBef>
                <a:spcPts val="300"/>
              </a:spcBef>
              <a:defRPr sz="1300" b="0">
                <a:solidFill>
                  <a:srgbClr val="CCCCCC"/>
                </a:solidFill>
                <a:latin typeface="Microsoft JhengHei"/>
              </a:defRPr>
            </a:pPr>
            <a:r>
              <a:t>• 框架：react-i18next + Expo Localization 自動偵測</a:t>
            </a:r>
          </a:p>
          <a:p>
            <a:pPr algn="l">
              <a:spcBef>
                <a:spcPts val="300"/>
              </a:spcBef>
              <a:defRPr sz="1300" b="0">
                <a:solidFill>
                  <a:srgbClr val="CCCCCC"/>
                </a:solidFill>
                <a:latin typeface="Microsoft JhengHei"/>
              </a:defRPr>
            </a:pPr>
            <a:r>
              <a:t>• 支援語言：🇹🇼 繁中 / 🇨🇳 簡中 / 🇯🇵 日文 / 🇺🇸 英文 / 🇩🇪 德文 / 🇫🇷 法文</a:t>
            </a:r>
          </a:p>
          <a:p>
            <a:pPr algn="l">
              <a:spcBef>
                <a:spcPts val="300"/>
              </a:spcBef>
              <a:defRPr sz="1300" b="0">
                <a:solidFill>
                  <a:srgbClr val="CCCCCC"/>
                </a:solidFill>
                <a:latin typeface="Microsoft JhengHei"/>
              </a:defRPr>
            </a:pPr>
            <a:r>
              <a:t>• 預設語言：依裝置語系自動選擇（Hant→繁中, Hans→簡中）</a:t>
            </a:r>
          </a:p>
          <a:p>
            <a:pPr algn="l">
              <a:spcBef>
                <a:spcPts val="300"/>
              </a:spcBef>
              <a:defRPr sz="1300" b="0">
                <a:solidFill>
                  <a:srgbClr val="CCCCCC"/>
                </a:solidFill>
                <a:latin typeface="Microsoft JhengHei"/>
              </a:defRPr>
            </a:pPr>
            <a:r>
              <a:t>• Fallback：英文 (en)</a:t>
            </a:r>
          </a:p>
          <a:p>
            <a:pPr algn="l">
              <a:spcBef>
                <a:spcPts val="300"/>
              </a:spcBef>
              <a:defRPr sz="1300" b="0">
                <a:solidFill>
                  <a:srgbClr val="CCCCCC"/>
                </a:solidFill>
                <a:latin typeface="Microsoft JhengHei"/>
              </a:defRPr>
            </a:pPr>
            <a:r>
              <a:t>• 翻譯鍵值：約 400+ 項，涵蓋所有 UI 文字</a:t>
            </a:r>
          </a:p>
          <a:p>
            <a:pPr algn="l">
              <a:spcBef>
                <a:spcPts val="300"/>
              </a:spcBef>
              <a:defRPr sz="1300" b="0">
                <a:solidFill>
                  <a:srgbClr val="CCCCCC"/>
                </a:solidFill>
                <a:latin typeface="Microsoft JhengHei"/>
              </a:defRPr>
            </a:pPr>
            <a:r>
              <a:t>• 切換方式：Onboarding Step 0 / Profile 頁語言設定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35040" y="1371600"/>
            <a:ext cx="5669280" cy="2286000"/>
          </a:xfrm>
          <a:prstGeom prst="roundRect">
            <a:avLst/>
          </a:prstGeom>
          <a:solidFill>
            <a:srgbClr val="12121A"/>
          </a:solidFill>
          <a:ln w="12700">
            <a:solidFill>
              <a:srgbClr val="B89A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0" y="1508760"/>
            <a:ext cx="53035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E8C547"/>
                </a:solidFill>
                <a:latin typeface="Microsoft JhengHei"/>
              </a:defRPr>
            </a:pPr>
            <a:r>
              <a:t>🎡 WheelPicker 滾輪選擇器</a:t>
            </a:r>
          </a:p>
          <a:p>
            <a:pPr algn="l">
              <a:spcBef>
                <a:spcPts val="300"/>
              </a:spcBef>
              <a:defRPr sz="1300" b="0">
                <a:solidFill>
                  <a:srgbClr val="CCCCCC"/>
                </a:solidFill>
                <a:latin typeface="Microsoft JhengHei"/>
              </a:defRPr>
            </a:pPr>
            <a:r>
              <a:t>• iOS 風格 FlatList + snapToInterval 實作</a:t>
            </a:r>
          </a:p>
          <a:p>
            <a:pPr algn="l">
              <a:spcBef>
                <a:spcPts val="300"/>
              </a:spcBef>
              <a:defRPr sz="1300" b="0">
                <a:solidFill>
                  <a:srgbClr val="CCCCCC"/>
                </a:solidFill>
                <a:latin typeface="Microsoft JhengHei"/>
              </a:defRPr>
            </a:pPr>
            <a:r>
              <a:t>• 可見項目數：5 項（高度 220px, 每項 44px）</a:t>
            </a:r>
          </a:p>
          <a:p>
            <a:pPr algn="l">
              <a:spcBef>
                <a:spcPts val="300"/>
              </a:spcBef>
              <a:defRPr sz="1300" b="0">
                <a:solidFill>
                  <a:srgbClr val="CCCCCC"/>
                </a:solidFill>
                <a:latin typeface="Microsoft JhengHei"/>
              </a:defRPr>
            </a:pPr>
            <a:r>
              <a:t>• 選中項：18px 金色粗體 + 金色指示條</a:t>
            </a:r>
          </a:p>
          <a:p>
            <a:pPr algn="l">
              <a:spcBef>
                <a:spcPts val="300"/>
              </a:spcBef>
              <a:defRPr sz="1300" b="0">
                <a:solidFill>
                  <a:srgbClr val="CCCCCC"/>
                </a:solidFill>
                <a:latin typeface="Microsoft JhengHei"/>
              </a:defRPr>
            </a:pPr>
            <a:r>
              <a:t>• 相鄰項：16px 灰色 → 遠端：14px 50% 透明</a:t>
            </a:r>
          </a:p>
          <a:p>
            <a:pPr algn="l">
              <a:spcBef>
                <a:spcPts val="300"/>
              </a:spcBef>
              <a:defRPr sz="1300" b="0">
                <a:solidFill>
                  <a:srgbClr val="CCCCCC"/>
                </a:solidFill>
                <a:latin typeface="Microsoft JhengHei"/>
              </a:defRPr>
            </a:pPr>
            <a:r>
              <a:t>• 用途：Onboarding 生辰年/月/日選擇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931920"/>
            <a:ext cx="3657600" cy="1645920"/>
          </a:xfrm>
          <a:prstGeom prst="roundRect">
            <a:avLst/>
          </a:prstGeom>
          <a:solidFill>
            <a:srgbClr val="12121A"/>
          </a:solidFill>
          <a:ln w="12700">
            <a:solidFill>
              <a:srgbClr val="B89A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4069080"/>
            <a:ext cx="3291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E8C547"/>
                </a:solidFill>
                <a:latin typeface="Microsoft JhengHei"/>
              </a:defRPr>
            </a:pPr>
            <a:r>
              <a:t>🔤 LanguageSelector 語言選擇器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CCCCCC"/>
                </a:solidFill>
                <a:latin typeface="Microsoft JhengHei"/>
              </a:defRPr>
            </a:pPr>
            <a:r>
              <a:t>• 行內顯示：國旗 + 語言名 + › 箭頭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CCCCCC"/>
                </a:solidFill>
                <a:latin typeface="Microsoft JhengHei"/>
              </a:defRPr>
            </a:pPr>
            <a:r>
              <a:t>• 點擊展開底部滑出式選單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CCCCCC"/>
                </a:solidFill>
                <a:latin typeface="Microsoft JhengHei"/>
              </a:defRPr>
            </a:pPr>
            <a:r>
              <a:t>• 6 語言選項 + 當前選擇打勾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CCCCCC"/>
                </a:solidFill>
                <a:latin typeface="Microsoft JhengHei"/>
              </a:defRPr>
            </a:pPr>
            <a:r>
              <a:t>• 用於 Profile 設定頁面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3931920"/>
            <a:ext cx="3657600" cy="1645920"/>
          </a:xfrm>
          <a:prstGeom prst="roundRect">
            <a:avLst/>
          </a:prstGeom>
          <a:solidFill>
            <a:srgbClr val="12121A"/>
          </a:solidFill>
          <a:ln w="12700">
            <a:solidFill>
              <a:srgbClr val="B89A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4069080"/>
            <a:ext cx="3291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E8C547"/>
                </a:solidFill>
                <a:latin typeface="Microsoft JhengHei"/>
              </a:defRPr>
            </a:pPr>
            <a:r>
              <a:t>🛡 ErrorBoundary 錯誤邊界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CCCCCC"/>
                </a:solidFill>
                <a:latin typeface="Microsoft JhengHei"/>
              </a:defRPr>
            </a:pPr>
            <a:r>
              <a:t>• Class Component 全域包裹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CCCCCC"/>
                </a:solidFill>
                <a:latin typeface="Microsoft JhengHei"/>
              </a:defRPr>
            </a:pPr>
            <a:r>
              <a:t>• 錯誤畫面：🔮 + 「發生了一些問題」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CCCCCC"/>
                </a:solidFill>
                <a:latin typeface="Microsoft JhengHei"/>
              </a:defRPr>
            </a:pPr>
            <a:r>
              <a:t>• 「靈犀遇到了意外狀況」說明文字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CCCCCC"/>
                </a:solidFill>
                <a:latin typeface="Microsoft JhengHei"/>
              </a:defRPr>
            </a:pPr>
            <a:r>
              <a:t>• 「重新載入」按鈕恢復 App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3931920"/>
            <a:ext cx="3657600" cy="1645920"/>
          </a:xfrm>
          <a:prstGeom prst="roundRect">
            <a:avLst/>
          </a:prstGeom>
          <a:solidFill>
            <a:srgbClr val="12121A"/>
          </a:solidFill>
          <a:ln w="12700">
            <a:solidFill>
              <a:srgbClr val="B89A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0" y="4069080"/>
            <a:ext cx="3291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E8C547"/>
                </a:solidFill>
                <a:latin typeface="Microsoft JhengHei"/>
              </a:defRPr>
            </a:pPr>
            <a:r>
              <a:t>🎨 主題系統 (theme.ts)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CCCCCC"/>
                </a:solidFill>
                <a:latin typeface="Microsoft JhengHei"/>
              </a:defRPr>
            </a:pPr>
            <a:r>
              <a:t>• Colors: background #08080f, gold #e8c547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CCCCCC"/>
                </a:solidFill>
                <a:latin typeface="Microsoft JhengHei"/>
              </a:defRPr>
            </a:pPr>
            <a:r>
              <a:t>• Fonts: MaShanZheng (書法), NotoSerifTC (明體)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CCCCCC"/>
                </a:solidFill>
                <a:latin typeface="Microsoft JhengHei"/>
              </a:defRPr>
            </a:pPr>
            <a:r>
              <a:t>• Spacing: xs=4, sm=8, md=16, lg=24, xl=32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CCCCCC"/>
                </a:solidFill>
                <a:latin typeface="Microsoft JhengHei"/>
              </a:defRPr>
            </a:pPr>
            <a:r>
              <a:t>• Border radius, shadows 統一定義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5806440"/>
            <a:ext cx="11247120" cy="868680"/>
          </a:xfrm>
          <a:prstGeom prst="roundRect">
            <a:avLst/>
          </a:prstGeom>
          <a:solidFill>
            <a:srgbClr val="12121A"/>
          </a:solidFill>
          <a:ln w="12700">
            <a:solidFill>
              <a:srgbClr val="B89A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58521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C547"/>
                </a:solidFill>
                <a:latin typeface="Microsoft JhengHei"/>
              </a:defRPr>
            </a:pPr>
            <a:r>
              <a:t>💾 狀態管理 (Zustand × 4)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17220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8C547"/>
                </a:solidFill>
                <a:latin typeface="Microsoft JhengHei"/>
              </a:defRPr>
            </a:pPr>
            <a:r>
              <a:t>auth-store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83080" y="617220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99"/>
                </a:solidFill>
                <a:latin typeface="Microsoft JhengHei"/>
              </a:defRPr>
            </a:pPr>
            <a:r>
              <a:t>認證狀態 / JWT tokens / login, register, logout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0" y="617220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8C547"/>
                </a:solidFill>
                <a:latin typeface="Microsoft JhengHei"/>
              </a:defRPr>
            </a:pPr>
            <a:r>
              <a:t>user-store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617220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99"/>
                </a:solidFill>
                <a:latin typeface="Microsoft JhengHei"/>
              </a:defRPr>
            </a:pPr>
            <a:r>
              <a:t>出生資料 / 命理計算 / 訂閱等級 / 每日額度追蹤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617220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8C547"/>
                </a:solidFill>
                <a:latin typeface="Microsoft JhengHei"/>
              </a:defRPr>
            </a:pPr>
            <a:r>
              <a:t>pet-store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52360" y="617220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99"/>
                </a:solidFill>
                <a:latin typeface="Microsoft JhengHei"/>
              </a:defRPr>
            </a:pPr>
            <a:r>
              <a:t>靈寵身份 / 等級經驗 / 進化階段 / 屬性值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0" y="617220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8C547"/>
                </a:solidFill>
                <a:latin typeface="Microsoft JhengHei"/>
              </a:defRPr>
            </a:pPr>
            <a:r>
              <a:t>chat-store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17220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99"/>
                </a:solidFill>
                <a:latin typeface="Microsoft JhengHei"/>
              </a:defRPr>
            </a:pPr>
            <a:r>
              <a:t>對話訊息 (max 200) / 11 種訊息類型 / 日期分隔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8C547"/>
                </a:solidFill>
                <a:latin typeface="Microsoft JhengHei"/>
              </a:defRPr>
            </a:pPr>
            <a:r>
              <a:t>📋 版本資訊與技術摘要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5486400" cy="3200400"/>
          </a:xfrm>
          <a:prstGeom prst="roundRect">
            <a:avLst/>
          </a:prstGeom>
          <a:solidFill>
            <a:srgbClr val="12121A"/>
          </a:solidFill>
          <a:ln w="12700">
            <a:solidFill>
              <a:srgbClr val="B89A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8C547"/>
                </a:solidFill>
                <a:latin typeface="Microsoft JhengHei"/>
              </a:defRPr>
            </a:pPr>
            <a:r>
              <a:t>📦 版本資訊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99999"/>
                </a:solidFill>
                <a:latin typeface="Microsoft JhengHei"/>
              </a:defRPr>
            </a:pPr>
            <a:r>
              <a:t>App 版本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0" y="164592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Microsoft JhengHei"/>
              </a:defRPr>
            </a:pPr>
            <a:r>
              <a:t>v1.0.0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01952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99999"/>
                </a:solidFill>
                <a:latin typeface="Microsoft JhengHei"/>
              </a:defRPr>
            </a:pPr>
            <a:r>
              <a:t>App 名稱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0" y="1901952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Microsoft JhengHei"/>
              </a:defRPr>
            </a:pPr>
            <a:r>
              <a:t>靈犀 (LING XI)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157984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99999"/>
                </a:solidFill>
                <a:latin typeface="Microsoft JhengHei"/>
              </a:defRPr>
            </a:pPr>
            <a:r>
              <a:t>Expo SDK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60320" y="2157984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Microsoft JhengHei"/>
              </a:defRPr>
            </a:pPr>
            <a:r>
              <a:t>54.0.0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414016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99999"/>
                </a:solidFill>
                <a:latin typeface="Microsoft JhengHei"/>
              </a:defRPr>
            </a:pPr>
            <a:r>
              <a:t>React Native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60320" y="2414016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Microsoft JhengHei"/>
              </a:defRPr>
            </a:pPr>
            <a:r>
              <a:t>0.81.5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670048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99999"/>
                </a:solidFill>
                <a:latin typeface="Microsoft JhengHei"/>
              </a:defRPr>
            </a:pPr>
            <a:r>
              <a:t>React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60320" y="2670048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Microsoft JhengHei"/>
              </a:defRPr>
            </a:pPr>
            <a:r>
              <a:t>19.1.0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292608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99999"/>
                </a:solidFill>
                <a:latin typeface="Microsoft JhengHei"/>
              </a:defRPr>
            </a:pPr>
            <a:r>
              <a:t>iOS Bundle ID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60320" y="292608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Microsoft JhengHei"/>
              </a:defRPr>
            </a:pPr>
            <a:r>
              <a:t>com.youquan.lingxi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182112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99999"/>
                </a:solidFill>
                <a:latin typeface="Microsoft JhengHei"/>
              </a:defRPr>
            </a:pPr>
            <a:r>
              <a:t>Android Package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60320" y="3182112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Microsoft JhengHei"/>
              </a:defRPr>
            </a:pPr>
            <a:r>
              <a:t>com.yourname.lingxi (待修正)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438144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99999"/>
                </a:solidFill>
                <a:latin typeface="Microsoft JhengHei"/>
              </a:defRPr>
            </a:pPr>
            <a:r>
              <a:t>EAS Project ID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60320" y="3438144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Microsoft JhengHei"/>
              </a:defRPr>
            </a:pPr>
            <a:r>
              <a:t>22a8b11d-c07c-44df-b785-59a347afde18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3694176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99999"/>
                </a:solidFill>
                <a:latin typeface="Microsoft JhengHei"/>
              </a:defRPr>
            </a:pPr>
            <a:r>
              <a:t>Owner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60320" y="3694176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Microsoft JhengHei"/>
              </a:defRPr>
            </a:pPr>
            <a:r>
              <a:t>dennysu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3950208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99999"/>
                </a:solidFill>
                <a:latin typeface="Microsoft JhengHei"/>
              </a:defRPr>
            </a:pPr>
            <a:r>
              <a:t>文件日期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60320" y="3950208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Microsoft JhengHei"/>
              </a:defRPr>
            </a:pPr>
            <a:r>
              <a:t>2026-03-14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0" y="1097280"/>
            <a:ext cx="5486400" cy="1828800"/>
          </a:xfrm>
          <a:prstGeom prst="roundRect">
            <a:avLst/>
          </a:prstGeom>
          <a:solidFill>
            <a:srgbClr val="12121A"/>
          </a:solidFill>
          <a:ln w="12700">
            <a:solidFill>
              <a:srgbClr val="B89A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0" y="11887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8C547"/>
                </a:solidFill>
                <a:latin typeface="Microsoft JhengHei"/>
              </a:defRPr>
            </a:pPr>
            <a:r>
              <a:t>🖥 後端服務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164592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99999"/>
                </a:solidFill>
                <a:latin typeface="Microsoft JhengHei"/>
              </a:defRPr>
            </a:pPr>
            <a:r>
              <a:t>Server 版本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164592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Microsoft JhengHei"/>
              </a:defRPr>
            </a:pPr>
            <a:r>
              <a:t>v1.0.0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1901952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99999"/>
                </a:solidFill>
                <a:latin typeface="Microsoft JhengHei"/>
              </a:defRPr>
            </a:pPr>
            <a:r>
              <a:t>部署平台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1901952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Microsoft JhengHei"/>
              </a:defRPr>
            </a:pPr>
            <a:r>
              <a:t>Google Cloud Run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2157984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99999"/>
                </a:solidFill>
                <a:latin typeface="Microsoft JhengHei"/>
              </a:defRPr>
            </a:pPr>
            <a:r>
              <a:t>區域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0" y="2157984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Microsoft JhengHei"/>
              </a:defRPr>
            </a:pPr>
            <a:r>
              <a:t>asia-east1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2414016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99999"/>
                </a:solidFill>
                <a:latin typeface="Microsoft JhengHei"/>
              </a:defRPr>
            </a:pPr>
            <a:r>
              <a:t>API Base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0" y="2414016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Microsoft JhengHei"/>
              </a:defRPr>
            </a:pPr>
            <a:r>
              <a:t>lingxi-api-316167025817.asia-east1.run.app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2670048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99999"/>
                </a:solidFill>
                <a:latin typeface="Microsoft JhengHei"/>
              </a:defRPr>
            </a:pPr>
            <a:r>
              <a:t>Auth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0" y="2670048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Microsoft JhengHei"/>
              </a:defRPr>
            </a:pPr>
            <a:r>
              <a:t>JWT (access + refresh tokens)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217920" y="3200400"/>
            <a:ext cx="5486400" cy="3291840"/>
          </a:xfrm>
          <a:prstGeom prst="roundRect">
            <a:avLst/>
          </a:prstGeom>
          <a:solidFill>
            <a:srgbClr val="12121A"/>
          </a:solidFill>
          <a:ln w="12700">
            <a:solidFill>
              <a:srgbClr val="B89A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0" y="32918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8C547"/>
                </a:solidFill>
                <a:latin typeface="Microsoft JhengHei"/>
              </a:defRPr>
            </a:pPr>
            <a:r>
              <a:t>🔗 API 路由一覽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92240" y="3749039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8C547"/>
                </a:solidFill>
                <a:latin typeface="Microsoft JhengHei"/>
              </a:defRPr>
            </a:pPr>
            <a:r>
              <a:t>Auth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72400" y="3749039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  <a:r>
              <a:t>/auth/login, /auth/register, /auth/apple, /auth/refresh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92240" y="4005072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8C547"/>
                </a:solidFill>
                <a:latin typeface="Microsoft JhengHei"/>
              </a:defRPr>
            </a:pPr>
            <a:r>
              <a:t>User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772400" y="4005072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  <a:r>
              <a:t>/user/profile (GET/PUT)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92240" y="4261104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8C547"/>
                </a:solidFill>
                <a:latin typeface="Microsoft JhengHei"/>
              </a:defRPr>
            </a:pPr>
            <a:r>
              <a:t>AI 面相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772400" y="4261104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  <a:r>
              <a:t>/ai/face-reading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92240" y="4517136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8C547"/>
                </a:solidFill>
                <a:latin typeface="Microsoft JhengHei"/>
              </a:defRPr>
            </a:pPr>
            <a:r>
              <a:t>AI 風水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772400" y="4517136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  <a:r>
              <a:t>/ai/feng-shui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92240" y="4773168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8C547"/>
                </a:solidFill>
                <a:latin typeface="Microsoft JhengHei"/>
              </a:defRPr>
            </a:pPr>
            <a:r>
              <a:t>AI 運勢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772400" y="4773168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  <a:r>
              <a:t>/ai/fortune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92240" y="502920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8C547"/>
                </a:solidFill>
                <a:latin typeface="Microsoft JhengHei"/>
              </a:defRPr>
            </a:pPr>
            <a:r>
              <a:t>AI 穿搭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772400" y="502920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  <a:r>
              <a:t>/ai/outfit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92240" y="5285231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8C547"/>
                </a:solidFill>
                <a:latin typeface="Microsoft JhengHei"/>
              </a:defRPr>
            </a:pPr>
            <a:r>
              <a:t>AI 占卜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772400" y="5285231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  <a:r>
              <a:t>/ai/divination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92240" y="5541264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8C547"/>
                </a:solidFill>
                <a:latin typeface="Microsoft JhengHei"/>
              </a:defRPr>
            </a:pPr>
            <a:r>
              <a:t>AI 靈寵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772400" y="5541264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  <a:r>
              <a:t>/ai/pet-message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492240" y="5797296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8C547"/>
                </a:solidFill>
                <a:latin typeface="Microsoft JhengHei"/>
              </a:defRPr>
            </a:pPr>
            <a:r>
              <a:t>訂閱狀態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772400" y="5797296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  <a:r>
              <a:t>/api/subscription/status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492240" y="6053328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8C547"/>
                </a:solidFill>
                <a:latin typeface="Microsoft JhengHei"/>
              </a:defRPr>
            </a:pPr>
            <a:r>
              <a:t>Webhook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772400" y="6053328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  <a:r>
              <a:t>/webhook/revenuecat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457200" y="4572000"/>
            <a:ext cx="5486400" cy="1920240"/>
          </a:xfrm>
          <a:prstGeom prst="roundRect">
            <a:avLst/>
          </a:prstGeom>
          <a:solidFill>
            <a:srgbClr val="12121A"/>
          </a:solidFill>
          <a:ln w="12700">
            <a:solidFill>
              <a:srgbClr val="B89A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40080" y="46634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8C547"/>
                </a:solidFill>
                <a:latin typeface="Microsoft JhengHei"/>
              </a:defRPr>
            </a:pPr>
            <a:r>
              <a:t>📂 關鍵檔案路徑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31520" y="5029200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CCCCC"/>
                </a:solidFill>
                <a:latin typeface="Microsoft JhengHei"/>
              </a:defRPr>
            </a:pPr>
            <a:r>
              <a:t>▸ app/_layout.tsx — Root 導航 + Auth Guard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31520" y="5212080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CCCCC"/>
                </a:solidFill>
                <a:latin typeface="Microsoft JhengHei"/>
              </a:defRPr>
            </a:pPr>
            <a:r>
              <a:t>▸ app/auth.tsx — 登入/註冊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31520" y="5394960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CCCCC"/>
                </a:solidFill>
                <a:latin typeface="Microsoft JhengHei"/>
              </a:defRPr>
            </a:pPr>
            <a:r>
              <a:t>▸ app/onboarding.tsx — 新手引導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31520" y="5577840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CCCCC"/>
                </a:solidFill>
                <a:latin typeface="Microsoft JhengHei"/>
              </a:defRPr>
            </a:pPr>
            <a:r>
              <a:t>▸ app/(tabs)/pet.tsx — 主畫面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31520" y="5760720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CCCCC"/>
                </a:solidFill>
                <a:latin typeface="Microsoft JhengHei"/>
              </a:defRPr>
            </a:pPr>
            <a:r>
              <a:t>▸ app/(tabs)/profile.tsx — 個人檔案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31520" y="5943600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CCCCC"/>
                </a:solidFill>
                <a:latin typeface="Microsoft JhengHei"/>
              </a:defRPr>
            </a:pPr>
            <a:r>
              <a:t>▸ components/features/PetEye|Heart|PearlMode.tsx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31520" y="6126480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CCCCC"/>
                </a:solidFill>
                <a:latin typeface="Microsoft JhengHei"/>
              </a:defRPr>
            </a:pPr>
            <a:r>
              <a:t>▸ stores/auth|user|pet|chat-store.ts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31520" y="6309360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CCCCC"/>
                </a:solidFill>
                <a:latin typeface="Microsoft JhengHei"/>
              </a:defRPr>
            </a:pPr>
            <a:r>
              <a:t>▸ services/claude-api|bazi|ziwei|qimen|hexagram-engine.ts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