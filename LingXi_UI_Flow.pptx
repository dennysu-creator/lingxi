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8C547"/>
                </a:solidFill>
                <a:latin typeface="Microsoft JhengHei"/>
              </a:defRPr>
            </a:pPr>
            <a:r>
              <a:t>靈犀 LingXi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5E69A"/>
                </a:solidFill>
                <a:latin typeface="Microsoft JhengHei"/>
              </a:defRPr>
            </a:pPr>
            <a:r>
              <a:t>🔮 AI 玄學生活顧問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Microsoft JhengHei"/>
              </a:defRPr>
            </a:pPr>
            <a:r>
              <a:t>使用者畫面與操作流程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070"/>
                </a:solidFill>
                <a:latin typeface="Microsoft JhengHei"/>
              </a:defRPr>
            </a:pPr>
            <a:r>
              <a:t>八字 · 紫微斗數 · 奇門遁甲 · 西洋占星 · 節氣靈寵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9C47"/>
                </a:solidFill>
                <a:latin typeface="Microsoft JhengHei"/>
              </a:defRPr>
            </a:pPr>
            <a:r>
              <a:t>核心理念：所有命理輸出都由靈寵以對話方式告訴使用者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577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070"/>
                </a:solidFill>
                <a:latin typeface="Microsoft JhengHei"/>
              </a:defRPr>
            </a:pPr>
            <a:r>
              <a:t>不使用傳統資訊卡片，創造「專屬命運指引靈寵」的沉浸感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一、整體導航架構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114800" cy="457200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5E69A"/>
                </a:solidFill>
                <a:latin typeface="Consolas"/>
              </a:defRPr>
            </a:pPr>
            <a:r>
              <a:t>App 啟動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5E69A"/>
                </a:solidFill>
                <a:latin typeface="Consolas"/>
              </a:defRPr>
            </a:pPr>
            <a:r>
              <a:t>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5E69A"/>
                </a:solidFill>
                <a:latin typeface="Consolas"/>
              </a:defRPr>
            </a:pPr>
            <a:r>
              <a:t>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5E69A"/>
                </a:solidFill>
                <a:latin typeface="Consolas"/>
              </a:defRPr>
            </a:pPr>
            <a:r>
              <a:t>已完成引導？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5E69A"/>
                </a:solidFill>
                <a:latin typeface="Consolas"/>
              </a:defRPr>
            </a:pPr>
            <a:r>
              <a:t>   ╱          ╲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5E69A"/>
                </a:solidFill>
                <a:latin typeface="Consolas"/>
              </a:defRPr>
            </a:pPr>
            <a:r>
              <a:t>  否            是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5E69A"/>
                </a:solidFill>
                <a:latin typeface="Consolas"/>
              </a:defRPr>
            </a:pPr>
            <a:r>
              <a:t>  ▼      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5E69A"/>
                </a:solidFill>
                <a:latin typeface="Consolas"/>
              </a:defRPr>
            </a:pPr>
            <a:r>
              <a:t>Onboarding    主畫面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5E69A"/>
                </a:solidFill>
                <a:latin typeface="Consolas"/>
              </a:defRPr>
            </a:pPr>
            <a:r>
              <a:t>(5 步驟)    (2 個 Tab)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5E69A"/>
                </a:solidFill>
                <a:latin typeface="Consolas"/>
              </a:defRPr>
            </a:pPr>
            <a:r>
              <a:t>  └──完成後──▶ 主畫面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097280"/>
            <a:ext cx="5943600" cy="201168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底部 Tab Bar（2 個分頁）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7373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🔮 靈寵（主頁）          ⚙️ 我的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pet.tsx                  profile.tsx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474720"/>
            <a:ext cx="5943600" cy="2926080"/>
          </a:xfrm>
          <a:prstGeom prst="rect">
            <a:avLst/>
          </a:prstGeom>
          <a:solidFill>
            <a:srgbClr val="14141E"/>
          </a:solidFill>
          <a:ln w="12700">
            <a:solidFill>
              <a:srgbClr val="E89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9C47"/>
                </a:solidFill>
                <a:latin typeface="Microsoft JhengHei"/>
              </a:defRPr>
            </a:pPr>
            <a:r>
              <a:t>核心設計理念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11480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靈寵 Tab = 唯一的主畫面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F5E69A"/>
                </a:solidFill>
                <a:latin typeface="Microsoft JhengHei"/>
              </a:defRPr>
            </a:pPr>
            <a:r>
              <a:t>所有運勢、面相、風水、占卜都由靈寵「說」出來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F5E69A"/>
                </a:solidFill>
                <a:latin typeface="Microsoft JhengHei"/>
              </a:defRPr>
            </a:pPr>
            <a:r>
              <a:t>不再使用傳統 UI 資訊卡片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F5E69A"/>
                </a:solidFill>
                <a:latin typeface="Microsoft JhengHei"/>
              </a:defRPr>
            </a:pPr>
            <a:r>
              <a:t>使用者體驗 = 跟靈寵聊天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F5E69A"/>
                </a:solidFill>
                <a:latin typeface="Microsoft JhengHei"/>
              </a:defRPr>
            </a:pPr>
            <a:r>
              <a:t>引經據典自然融入靈寵對話中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二、Onboarding 引導流程（首次使用）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27432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Step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JhengHei"/>
              </a:defRPr>
            </a:pPr>
            <a: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選擇語言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6 語系可選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188720"/>
            <a:ext cx="2011680" cy="27432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JhengHei"/>
              </a:defRPr>
            </a:pPr>
            <a:r>
              <a:t>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歡迎畫面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品牌展示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188720"/>
            <a:ext cx="2011680" cy="27432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JhengHei"/>
              </a:defRPr>
            </a:pPr>
            <a:r>
              <a:t>✏️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輸入姓名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使用者大名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188720"/>
            <a:ext cx="2011680" cy="27432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JhengHei"/>
              </a:defRPr>
            </a:pPr>
            <a:r>
              <a:t>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出生資料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年月日時辰/性別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1188720"/>
            <a:ext cx="2011680" cy="27432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JhengHei"/>
              </a:defRPr>
            </a:pPr>
            <a:r>
              <a:t>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靈寵召喚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第一次對話！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E69A"/>
                </a:solidFill>
                <a:latin typeface="Microsoft JhengHei"/>
              </a:defRPr>
            </a:pPr>
            <a:r>
              <a:t>Step 0 → Step 1 → Step 2 → Step 3 → Step 4 → 進入靈寵主畫面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solidFill>
            <a:srgbClr val="14141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Microsoft JhengHei"/>
              </a:defRPr>
            </a:pPr>
            <a:r>
              <a:t>Step 4 靈寵召喚（關鍵時刻）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949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靈寵降臨動畫 + 第一段對話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5E69A"/>
                </a:solidFill>
                <a:latin typeface="Microsoft JhengHei"/>
              </a:defRPr>
            </a:pPr>
            <a:r>
              <a:t>🦌：「主人你好！我是青芽鹿，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5E69A"/>
                </a:solidFill>
                <a:latin typeface="Microsoft JhengHei"/>
              </a:defRPr>
            </a:pPr>
            <a:r>
              <a:t>立春之靈，木系守護者。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5E69A"/>
                </a:solidFill>
                <a:latin typeface="Microsoft JhengHei"/>
              </a:defRPr>
            </a:pPr>
            <a:r>
              <a:t>我看了你的命盤...從今天起，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5E69A"/>
                </a:solidFill>
                <a:latin typeface="Microsoft JhengHei"/>
              </a:defRPr>
            </a:pPr>
            <a:r>
              <a:t>我會每天給你命運指引！」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3949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E89C47"/>
                </a:solidFill>
                <a:latin typeface="Microsoft JhengHei"/>
              </a:defRPr>
            </a:pPr>
            <a:r>
              <a:t>用「對話」建立認知模式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第一次就讓使用者理解：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靈寵不是裝飾，而是「會說話的命運顧問」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所有後續資訊都由靈寵以對話方式傳達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三、靈寵主畫面（唯一主頁）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5669280"/>
          </a:xfrm>
          <a:prstGeom prst="rect">
            <a:avLst/>
          </a:prstGeom>
          <a:solidFill>
            <a:srgbClr val="101018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4206240" cy="59436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2412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C547"/>
                </a:solidFill>
                <a:latin typeface="Microsoft JhengHei"/>
              </a:defRPr>
            </a:pPr>
            <a:r>
              <a:t>靈犀  丙午年三月初十·午時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9844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Lv.5 青芽鹿 · 木系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91640"/>
            <a:ext cx="4206240" cy="1005840"/>
          </a:xfrm>
          <a:prstGeom prst="rect">
            <a:avLst/>
          </a:prstGeom>
          <a:solidFill>
            <a:srgbClr val="12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JhengHei"/>
              </a:defRPr>
            </a:pPr>
            <a:r>
              <a:t>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EXP ████████░░ 240/500   ★☆☆☆☆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788920"/>
            <a:ext cx="4206240" cy="2560320"/>
          </a:xfrm>
          <a:prstGeom prst="rect">
            <a:avLst/>
          </a:prstGeom>
          <a:solidFill>
            <a:srgbClr val="0E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🦌 08:00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017520"/>
            <a:ext cx="3840480" cy="914400"/>
          </a:xfrm>
          <a:prstGeom prst="rect">
            <a:avLst/>
          </a:prstGeom>
          <a:solidFill>
            <a:srgbClr val="1A1A28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F5E69A"/>
                </a:solidFill>
                <a:latin typeface="Microsoft JhengHei"/>
              </a:defRPr>
            </a:pPr>
            <a:r>
              <a:t>主人早安～今日木氣旺盛，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《滴天髓》云「木逢春令，根深枝茂」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E8C547"/>
                </a:solidFill>
                <a:latin typeface="Microsoft JhengHei"/>
              </a:defRPr>
            </a:pPr>
            <a:r>
              <a:t>💰72  🌸58  📈85  💚65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64C878"/>
                </a:solidFill>
                <a:latin typeface="Microsoft JhengHei"/>
              </a:defRPr>
            </a:pPr>
            <a:r>
              <a:t>今日吉方：東南（生門）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🦌 08:01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251960"/>
            <a:ext cx="3840480" cy="548640"/>
          </a:xfrm>
          <a:prstGeom prst="rect">
            <a:avLst/>
          </a:prstGeom>
          <a:solidFill>
            <a:srgbClr val="1A1A28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7024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F5E69A"/>
                </a:solidFill>
                <a:latin typeface="Microsoft JhengHei"/>
              </a:defRPr>
            </a:pPr>
            <a:r>
              <a:t>今天穿搭建議穿水色系衣服，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《窮通寶鑑》說今日需水來調和！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440680"/>
            <a:ext cx="4206240" cy="73152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45896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🍖餵食  🎾玩耍  🧘冥想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06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4FF"/>
                </a:solidFill>
                <a:latin typeface="Microsoft JhengHei"/>
              </a:defRPr>
            </a:pPr>
            <a:r>
              <a:t>👁靈眼  🌍靈心  🏮靈魂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6263640"/>
            <a:ext cx="4206240" cy="27432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627278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🔮 靈寵          ⚙️ 我的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914400"/>
            <a:ext cx="5943600" cy="118872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頂部狀態列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1280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App 名稱 + 農曆日期時辰</a:t>
            </a:r>
            <a:br/>
            <a:r>
              <a:t>靈寵等級 + 名稱 + 五行屬性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2286000"/>
            <a:ext cx="5943600" cy="1188720"/>
          </a:xfrm>
          <a:prstGeom prst="rect">
            <a:avLst/>
          </a:prstGeom>
          <a:solidFill>
            <a:srgbClr val="14141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2331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Microsoft JhengHei"/>
              </a:defRPr>
            </a:pPr>
            <a:r>
              <a:t>靈寵形象區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靈寵圖片（浮動動畫）</a:t>
            </a:r>
            <a:br/>
            <a:r>
              <a:t>EXP 進度條 + 進化階段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3657600"/>
            <a:ext cx="5943600" cy="13716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9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703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9C47"/>
                </a:solidFill>
                <a:latin typeface="Microsoft JhengHei"/>
              </a:defRPr>
            </a:pPr>
            <a:r>
              <a:t>靈寵對話區（核心！可滾動）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0690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所有資訊以對話氣泡呈現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每日運勢、穿搭、面相、風水、占卜結果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F5E69A"/>
                </a:solidFill>
                <a:latin typeface="Microsoft JhengHei"/>
              </a:defRPr>
            </a:pPr>
            <a:r>
              <a:t>引經據典自然融入靈寵語氣中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5212080"/>
            <a:ext cx="5943600" cy="118872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5257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B4FF"/>
                </a:solidFill>
                <a:latin typeface="Microsoft JhengHei"/>
              </a:defRPr>
            </a:pPr>
            <a:r>
              <a:t>底部功能列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5778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上排：養成互動（餵食/玩耍/冥想）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下排：靈寵能力（靈眼/靈心/靈魂）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四、靈寵對話系統（核心機制）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靈寵主動對話（系統觸發）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🌅 早安訊息（06:00）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    今日運勢總覽 + 引經據典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🌞 午間訊息（12:00）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    午時提醒 + 下午注意事項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🌙 晚安訊息（21:00）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    明日預告 + 養生建議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⚡ 即時提醒（特殊時辰）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    沖煞時辰、吉時提示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97280"/>
            <a:ext cx="5486400" cy="274320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B4FF"/>
                </a:solidFill>
                <a:latin typeface="Microsoft JhengHei"/>
              </a:defRPr>
            </a:pPr>
            <a:r>
              <a:t>靈寵回應對話（使用者觸發）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👁 靈眼結果 → 靈寵解讀面相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🌍 靈心結果 → 靈寵解讀風水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🏮 靈魂結果 → 靈寵解讀卦象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F5E69A"/>
                </a:solidFill>
                <a:latin typeface="Microsoft JhengHei"/>
              </a:defRPr>
            </a:pPr>
            <a:r>
              <a:t>🍖 餵食回應 → 感謝 + 養生小提示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F5E69A"/>
                </a:solidFill>
                <a:latin typeface="Microsoft JhengHei"/>
              </a:defRPr>
            </a:pPr>
            <a:r>
              <a:t>🎾 玩耍回應 → 開心 + 命理趣事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F5E69A"/>
                </a:solidFill>
                <a:latin typeface="Microsoft JhengHei"/>
              </a:defRPr>
            </a:pPr>
            <a:r>
              <a:t>🧘 冥想回應 → 感悟 + 經典語錄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11247120" cy="2560320"/>
          </a:xfrm>
          <a:prstGeom prst="rect">
            <a:avLst/>
          </a:prstGeom>
          <a:solidFill>
            <a:srgbClr val="14141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Microsoft JhengHei"/>
              </a:defRPr>
            </a:pPr>
            <a:r>
              <a:t>對話氣泡格式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663440"/>
            <a:ext cx="5029200" cy="1737360"/>
          </a:xfrm>
          <a:prstGeom prst="rect">
            <a:avLst/>
          </a:prstGeom>
          <a:solidFill>
            <a:srgbClr val="1A1A28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68172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🦌 青芽鹿    08:00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920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F5E69A"/>
                </a:solidFill>
                <a:latin typeface="Microsoft JhengHei"/>
              </a:defRPr>
            </a:pPr>
            <a:r>
              <a:t>對話主文（靈寵語氣說話）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「引經據典」片段自然融入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── 《書名》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4C878"/>
                </a:solidFill>
                <a:latin typeface="Microsoft JhengHei"/>
              </a:defRPr>
            </a:pPr>
            <a:r>
              <a:t>[內嵌資訊：分數/方位/卦象]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634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引經據典嵌入方式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4C878"/>
                </a:solidFill>
                <a:latin typeface="Microsoft JhengHei"/>
              </a:defRPr>
            </a:pPr>
            <a:r>
              <a:t>✓「《滴天髓》云：甲木參天，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4C878"/>
                </a:solidFill>
                <a:latin typeface="Microsoft JhengHei"/>
              </a:defRPr>
            </a:pPr>
            <a:r>
              <a:t>   主人今日正是如此氣勢！」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4C878"/>
                </a:solidFill>
                <a:latin typeface="Microsoft JhengHei"/>
              </a:defRPr>
            </a:pPr>
            <a:r>
              <a:t>✓「《太微賦》所言命宮天機之人，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4C878"/>
                </a:solidFill>
                <a:latin typeface="Microsoft JhengHei"/>
              </a:defRPr>
            </a:pPr>
            <a:r>
              <a:t>   遇此時辰宜靜觀其變。」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C44040"/>
                </a:solidFill>
                <a:latin typeface="Microsoft JhengHei"/>
              </a:defRPr>
            </a:pPr>
            <a:r>
              <a:t>✗ 不要單獨列出書名清單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C44040"/>
                </a:solidFill>
                <a:latin typeface="Microsoft JhengHei"/>
              </a:defRPr>
            </a:pPr>
            <a:r>
              <a:t>✗ 不要用傳統 UI 卡片顯示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五、養成互動 — 靈寵回應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566160" cy="256032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🍖 餵食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C878"/>
                </a:solidFill>
                <a:latin typeface="Microsoft JhengHei"/>
              </a:defRPr>
            </a:pPr>
            <a:r>
              <a:t>+50 EXP · +10 靈力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200400" cy="1554480"/>
          </a:xfrm>
          <a:prstGeom prst="rect">
            <a:avLst/>
          </a:prstGeom>
          <a:solidFill>
            <a:srgbClr val="1A1A28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🦌 靈寵回應：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「謝謝主人！吃飽有力氣了～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對了，《窮通寶鑑》提到你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今天五行需要補水，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記得多喝水喔！」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4C878"/>
                </a:solidFill>
                <a:latin typeface="Microsoft JhengHei"/>
              </a:defRPr>
            </a:pPr>
            <a:r>
              <a:t>[+50 EXP ✨]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97280"/>
            <a:ext cx="3566160" cy="256032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B4FF"/>
                </a:solidFill>
                <a:latin typeface="Microsoft JhengHei"/>
              </a:defRPr>
            </a:pPr>
            <a:r>
              <a:t>🎾 玩耍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C878"/>
                </a:solidFill>
                <a:latin typeface="Microsoft JhengHei"/>
              </a:defRPr>
            </a:pPr>
            <a:r>
              <a:t>+30 EXP · +15 親密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920240"/>
            <a:ext cx="3200400" cy="1554480"/>
          </a:xfrm>
          <a:prstGeom prst="rect">
            <a:avLst/>
          </a:prstGeom>
          <a:solidFill>
            <a:srgbClr val="1A1A28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🦌 靈寵回應：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「嘻嘻，跟主人玩好開心！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《紫微斗數全書》說天機星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的人最適合益智遊戲，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難怪跟你玩總是很有趣～」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4C878"/>
                </a:solidFill>
                <a:latin typeface="Microsoft JhengHei"/>
              </a:defRPr>
            </a:pPr>
            <a:r>
              <a:t>[+15 親密 💕]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3566160" cy="2560320"/>
          </a:xfrm>
          <a:prstGeom prst="rect">
            <a:avLst/>
          </a:prstGeom>
          <a:solidFill>
            <a:srgbClr val="14141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Microsoft JhengHei"/>
              </a:defRPr>
            </a:pPr>
            <a:r>
              <a:t>🧘 冥想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C878"/>
                </a:solidFill>
                <a:latin typeface="Microsoft JhengHei"/>
              </a:defRPr>
            </a:pPr>
            <a:r>
              <a:t>+20 EXP · +10 悟性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920240"/>
            <a:ext cx="3200400" cy="1554480"/>
          </a:xfrm>
          <a:prstGeom prst="rect">
            <a:avLst/>
          </a:prstGeom>
          <a:solidFill>
            <a:srgbClr val="1A1A28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65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🦌 靈寵回應：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「冥想讓我感應到更多天機...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《煙波釣叟歌》云『靜中觀動，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動中取靜』，主人的悟性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又提升了呢！」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4C878"/>
                </a:solidFill>
                <a:latin typeface="Microsoft JhengHei"/>
              </a:defRPr>
            </a:pPr>
            <a:r>
              <a:t>[+10 悟性 🧠]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5486400" cy="27432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9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9C47"/>
                </a:solidFill>
                <a:latin typeface="Microsoft JhengHei"/>
              </a:defRPr>
            </a:pPr>
            <a:r>
              <a:t>升級時刻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80560"/>
            <a:ext cx="5029200" cy="914400"/>
          </a:xfrm>
          <a:prstGeom prst="rect">
            <a:avLst/>
          </a:prstGeom>
          <a:solidFill>
            <a:srgbClr val="1A1A28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✨ 升級！✨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🦌「太好了！我升到 Lv.6 了！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再升 2 級就能解鎖方位導航功能喔！」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4C878"/>
                </a:solidFill>
                <a:latin typeface="Microsoft JhengHei"/>
              </a:defRPr>
            </a:pPr>
            <a:r>
              <a:t>[Lv.5 → Lv.6 🎉]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577840"/>
            <a:ext cx="5029200" cy="914400"/>
          </a:xfrm>
          <a:prstGeom prst="rect">
            <a:avLst/>
          </a:prstGeom>
          <a:solidFill>
            <a:srgbClr val="1A1A28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235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🌟 進化！🌟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🦌 → 🦌✨（覺醒形態）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「主人！我感受到前所未有的力量...我進化了！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從今以後，能給你更精準的命運指引！」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931920"/>
            <a:ext cx="5486400" cy="27432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設計重點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4805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一切互動 → 靈寵對話回應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F5E69A"/>
                </a:solidFill>
                <a:latin typeface="Microsoft JhengHei"/>
              </a:defRPr>
            </a:pPr>
            <a:r>
              <a:t>養成不是數值遊戲，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F5E69A"/>
                </a:solidFill>
                <a:latin typeface="Microsoft JhengHei"/>
              </a:defRPr>
            </a:pPr>
            <a:r>
              <a:t>每次互動靈寵都會融入命理知識回應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餵食 → 補充五行建議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玩耍 → 分享命理趣知識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冥想 → 引經據典感悟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E89C47"/>
                </a:solidFill>
                <a:latin typeface="Microsoft JhengHei"/>
              </a:defRPr>
            </a:pPr>
            <a:r>
              <a:t>升級/進化 = 靈寵慶祝對話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不是冰冷的系統通知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六、靈寵能力觸發 — 靈眼·靈心·靈魂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3657600" cy="548640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👁 靈眼（面相分析）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291840" cy="475488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點擊「靈眼」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▼ 檢查額度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▼ 靈寵說：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「讓我睜開靈眼看看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主人的面相～」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▼ 相機拍照 overlay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▼ 分析動畫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（靈寵閉眼感應中...）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▼ Claude Vision (Sonnet)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▼ 靈寵解讀對話：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「我看到了！天庭飽滿，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《麻衣相法》云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『天庭飽滿吃官祿』...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天庭 88  眉相 65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眼相 91  鼻相 65」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005840"/>
            <a:ext cx="3657600" cy="5486400"/>
          </a:xfrm>
          <a:prstGeom prst="rect">
            <a:avLst/>
          </a:prstGeom>
          <a:solidFill>
            <a:srgbClr val="14141E"/>
          </a:solidFill>
          <a:ln w="12700">
            <a:solidFill>
              <a:srgbClr val="64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097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4C878"/>
                </a:solidFill>
                <a:latin typeface="Microsoft JhengHei"/>
              </a:defRPr>
            </a:pPr>
            <a:r>
              <a:t>🌍 靈心（GPS 風水）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291840" cy="475488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點擊「靈心」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▼ 檢查額度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▼ 靈寵說：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「讓我感應一下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這裡的氣場...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📍 台北市信義區」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▼ GPS + 奇門遁甲排盤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▼ Claude API (Sonnet)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▼ 靈寵解讀對話：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「《奇門遁甲統宗》排盤，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生門臨東南，天輔星照耀，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利於求學與簽約！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✅吉方：東南(生門)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⚠️凶方：西南(死門)」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005840"/>
            <a:ext cx="3657600" cy="5486400"/>
          </a:xfrm>
          <a:prstGeom prst="rect">
            <a:avLst/>
          </a:prstGeom>
          <a:solidFill>
            <a:srgbClr val="14141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097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Microsoft JhengHei"/>
              </a:defRPr>
            </a:pPr>
            <a:r>
              <a:t>🏮 靈魂（64 卦占卜）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291840" cy="475488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點擊「靈魂」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▼ 靈寵說：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「想問什麼呢？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選一個類別讓我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感應天機...」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▼ 類別選擇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[事業][感情][家庭]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[健康][學業]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▼ 搖卦動畫(震動+爻線)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▼ 檢查額度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▼ Claude API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▼ 靈寵解讀對話：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「天機已現！得乾卦！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《易經》云『天行健，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  君子以自強不息』...」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七、付費升級 Modal + 額度系統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029200" cy="1828800"/>
          </a:xfrm>
          <a:prstGeom prst="rect">
            <a:avLst/>
          </a:prstGeom>
          <a:solidFill>
            <a:srgbClr val="14141E"/>
          </a:solidFill>
          <a:ln w="12700">
            <a:solidFill>
              <a:srgbClr val="C4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4040"/>
                </a:solidFill>
                <a:latin typeface="Microsoft JhengHei"/>
              </a:defRPr>
            </a:pPr>
            <a:r>
              <a:t>觸發時機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靈眼/靈心/靈魂使用次數耗盡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  → useFeature() 回傳 false → 彈出 Modal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靈寵等級達上限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  → canLevelUp() 回傳 false → 彈出 Modal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5029200" cy="118872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重要原則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C44040"/>
                </a:solidFill>
                <a:latin typeface="Microsoft JhengHei"/>
              </a:defRPr>
            </a:pPr>
            <a:r>
              <a:t>✗ 不在任何常規頁面顯示方案比較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C44040"/>
                </a:solidFill>
                <a:latin typeface="Microsoft JhengHei"/>
              </a:defRPr>
            </a:pPr>
            <a:r>
              <a:t>✗ 不顯示剩餘次數在頁面標題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4C878"/>
                </a:solidFill>
                <a:latin typeface="Microsoft JhengHei"/>
              </a:defRPr>
            </a:pPr>
            <a:r>
              <a:t>✓ 僅在碰到限制時彈出 Modal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4C878"/>
                </a:solidFill>
                <a:latin typeface="Microsoft JhengHei"/>
              </a:defRPr>
            </a:pPr>
            <a:r>
              <a:t>✓ 升級提示也用靈寵語氣表達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80560"/>
            <a:ext cx="5029200" cy="2103120"/>
          </a:xfrm>
          <a:prstGeom prst="rect">
            <a:avLst/>
          </a:prstGeom>
          <a:solidFill>
            <a:srgbClr val="111118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Modal 畫面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5E69A"/>
                </a:solidFill>
                <a:latin typeface="Microsoft JhengHei"/>
              </a:defRPr>
            </a:pPr>
            <a:r>
              <a:t>🦌「主人，今天的次數用完了...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5E69A"/>
                </a:solidFill>
                <a:latin typeface="Microsoft JhengHei"/>
              </a:defRPr>
            </a:pPr>
            <a:r>
              <a:t>升級的話，我能幫你做更多喔！」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⭐ 會員版 $290/月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    靈眼/靈心/靈魂 5次/日 + Lv.20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👑 至尊版 $590/月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    全功能無限 + 靈寵等級無上限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[ 明天再來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097280"/>
            <a:ext cx="5943600" cy="54864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188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付費機制與額度系統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737360"/>
            <a:ext cx="5669280" cy="41148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7556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772400" y="17556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88070"/>
                </a:solidFill>
                <a:latin typeface="Microsoft JhengHei"/>
              </a:defRPr>
            </a:pPr>
            <a:r>
              <a:t>免費版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7556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會員版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17556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  <a:latin typeface="Microsoft JhengHei"/>
              </a:defRPr>
            </a:pPr>
            <a:r>
              <a:t>至尊版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2194560"/>
            <a:ext cx="5669280" cy="384048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220370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靈眼（面相）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20370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1次/日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20370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5次/日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20370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JhengHei"/>
              </a:defRPr>
            </a:pPr>
            <a:r>
              <a:t>無限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2606040"/>
            <a:ext cx="5669280" cy="384048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1518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靈心（風水）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61518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1次/日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61518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5次/日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61518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JhengHei"/>
              </a:defRPr>
            </a:pPr>
            <a:r>
              <a:t>無限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3017520"/>
            <a:ext cx="5669280" cy="384048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302666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靈魂（占卜）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02666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1次/日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02666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5次/日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302666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JhengHei"/>
              </a:defRPr>
            </a:pPr>
            <a:r>
              <a:t>無限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3429000"/>
            <a:ext cx="5669280" cy="384048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343814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靈寵等級上限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4381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Lv.10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4381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Lv.20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34381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JhengHei"/>
              </a:defRPr>
            </a:pPr>
            <a:r>
              <a:t>無限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3840480"/>
            <a:ext cx="5669280" cy="384048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38496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靈寵進化次數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8496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1 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38496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2 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38496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JhengHei"/>
              </a:defRPr>
            </a:pPr>
            <a:r>
              <a:t>5 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52160" y="4251960"/>
            <a:ext cx="5669280" cy="384048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42611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AI 解讀品質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2611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Haiku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42611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Sonnet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42611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JhengHei"/>
              </a:defRPr>
            </a:pPr>
            <a:r>
              <a:t>Sonnet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52160" y="4663440"/>
            <a:ext cx="5669280" cy="384048"/>
          </a:xfrm>
          <a:prstGeom prst="rect">
            <a:avLst/>
          </a:prstGeom>
          <a:solidFill>
            <a:srgbClr val="18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0" y="467258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Lv.10+ 加成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467258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+1 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467258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+1 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467258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JhengHei"/>
              </a:defRPr>
            </a:pPr>
            <a: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52160" y="5074920"/>
            <a:ext cx="5669280" cy="384048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0" y="50840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Lv.20+ 加成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0" y="50840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50840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+1 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50840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JhengHei"/>
              </a:defRPr>
            </a:pPr>
            <a:r>
              <a:t>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八、Claude API 呼叫流程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303520" cy="548640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使用者操作 / 定時觸發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Cloud Function（Firebase）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├── 組裝 System Prompt（config/prompts.ts）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│     └── 關鍵：要求 Claude 以靈寵語氣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│         + 引經據典方式回覆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├── 注入用戶資料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│     （八字 + 紫微 + 奇門 + 占星 + 靈寵個性）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├── 語言包裝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│     （i18n-prompts.ts → wrapSystemPrompt）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Claude API 呼叫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├── Haiku（靈寵日常對話、穿搭、免費版）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└── Sonnet（面相、風水、付費版占卜、深度運勢）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回傳 JSON → 解析為靈寵對話氣泡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  → 新增到對話列表（chat-store.ts）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005840"/>
            <a:ext cx="5303520" cy="5303520"/>
          </a:xfrm>
          <a:prstGeom prst="rect">
            <a:avLst/>
          </a:prstGeom>
          <a:solidFill>
            <a:srgbClr val="14141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1097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Microsoft JhengHei"/>
              </a:defRPr>
            </a:pPr>
            <a:r>
              <a:t>引經據典規則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八字引用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《滴天髓》《子平真詮》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《窮通寶鑑》《淵海子平》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紫微引用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《紫微斗數全書》《太微賦》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《骨髓賦》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奇門引用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《奇門遁甲秘笈大全》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《煙波釣叟歌》《奇門遁甲統宗》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西洋占星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行星逆行、相位角度等天文現象描述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E89C47"/>
                </a:solidFill>
                <a:latin typeface="Microsoft JhengHei"/>
              </a:defRPr>
            </a:pPr>
            <a:r>
              <a:t>核心原則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5E69A"/>
                </a:solidFill>
                <a:latin typeface="Microsoft JhengHei"/>
              </a:defRPr>
            </a:pPr>
            <a:r>
              <a:t>引經據典融入靈寵對話語氣中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5E69A"/>
                </a:solidFill>
                <a:latin typeface="Microsoft JhengHei"/>
              </a:defRPr>
            </a:pPr>
            <a:r>
              <a:t>不是列清單，而是靈寵自然引用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九、技術架構與檔案結構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943600" cy="566928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app/(tabs)/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├── _layout.tsx          ← 2 Tab 導航（靈寵/我的）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├── pet.tsx              ← 主畫面（靈寵形象+對話+功能列）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└── profile.tsx          ← 我的設定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components/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├── PetAvatar.tsx        ← 靈寵形象區（動畫+等級+EXP）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├── PetChat.tsx          ← 對話列表元件（核心！）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├── PetBubble.tsx        ← 單則對話氣泡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├── ActionBar.tsx        ← 底部功能列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├── UpgradeModal.tsx     ← 付費升級彈窗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└── features/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    ├── EyeCapture.tsx   ← 靈眼拍照 overlay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    ├── HeartCompass.tsx  ← 靈心羅盤 overlay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    └── PearlShake.tsx   ← 靈魂搖卦 overlay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stores/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├── user-store.ts        ← 用戶狀態 + 額度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├── pet-store.ts         ← 靈寵狀態 + 等級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└── chat-store.ts        ← 對話訊息列表（新增！）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services/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├── bazi-engine.ts       ← 八字計算 (35%)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├── ziwei-engine.ts      ← 紫微排盤 (30%)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├── qimen-engine.ts      ← 奇門遁甲 (25%)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├── astrology-engine.ts  ← 西洋占星 (10%)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├── unified-fortune.ts   ← 加權融合引擎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└── claude-api.ts        ← Claude API 串接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0" y="914400"/>
            <a:ext cx="5029200" cy="27432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9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1005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9C47"/>
                </a:solidFill>
                <a:latin typeface="Microsoft JhengHei"/>
              </a:defRPr>
            </a:pPr>
            <a:r>
              <a:t>對話資料結構 (chat-store.ts)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17320"/>
            <a:ext cx="4663440" cy="210312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interface ChatMessage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id: string;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time: string;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type: 'fortune' | 'outfit'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   | 'face' | 'fengshui'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   | 'divination'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   | 'feed' | 'play'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   | 'meditate'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   | 'levelup' | 'evolve';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text: string;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classicQuote?: string;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  data?: any;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5E69A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3840480"/>
            <a:ext cx="5029200" cy="274320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3931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B4FF"/>
                </a:solidFill>
                <a:latin typeface="Microsoft JhengHei"/>
              </a:defRPr>
            </a:pPr>
            <a:r>
              <a:t>技術棧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3891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070"/>
                </a:solidFill>
                <a:latin typeface="Microsoft JhengHei"/>
              </a:defRPr>
            </a:pPr>
            <a:r>
              <a:t>前端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3891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React Native + Expo SDK 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6634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070"/>
                </a:solidFill>
                <a:latin typeface="Microsoft JhengHei"/>
              </a:defRPr>
            </a:pPr>
            <a:r>
              <a:t>路由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Expo 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93775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070"/>
                </a:solidFill>
                <a:latin typeface="Microsoft JhengHei"/>
              </a:defRPr>
            </a:pPr>
            <a:r>
              <a:t>語言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93775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TypeScript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21207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070"/>
                </a:solidFill>
                <a:latin typeface="Microsoft JhengHei"/>
              </a:defRPr>
            </a:pPr>
            <a:r>
              <a:t>狀態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2120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Zustand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4864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070"/>
                </a:solidFill>
                <a:latin typeface="Microsoft JhengHei"/>
              </a:defRPr>
            </a:pPr>
            <a:r>
              <a:t>後端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486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Firebase Cloud 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7607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070"/>
                </a:solidFill>
                <a:latin typeface="Microsoft JhengHei"/>
              </a:defRPr>
            </a:pPr>
            <a: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7607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Claude API (Vision + Text)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6035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070"/>
                </a:solidFill>
                <a:latin typeface="Microsoft JhengHei"/>
              </a:defRPr>
            </a:pPr>
            <a:r>
              <a:t>內購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60350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RevenueCat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63093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070"/>
                </a:solidFill>
                <a:latin typeface="Microsoft JhengHei"/>
              </a:defRPr>
            </a:pPr>
            <a:r>
              <a:t>多語言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63093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i18next (6 語系)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十、Tab 2：我的 — 個人設定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029200" cy="960120"/>
          </a:xfrm>
          <a:prstGeom prst="rect">
            <a:avLst/>
          </a:prstGeom>
          <a:solidFill>
            <a:srgbClr val="14141E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🦌 使用者資訊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名字 / 靈寵等級 / 五行 / 節氣</a:t>
            </a:r>
            <a:br/>
            <a:r>
              <a:t>訂閱方案 Badge（免費/會員/至尊）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5029200" cy="960120"/>
          </a:xfrm>
          <a:prstGeom prst="rect">
            <a:avLst/>
          </a:prstGeom>
          <a:solidFill>
            <a:srgbClr val="14141E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⭐ 訂閱狀態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免費版顯示「升級為會員」按鈕</a:t>
            </a:r>
            <a:br/>
            <a:r>
              <a:t>付費版顯示當前方案到期日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39"/>
            <a:ext cx="5029200" cy="960120"/>
          </a:xfrm>
          <a:prstGeom prst="rect">
            <a:avLst/>
          </a:prstGeom>
          <a:solidFill>
            <a:srgbClr val="14141E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375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🌐 語言設定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75887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繁中 / 简中 / 日文 / English / Deutsch / Francais</a:t>
            </a:r>
            <a:br/>
            <a:r>
              <a:t>使用 LanguageSelector 元件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5029200" cy="960120"/>
          </a:xfrm>
          <a:prstGeom prst="rect">
            <a:avLst/>
          </a:prstGeom>
          <a:solidFill>
            <a:srgbClr val="14141E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📜 命盤資料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7316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八字四柱 / 紫微命宮主星</a:t>
            </a:r>
            <a:br/>
            <a:r>
              <a:t>西洋星座 / 節氣靈寵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486400"/>
            <a:ext cx="5029200" cy="960120"/>
          </a:xfrm>
          <a:prstGeom prst="rect">
            <a:avLst/>
          </a:prstGeom>
          <a:solidFill>
            <a:srgbClr val="14141E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32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⚙️ 其他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7044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推播設定 / 隱私權政策</a:t>
            </a:r>
            <a:br/>
            <a:r>
              <a:t>服務條款 / 關於靈犀 / 登出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097280"/>
            <a:ext cx="5760720" cy="530352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設計要點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簡潔資訊展示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個人頁不放功能操作，純設定與資訊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付費入口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僅免費版顯示升級 CTA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不在此頁放方案對比表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命盤總覽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一覽四大命理系統摘要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方便使用者確認個人資料正確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語言切換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支援 6 語系即時切換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Claude API 回覆語言自動對應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十一、完整使用者旅程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566928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下載 App → Onboarding（5步）→ 靈寵召喚（第一次對話）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┌───── 每日循環（所有內容 = 靈寵對話）────────────┐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│                   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│  靈寵主動說話（定時推播 + 進入 App 時）：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│    ├── 🌅 早安：今日運勢 + 吉方 + 引經據典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│    ├── 🌞 午間：午時提醒 + 下午注意事項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│    ├── 🌙 晚安：明日預告 + 養生建議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│    └── 👔 穿搭：五行色系推薦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│                   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│  使用者觸發互動（底部功能列）：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│    ├── 🍖🎾🧘 養成 → 靈寵回應 + EXP提升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│    ├── 👁 靈眼 → 拍照 → 靈寵解讀面相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│    ├── 🌍 靈心 → GPS → 靈寵解讀風水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│    └── 🏮 靈魂 → 搖卦 → 靈寵解讀卦象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│                   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│  靈寵成長事件：     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│    ├── 升級 → 靈寵慶祝對話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│    ├── 進化 → 形態變化 + 靈寵感言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│    └── 解鎖功能 → 靈寵介紹新能力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付費觸發（彈窗 Modal，靈寵語氣）：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├── 功能使用次數耗盡 → 靈寵提醒 + 升級選項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5E69A"/>
                </a:solidFill>
                <a:latin typeface="Consolas"/>
              </a:defRPr>
            </a:pPr>
            <a:r>
              <a:t>  └── 靈寵等級達上限 → 靈寵說明 + 升級選項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