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8C547"/>
                </a:solidFill>
                <a:latin typeface="Microsoft JhengHei"/>
              </a:defRPr>
            </a:pPr>
            <a:r>
              <a:t>靈犀 LingXi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5E69A"/>
                </a:solidFill>
                <a:latin typeface="Microsoft JhengHei"/>
              </a:defRPr>
            </a:pPr>
            <a:r>
              <a:t>🐾 24 節氣靈寵美工規格書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JhengHei"/>
              </a:defRPr>
            </a:pPr>
            <a:r>
              <a:t>交給 AI 美工製作的完整指引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114800"/>
            <a:ext cx="1828800" cy="73152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1330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C96F"/>
                </a:solidFill>
                <a:latin typeface="Microsoft JhengHei"/>
              </a:defRPr>
            </a:pPr>
            <a:r>
              <a:t>🌸 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6 隻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4114800"/>
            <a:ext cx="1828800" cy="7315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41330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☀️ 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6 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114800"/>
            <a:ext cx="1828800" cy="731520"/>
          </a:xfrm>
          <a:prstGeom prst="rect">
            <a:avLst/>
          </a:prstGeom>
          <a:solidFill>
            <a:srgbClr val="14141E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1330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74"/>
                </a:solidFill>
                <a:latin typeface="Microsoft JhengHei"/>
              </a:defRPr>
            </a:pPr>
            <a:r>
              <a:t>🍂 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6 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114800"/>
            <a:ext cx="1828800" cy="73152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1330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B4FF"/>
                </a:solidFill>
                <a:latin typeface="Microsoft JhengHei"/>
              </a:defRPr>
            </a:pPr>
            <a:r>
              <a:t>❄️ 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498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6 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9C47"/>
                </a:solidFill>
                <a:latin typeface="Microsoft JhengHei"/>
              </a:defRPr>
            </a:pPr>
            <a:r>
              <a:t>24 隻靈寵 × 6 張圖 = 144 張 + 72 組動畫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070"/>
                </a:solidFill>
                <a:latin typeface="Microsoft JhengHei"/>
              </a:defRPr>
            </a:pPr>
            <a:r>
              <a:t>風格：東方神秘感 × Q版可愛 · 半透明靈體 · 金色粒子閃爍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一、設計規範 + 每隻所需圖片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486400" cy="32004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每隻靈寵需要 6 張圖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🗣️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E69A"/>
                </a:solidFill>
                <a:latin typeface="Microsoft JhengHei"/>
              </a:defRPr>
            </a:pPr>
            <a:r>
              <a:t>avatar.png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512×512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頭像（對話氣泡、列表）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751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751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E69A"/>
                </a:solidFill>
                <a:latin typeface="Microsoft JhengHei"/>
              </a:defRPr>
            </a:pPr>
            <a:r>
              <a:t>full.png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751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1024×1024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975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全身圖（靈寵主頁形象區）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95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95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E69A"/>
                </a:solidFill>
                <a:latin typeface="Microsoft JhengHei"/>
              </a:defRPr>
            </a:pPr>
            <a:r>
              <a:t>evo-1.png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957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1024×1024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進化階段 1（初始型態）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163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⭐⭐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16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E69A"/>
                </a:solidFill>
                <a:latin typeface="Microsoft JhengHei"/>
              </a:defRPr>
            </a:pPr>
            <a:r>
              <a:t>evo-2.png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16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1024×1024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816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進化階段 2（覺醒型態）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369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⭐⭐⭐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36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E69A"/>
                </a:solidFill>
                <a:latin typeface="Microsoft JhengHei"/>
              </a:defRPr>
            </a:pPr>
            <a:r>
              <a:t>evo-3.png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2369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1024×1024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236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進化階段 3（終極型態）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JhengHei"/>
              </a:defRPr>
            </a:pPr>
            <a:r>
              <a:t>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E69A"/>
                </a:solidFill>
                <a:latin typeface="Microsoft JhengHei"/>
              </a:defRPr>
            </a:pPr>
            <a:r>
              <a:t>icon.png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128×128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小圖示（選單、通知）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005840"/>
            <a:ext cx="5486400" cy="320040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JhengHei"/>
              </a:defRPr>
            </a:pPr>
            <a:r>
              <a:t>風格規範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5544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格式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PNG，透明背景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風格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東方神秘感 × Q 版可愛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帶靈氣光暈、半透明靈體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金色粒子閃爍效果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深色背景適配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APP 背景 #08080F，靈寵需在深色上顯眼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4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比例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Chibi（Q版）比例，可愛親切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友善表情，靈氣飄浮姿態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80560"/>
            <a:ext cx="11247120" cy="210312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季節色系對照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C96F"/>
                </a:solidFill>
                <a:latin typeface="Microsoft JhengHei"/>
              </a:defRPr>
            </a:pPr>
            <a:r>
              <a:t>🌸 春（01-06）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嫩綠 · 粉色 · 淺藍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32120"/>
            <a:ext cx="731520" cy="320040"/>
          </a:xfrm>
          <a:prstGeom prst="rect">
            <a:avLst/>
          </a:prstGeom>
          <a:solidFill>
            <a:srgbClr val="7BC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554480" y="5532120"/>
            <a:ext cx="731520" cy="320040"/>
          </a:xfrm>
          <a:prstGeom prst="rect">
            <a:avLst/>
          </a:prstGeom>
          <a:solidFill>
            <a:srgbClr val="F0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77440" y="5532120"/>
            <a:ext cx="731520" cy="320040"/>
          </a:xfrm>
          <a:prstGeom prst="rect">
            <a:avLst/>
          </a:prstGeom>
          <a:solidFill>
            <a:srgbClr val="A0D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97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#7BC96F  #F0A0C0  #A0D8EF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☀️ 夏（07-12）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金色 · 橙紅 · 烈焰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5532120"/>
            <a:ext cx="731520" cy="32004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89120" y="5532120"/>
            <a:ext cx="73152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12080" y="5532120"/>
            <a:ext cx="731520" cy="320040"/>
          </a:xfrm>
          <a:prstGeom prst="rect">
            <a:avLst/>
          </a:prstGeom>
          <a:solidFill>
            <a:srgbClr val="C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60" y="5897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#E8C547  #FF6B35  #C44040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74"/>
                </a:solidFill>
                <a:latin typeface="Microsoft JhengHei"/>
              </a:defRPr>
            </a:pPr>
            <a:r>
              <a:t>🍂 秋（13-18）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金黃 · 琥珀 · 銀白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532120"/>
            <a:ext cx="731520" cy="32004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23760" y="5532120"/>
            <a:ext cx="731520" cy="320040"/>
          </a:xfrm>
          <a:prstGeom prst="rect">
            <a:avLst/>
          </a:prstGeom>
          <a:solidFill>
            <a:srgbClr val="C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5532120"/>
            <a:ext cx="731520" cy="32004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897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#D4A574  #C0A030  #C0C0C0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❄️ 冬（19-24）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5257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冰藍 · 深紫 · 極光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5532120"/>
            <a:ext cx="731520" cy="320040"/>
          </a:xfrm>
          <a:prstGeom prst="rect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0" y="5532120"/>
            <a:ext cx="731520" cy="320040"/>
          </a:xfrm>
          <a:prstGeom prst="rect">
            <a:avLst/>
          </a:prstGeom>
          <a:solidFill>
            <a:srgbClr val="4A2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81360" y="5532120"/>
            <a:ext cx="731520" cy="320040"/>
          </a:xfrm>
          <a:prstGeom prst="rect">
            <a:avLst/>
          </a:prstGeom>
          <a:solidFill>
            <a:srgbClr val="00F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5897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#64B4FF  #4A2080  #00FFA0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7BC96F"/>
                </a:solidFill>
                <a:latin typeface="Microsoft JhengHei"/>
              </a:defRPr>
            </a:pPr>
            <a:r>
              <a:t>二、🌸 春季靈寵（立春 → 穀雨）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主色調：嫩綠 #7BC96F · 粉色 #F0A0C0 · 淺藍 #A0D8EF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C96F"/>
                </a:solidFill>
                <a:latin typeface="Microsoft JhengHei"/>
              </a:defRPr>
            </a:pPr>
            <a:r>
              <a:t>青芽鹿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立春  2/4–2/18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BC96F"/>
                </a:solidFill>
                <a:latin typeface="Microsoft JhengHei"/>
              </a:defRPr>
            </a:pPr>
            <a:r>
              <a:t>木  鹿  水瓶座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春芽鹿角、新生嫩綠、破土而出的生機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01-lichun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C96F"/>
                </a:solidFill>
                <a:latin typeface="Microsoft JhengHei"/>
              </a:defRPr>
            </a:pPr>
            <a:r>
              <a:t>潤澤蛙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雨水  2/19–3/4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蛙  雙魚座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雨滴環繞、荷葉坐騎、水珠光澤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99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02-yushui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C96F"/>
                </a:solidFill>
                <a:latin typeface="Microsoft JhengHei"/>
              </a:defRPr>
            </a:pPr>
            <a:r>
              <a:t>雷蟲龍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驚蟄  3/5–3/19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BC96F"/>
                </a:solidFill>
                <a:latin typeface="Microsoft JhengHei"/>
              </a:defRPr>
            </a:pPr>
            <a:r>
              <a:t>木  龍蟲  雙魚座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微型龍形、雷電紋路、破土甦醒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03-jingzhe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C96F"/>
                </a:solidFill>
                <a:latin typeface="Microsoft JhengHei"/>
              </a:defRPr>
            </a:pPr>
            <a:r>
              <a:t>衡翼蝶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春分  3/20–4/3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BC96F"/>
                </a:solidFill>
                <a:latin typeface="Microsoft JhengHei"/>
              </a:defRPr>
            </a:pPr>
            <a:r>
              <a:t>木  蝴蝶  牡羊座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日夜雙翼、陰陽平衡、花粉光點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04-chunfen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🕊️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C96F"/>
                </a:solidFill>
                <a:latin typeface="Microsoft JhengHei"/>
              </a:defRPr>
            </a:pPr>
            <a:r>
              <a:t>清風鶴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清明  4/4–4/19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BC96F"/>
                </a:solidFill>
                <a:latin typeface="Microsoft JhengHei"/>
              </a:defRPr>
            </a:pPr>
            <a:r>
              <a:t>木  鶴  牡羊座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271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仙鶴身姿、清澈微風、柳絮飄飛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05-qingming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BC96F"/>
                </a:solidFill>
                <a:latin typeface="Microsoft JhengHei"/>
              </a:defRPr>
            </a:pPr>
            <a:r>
              <a:t>穀靈兔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穀雨  4/20–5/4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C107"/>
                </a:solidFill>
                <a:latin typeface="Microsoft JhengHei"/>
              </a:defRPr>
            </a:pPr>
            <a:r>
              <a:t>土  兔  金牛座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穀穗花環、春雨滋潤、豐收祈願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06-guyu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C96F"/>
                </a:solidFill>
                <a:latin typeface="Microsoft JhengHei"/>
              </a:defRPr>
            </a:pPr>
            <a:r>
              <a:t>🦌 青芽鹿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鹿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7BC96F"/>
                </a:solidFill>
                <a:latin typeface="Microsoft JhengHei"/>
              </a:defRPr>
            </a:pPr>
            <a:r>
              <a:t>木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水瓶座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春芽鹿角、新生嫩綠、破土而出的生機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01-lichun/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2199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🐸 潤澤蛙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79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蛙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雙魚座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雨滴環繞、荷葉坐騎、水珠光澤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02-yushui/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4223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C96F"/>
                </a:solidFill>
                <a:latin typeface="Microsoft JhengHei"/>
              </a:defRPr>
            </a:pPr>
            <a:r>
              <a:t>🐛 雷蟲龍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龍蟲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7BC96F"/>
                </a:solidFill>
                <a:latin typeface="Microsoft JhengHei"/>
              </a:defRPr>
            </a:pPr>
            <a:r>
              <a:t>木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雙魚座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微型龍形、雷電紋路、破土甦醒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03-jingzhe/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6247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C96F"/>
                </a:solidFill>
                <a:latin typeface="Microsoft JhengHei"/>
              </a:defRPr>
            </a:pPr>
            <a:r>
              <a:t>🦋 衡翼蝶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蝴蝶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7BC96F"/>
                </a:solidFill>
                <a:latin typeface="Microsoft JhengHei"/>
              </a:defRPr>
            </a:pPr>
            <a:r>
              <a:t>木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牡羊座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日夜雙翼、陰陽平衡、花粉光點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04-chunfen/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8271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BC96F"/>
                </a:solidFill>
                <a:latin typeface="Microsoft JhengHei"/>
              </a:defRPr>
            </a:pPr>
            <a:r>
              <a:t>🕊️ 清風鶴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7BC96F"/>
                </a:solidFill>
                <a:latin typeface="Microsoft JhengHei"/>
              </a:defRPr>
            </a:pPr>
            <a:r>
              <a:t>木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牡羊座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仙鶴身姿、清澈微風、柳絮飄飛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05-qingming/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755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295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107"/>
                </a:solidFill>
                <a:latin typeface="Microsoft JhengHei"/>
              </a:defRPr>
            </a:pPr>
            <a:r>
              <a:t>🐰 穀靈兔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兔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C107"/>
                </a:solidFill>
                <a:latin typeface="Microsoft JhengHei"/>
              </a:defRPr>
            </a:pPr>
            <a:r>
              <a:t>土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金牛座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穀穗花環、春雨滋潤、豐收祈願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06-guyu/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三、☀️ 夏季靈寵（立夏 → 大暑）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主色調：金色 #E8C547 · 橙紅 #FF6B35 · 烈焰 #C44040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炎蟬精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立夏  5/5–5/20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6B35"/>
                </a:solidFill>
                <a:latin typeface="Microsoft JhengHei"/>
              </a:defRPr>
            </a:pPr>
            <a:r>
              <a:t>火  蟬  金牛座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透明薄翼、初夏暖光、蟬鳴音波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07-lixia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金穗狐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小滿  5/21–6/4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6B35"/>
                </a:solidFill>
                <a:latin typeface="Microsoft JhengHei"/>
              </a:defRPr>
            </a:pPr>
            <a:r>
              <a:t>火  狐  雙子座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金色毛皮、麥穗尾巴、豐盈飽滿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99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08-xiaoman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芒鳳雀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芒種  6/5–6/20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6B35"/>
                </a:solidFill>
                <a:latin typeface="Microsoft JhengHei"/>
              </a:defRPr>
            </a:pPr>
            <a:r>
              <a:t>火  雀鳳  雙子座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金色羽翼、稻芒光芒、播種希望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09-mangzhong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日輪獅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夏至  6/21–7/6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6B35"/>
                </a:solidFill>
                <a:latin typeface="Microsoft JhengHei"/>
              </a:defRPr>
            </a:pPr>
            <a:r>
              <a:t>火  獅  巨蟹座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太陽鬃毛、正午光環、最長白晝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10-xiazhi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螢火靈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小暑  7/7–7/21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6B35"/>
                </a:solidFill>
                <a:latin typeface="Microsoft JhengHei"/>
              </a:defRPr>
            </a:pPr>
            <a:r>
              <a:t>火  螢火蟲  巨蟹座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271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巨大螢火蟲、夏夜微光、溫暖引路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11-xiaoshu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C547"/>
                </a:solidFill>
                <a:latin typeface="Microsoft JhengHei"/>
              </a:defRPr>
            </a:pPr>
            <a:r>
              <a:t>烈陽鷹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大暑  7/22–8/6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C107"/>
                </a:solidFill>
                <a:latin typeface="Microsoft JhengHei"/>
              </a:defRPr>
            </a:pPr>
            <a:r>
              <a:t>土  鷹  獅子座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烈日雙翼、熱浪氣場、高空俯瞰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12-dashu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JhengHei"/>
              </a:defRPr>
            </a:pPr>
            <a:r>
              <a:t>🪲 炎蟬精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蟬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6B35"/>
                </a:solidFill>
                <a:latin typeface="Microsoft JhengHei"/>
              </a:defRPr>
            </a:pPr>
            <a:r>
              <a:t>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金牛座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透明薄翼、初夏暖光、蟬鳴音波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07-lixia/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2199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JhengHei"/>
              </a:defRPr>
            </a:pPr>
            <a:r>
              <a:t>🦊 金穗狐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79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狐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6B35"/>
                </a:solidFill>
                <a:latin typeface="Microsoft JhengHei"/>
              </a:defRPr>
            </a:pPr>
            <a:r>
              <a:t>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雙子座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金色毛皮、麥穗尾巴、豐盈飽滿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08-xiaoman/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4223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JhengHei"/>
              </a:defRPr>
            </a:pPr>
            <a:r>
              <a:t>🐦 芒鳳雀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雀鳳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6B35"/>
                </a:solidFill>
                <a:latin typeface="Microsoft JhengHei"/>
              </a:defRPr>
            </a:pPr>
            <a:r>
              <a:t>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雙子座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金色羽翼、稻芒光芒、播種希望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09-mangzhong/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6247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JhengHei"/>
              </a:defRPr>
            </a:pPr>
            <a:r>
              <a:t>🦁 日輪獅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獅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6B35"/>
                </a:solidFill>
                <a:latin typeface="Microsoft JhengHei"/>
              </a:defRPr>
            </a:pPr>
            <a:r>
              <a:t>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巨蟹座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太陽鬃毛、正午光環、最長白晝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10-xiazhi/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8271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Microsoft JhengHei"/>
              </a:defRPr>
            </a:pPr>
            <a:r>
              <a:t>✨ 螢火靈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螢火蟲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6B35"/>
                </a:solidFill>
                <a:latin typeface="Microsoft JhengHei"/>
              </a:defRPr>
            </a:pPr>
            <a:r>
              <a:t>火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巨蟹座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巨大螢火蟲、夏夜微光、溫暖引路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11-xiaoshu/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755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295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107"/>
                </a:solidFill>
                <a:latin typeface="Microsoft JhengHei"/>
              </a:defRPr>
            </a:pPr>
            <a:r>
              <a:t>🦅 烈陽鷹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鷹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C107"/>
                </a:solidFill>
                <a:latin typeface="Microsoft JhengHei"/>
              </a:defRPr>
            </a:pPr>
            <a:r>
              <a:t>土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獅子座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烈日雙翼、熱浪氣場、高空俯瞰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12-dashu/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4A574"/>
                </a:solidFill>
                <a:latin typeface="Microsoft JhengHei"/>
              </a:defRPr>
            </a:pPr>
            <a:r>
              <a:t>四、🍂 秋季靈寵（立秋 → 霜降）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主色調：金黃 #D4A574 · 琥珀 #C0A030 · 銀白 #C0C0C0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  <a:latin typeface="Microsoft JhengHei"/>
              </a:defRPr>
            </a:pPr>
            <a:r>
              <a:t>金風虎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立秋  8/7–8/22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0C0C0"/>
                </a:solidFill>
                <a:latin typeface="Microsoft JhengHei"/>
              </a:defRPr>
            </a:pPr>
            <a:r>
              <a:t>金  虎  獅子座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秋風金紋、落葉環繞、威嚴轉涼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13-liqiu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  <a:latin typeface="Microsoft JhengHei"/>
              </a:defRPr>
            </a:pPr>
            <a:r>
              <a:t>涼蟬仙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處暑  8/23–9/6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0C0C0"/>
                </a:solidFill>
                <a:latin typeface="Microsoft JhengHei"/>
              </a:defRPr>
            </a:pPr>
            <a:r>
              <a:t>金  蟬  處女座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褪色薄翼、秋涼微風、暑氣消散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99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14-chushu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  <a:latin typeface="Microsoft JhengHei"/>
              </a:defRPr>
            </a:pPr>
            <a:r>
              <a:t>露珠蛇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白露  9/7–9/22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0C0C0"/>
                </a:solidFill>
                <a:latin typeface="Microsoft JhengHei"/>
              </a:defRPr>
            </a:pPr>
            <a:r>
              <a:t>金  蛇  處女座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晶瑩鱗片、晨露凝結、月光折射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15-bailu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🕊️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  <a:latin typeface="Microsoft JhengHei"/>
              </a:defRPr>
            </a:pPr>
            <a:r>
              <a:t>月衡鶴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秋分  9/23–10/7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0C0C0"/>
                </a:solidFill>
                <a:latin typeface="Microsoft JhengHei"/>
              </a:defRPr>
            </a:pPr>
            <a:r>
              <a:t>金  鶴  天秤座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月光翅膀、天秤光陣、晝夜等分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16-qiufen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  <a:latin typeface="Microsoft JhengHei"/>
              </a:defRPr>
            </a:pPr>
            <a:r>
              <a:t>霜菊貓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寒露  10/8–10/22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貓  天秤座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271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菊花冠飾、寒霜毛色、深秋寧靜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17-hanlu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  <a:latin typeface="Microsoft JhengHei"/>
              </a:defRPr>
            </a:pPr>
            <a:r>
              <a:t>霜狼靈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霜降  10/23–11/6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狼  天蠍座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銀霜皮毛、冰晶呼吸、孤月嚎叫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18-shuangjiang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C0C0"/>
                </a:solidFill>
                <a:latin typeface="Microsoft JhengHei"/>
              </a:defRPr>
            </a:pPr>
            <a:r>
              <a:t>🐅 金風虎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虎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C0C0C0"/>
                </a:solidFill>
                <a:latin typeface="Microsoft JhengHei"/>
              </a:defRPr>
            </a:pPr>
            <a:r>
              <a:t>金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獅子座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秋風金紋、落葉環繞、威嚴轉涼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13-liqiu/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2199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C0C0"/>
                </a:solidFill>
                <a:latin typeface="Microsoft JhengHei"/>
              </a:defRPr>
            </a:pPr>
            <a:r>
              <a:t>🪲 涼蟬仙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79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蟬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C0C0C0"/>
                </a:solidFill>
                <a:latin typeface="Microsoft JhengHei"/>
              </a:defRPr>
            </a:pPr>
            <a:r>
              <a:t>金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處女座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褪色薄翼、秋涼微風、暑氣消散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14-chushu/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4223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C0C0"/>
                </a:solidFill>
                <a:latin typeface="Microsoft JhengHei"/>
              </a:defRPr>
            </a:pPr>
            <a:r>
              <a:t>🐍 露珠蛇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蛇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C0C0C0"/>
                </a:solidFill>
                <a:latin typeface="Microsoft JhengHei"/>
              </a:defRPr>
            </a:pPr>
            <a:r>
              <a:t>金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處女座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晶瑩鱗片、晨露凝結、月光折射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15-bailu/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6247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C0C0"/>
                </a:solidFill>
                <a:latin typeface="Microsoft JhengHei"/>
              </a:defRPr>
            </a:pPr>
            <a:r>
              <a:t>🕊️ 月衡鶴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C0C0C0"/>
                </a:solidFill>
                <a:latin typeface="Microsoft JhengHei"/>
              </a:defRPr>
            </a:pPr>
            <a:r>
              <a:t>金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天秤座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月光翅膀、天秤光陣、晝夜等分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16-qiufen/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8271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🐱 霜菊貓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貓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天秤座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菊花冠飾、寒霜毛色、深秋寧靜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17-hanlu/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755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295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🐺 霜狼靈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狼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天蠍座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銀霜皮毛、冰晶呼吸、孤月嚎叫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18-shuangjiang/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4B4FF"/>
                </a:solidFill>
                <a:latin typeface="Microsoft JhengHei"/>
              </a:defRPr>
            </a:pPr>
            <a:r>
              <a:t>五、❄️ 冬季靈寵（立冬 → 大寒）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070"/>
                </a:solidFill>
                <a:latin typeface="Microsoft JhengHei"/>
              </a:defRPr>
            </a:pPr>
            <a:r>
              <a:t>主色調：冰藍 #64B4FF · 深紫 #4A2080 · 極光 #00FFA0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B4FF"/>
                </a:solidFill>
                <a:latin typeface="Microsoft JhengHei"/>
              </a:defRPr>
            </a:pPr>
            <a:r>
              <a:t>冬眠熊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立冬  11/7–11/21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熊  天蠍座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厚實毛皮、冬眠蜷縮、蓄能守護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19-lidong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1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B4FF"/>
                </a:solidFill>
                <a:latin typeface="Microsoft JhengHei"/>
              </a:defRPr>
            </a:pPr>
            <a:r>
              <a:t>雪兔仙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991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小雪  11/22–12/6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兔  射手座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991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白色長耳、初雪飄落、輕盈跳躍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991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20-xiaoxue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B4FF"/>
                </a:solidFill>
                <a:latin typeface="Microsoft JhengHei"/>
              </a:defRPr>
            </a:pPr>
            <a:r>
              <a:t>雪鴞靈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223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大雪  12/7–12/21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223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貓頭鷹  射手座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雪白羽毛、暗夜慧眼、風雪中守望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21-daxue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B4FF"/>
                </a:solidFill>
                <a:latin typeface="Microsoft JhengHei"/>
              </a:defRPr>
            </a:pPr>
            <a:r>
              <a:t>玄冰龍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冬至  12/22–1/4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龍  摩羯座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冰晶龍鱗、極寒吐息、冬至轉陽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6247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22-dongzhi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B4FF"/>
                </a:solidFill>
                <a:latin typeface="Microsoft JhengHei"/>
              </a:defRPr>
            </a:pPr>
            <a:r>
              <a:t>寒星鯨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小寒  1/5–1/19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B4FF"/>
                </a:solidFill>
                <a:latin typeface="Microsoft JhengHei"/>
              </a:defRPr>
            </a:pPr>
            <a:r>
              <a:t>水  鯨  摩羯座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271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星辰鯨身、深海潛行、寒夜星空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23-xiaohan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20" y="1188720"/>
            <a:ext cx="1783080" cy="17373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0" y="120700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Microsoft JhengHei"/>
              </a:defRPr>
            </a:pPr>
            <a:r>
              <a:t>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2952" y="1627632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B4FF"/>
                </a:solidFill>
                <a:latin typeface="Microsoft JhengHei"/>
              </a:defRPr>
            </a:pPr>
            <a:r>
              <a:t>極光鳳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184708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大寒  1/20–2/3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2952" y="2029968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C107"/>
                </a:solidFill>
                <a:latin typeface="Microsoft JhengHei"/>
              </a:defRPr>
            </a:pPr>
            <a:r>
              <a:t>土  鳳凰  水瓶座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2212848"/>
            <a:ext cx="17282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070"/>
                </a:solidFill>
                <a:latin typeface="Microsoft JhengHei"/>
              </a:defRPr>
            </a:pPr>
            <a:r>
              <a:t>極光羽翼、嚴冬中重生、春之預兆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2952" y="2697480"/>
            <a:ext cx="1728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555045"/>
                </a:solidFill>
                <a:latin typeface="Microsoft JhengHei"/>
              </a:defRPr>
            </a:pPr>
            <a:r>
              <a:t>24-dahan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🐻 冬眠熊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熊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天蠍座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厚實毛皮、冬眠蜷縮、蓄能守護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19-lidong/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21991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🐇 雪兔仙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40279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兔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射手座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白色長耳、初雪飄落、輕盈跳躍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20-xiaoxue/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4223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🦉 雪鴞靈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貓頭鷹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射手座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雪白羽毛、暗夜慧眼、風雪中守望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21-daxue/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6247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🐉 玄冰龍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龍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摩羯座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冰晶龍鱗、極寒吐息、冬至轉陽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22-dongzhi/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8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8271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4FF"/>
                </a:solidFill>
                <a:latin typeface="Microsoft JhengHei"/>
              </a:defRPr>
            </a:pPr>
            <a:r>
              <a:t>🐋 寒星鯨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鯨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64B4FF"/>
                </a:solidFill>
                <a:latin typeface="Microsoft JhengHei"/>
              </a:defRPr>
            </a:pPr>
            <a:r>
              <a:t>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摩羯座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星辰鯨身、深海潛行、寒夜星空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23-xiaohan/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75520" y="3108960"/>
            <a:ext cx="1783080" cy="3474720"/>
          </a:xfrm>
          <a:prstGeom prst="rect">
            <a:avLst/>
          </a:prstGeom>
          <a:solidFill>
            <a:srgbClr val="101018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2952" y="3154680"/>
            <a:ext cx="17282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C107"/>
                </a:solidFill>
                <a:latin typeface="Microsoft JhengHei"/>
              </a:defRPr>
            </a:pPr>
            <a:r>
              <a:t>🔥 極光鳳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1240" y="3401568"/>
            <a:ext cx="1691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靈獸原型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鳳凰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五行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C107"/>
                </a:solidFill>
                <a:latin typeface="Microsoft JhengHei"/>
              </a:defRPr>
            </a:pPr>
            <a:r>
              <a:t>土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星座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900" b="0">
                <a:solidFill>
                  <a:srgbClr val="FFFFFF"/>
                </a:solidFill>
                <a:latin typeface="Microsoft JhengHei"/>
              </a:defRPr>
            </a:pPr>
            <a:r>
              <a:t>水瓶座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設計關鍵字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極光羽翼、嚴冬中重生、春之預兆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3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F5E69A"/>
                </a:solidFill>
                <a:latin typeface="Microsoft JhengHei"/>
              </a:defRPr>
            </a:pPr>
            <a:r>
              <a:t>資料夾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888070"/>
                </a:solidFill>
                <a:latin typeface="Microsoft JhengHei"/>
              </a:defRPr>
            </a:pPr>
            <a:r>
              <a:t>24-dahan/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六、進化系統（3 階段）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566160" cy="5029200"/>
          </a:xfrm>
          <a:prstGeom prst="rect">
            <a:avLst/>
          </a:prstGeom>
          <a:solidFill>
            <a:srgbClr val="14141E"/>
          </a:solidFill>
          <a:ln w="12700">
            <a:solidFill>
              <a:srgbClr val="888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C547"/>
                </a:solidFill>
                <a:latin typeface="Microsoft JhengHei"/>
              </a:defRPr>
            </a:pPr>
            <a: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88070"/>
                </a:solidFill>
                <a:latin typeface="Microsoft JhengHei"/>
              </a:defRPr>
            </a:pPr>
            <a:r>
              <a:t>初始型態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evo-1.png  |  1024×1024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103120"/>
            <a:ext cx="3291840" cy="13716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設計描述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體型小、簡單光環</a:t>
            </a:r>
            <a:br/>
            <a:r>
              <a:t>單色光暈、天真表情</a:t>
            </a:r>
            <a:br/>
            <a:r>
              <a:t>剛被召喚的幼生體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291840" cy="13716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01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Prompt 關鍵字（英文）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200400" cy="100584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small, baby-like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simple aura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single color glow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innocent expression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範例：青芽鹿 初始型態</a:t>
            </a:r>
            <a:br/>
            <a:r>
              <a:t>🦌 → 🦌✨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05840"/>
            <a:ext cx="3566160" cy="5029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C547"/>
                </a:solidFill>
                <a:latin typeface="Microsoft JhengHei"/>
              </a:defRPr>
            </a:pPr>
            <a:r>
              <a:t>⭐⭐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覺醒型態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evo-2.png  |  1024×1024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103120"/>
            <a:ext cx="3291840" cy="13716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1214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設計描述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31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體型中等、更多細節</a:t>
            </a:r>
            <a:br/>
            <a:r>
              <a:t>配件/輕甲裝飾</a:t>
            </a:r>
            <a:br/>
            <a:r>
              <a:t>雙色光暈、自信神態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3611880"/>
            <a:ext cx="3291840" cy="13716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6301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Prompt 關鍵字（英文）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840480"/>
            <a:ext cx="3200400" cy="100584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medium, detailed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stronger aura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accessories/armor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dual color glow, confident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範例：青芽鹿 覺醒型態</a:t>
            </a:r>
            <a:br/>
            <a:r>
              <a:t>🦌 → 🦌✨✨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005840"/>
            <a:ext cx="3566160" cy="502920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C547"/>
                </a:solidFill>
                <a:latin typeface="Microsoft JhengHei"/>
              </a:defRPr>
            </a:pPr>
            <a:r>
              <a:t>⭐⭐⭐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Microsoft JhengHei"/>
              </a:defRPr>
            </a:pPr>
            <a:r>
              <a:t>終極型態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evo-3.png  |  1024×1024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20" y="2103120"/>
            <a:ext cx="3291840" cy="13716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21214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設計描述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3317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體型威武、完整裝甲</a:t>
            </a:r>
            <a:br/>
            <a:r>
              <a:t>多色強烈光環</a:t>
            </a:r>
            <a:br/>
            <a:r>
              <a:t>星座紋路、神聖感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3611880"/>
            <a:ext cx="3291840" cy="1371600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6301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E69A"/>
                </a:solidFill>
                <a:latin typeface="Microsoft JhengHei"/>
              </a:defRPr>
            </a:pPr>
            <a:r>
              <a:t>Prompt 關鍵字（英文）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840480"/>
            <a:ext cx="3200400" cy="100584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majestic, full armor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intense multi-color aura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constellation patterns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divine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120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範例：青芽鹿 終極型態</a:t>
            </a:r>
            <a:br/>
            <a:r>
              <a:t>🦌 → 🦌✨✨✨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23620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9C47"/>
                </a:solidFill>
                <a:latin typeface="Microsoft JhengHei"/>
              </a:defRPr>
            </a:pPr>
            <a:r>
              <a:t>觸發等級：Lv.10（覺醒）· Lv.20（終極）  |  等級上限：免費 Lv.10 / 會員 Lv.20 / 至尊無限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七、動畫素材 + AI 生圖 Prompt 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30352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B4FF"/>
                </a:solidFill>
                <a:latin typeface="Microsoft JhengHei"/>
              </a:defRPr>
            </a:pPr>
            <a:r>
              <a:t>動畫素材（Lottie JSON）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070"/>
                </a:solidFill>
                <a:latin typeface="Microsoft JhengHei"/>
              </a:defRPr>
            </a:pPr>
            <a:r>
              <a:t>assets/pets/animations/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{pet-id}-idle.json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待機動畫：輕微浮動、呼吸光效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{pet-id}-happy.json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開心動畫：跳躍、發光、星星特效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200" b="1">
                <a:solidFill>
                  <a:srgbClr val="F5E69A"/>
                </a:solidFill>
                <a:latin typeface="Microsoft JhengHei"/>
              </a:defRPr>
            </a:pPr>
            <a:r>
              <a:t>{pet-id}-talk.json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說話動畫：嘴巴微動、表情變化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005840"/>
            <a:ext cx="5669280" cy="2286000"/>
          </a:xfrm>
          <a:prstGeom prst="rect">
            <a:avLst/>
          </a:prstGeom>
          <a:solidFill>
            <a:srgbClr val="14141E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Microsoft JhengHei"/>
              </a:defRPr>
            </a:pPr>
            <a:r>
              <a:t>AI 生圖通用 Prompt 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212080" cy="169164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A cute mystical [靈獸名稱] spirit pet,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Chinese fantasy style,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[季節色系] glowing aura,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semi-transparent ethereal body,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inspired by "[節氣英文]"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and [星座] constellation,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dark background (#08080f),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golden sparkle particles,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chibi proportions,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friendly expression,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mystical floating pose,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[設計關鍵字],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high quality game art,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800">
                <a:solidFill>
                  <a:srgbClr val="F5E69A"/>
                </a:solidFill>
                <a:latin typeface="Consolas"/>
              </a:defRPr>
            </a:pPr>
            <a:r>
              <a:t>PNG transparent background, 1024x1024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5669280" cy="3108960"/>
          </a:xfrm>
          <a:prstGeom prst="rect">
            <a:avLst/>
          </a:prstGeom>
          <a:solidFill>
            <a:srgbClr val="14141E"/>
          </a:solidFill>
          <a:ln w="12700">
            <a:solidFill>
              <a:srgbClr val="7BC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C96F"/>
                </a:solidFill>
                <a:latin typeface="Microsoft JhengHei"/>
              </a:defRPr>
            </a:pPr>
            <a:r>
              <a:t>範例 Prompt：🦌 青芽鹿（立春·木·水瓶座）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5212080" cy="24688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A cute mystical young deer spirit pet,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Chinese fantasy style,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fresh green glowing aura with spring buds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growing from its antlers,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inspired by "Beginning of Spring"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and Aquarius constellation,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dark background (#08080f),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golden sparkle particles,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chibi proportions, hopeful expression,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new sprouts and petals floating,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semi-transparent ethereal body,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high quality game art,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PNG transparent background, 1024x1024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520440"/>
            <a:ext cx="5486400" cy="3108960"/>
          </a:xfrm>
          <a:prstGeom prst="rect">
            <a:avLst/>
          </a:prstGeom>
          <a:solidFill>
            <a:srgbClr val="14141E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B4FF"/>
                </a:solidFill>
                <a:latin typeface="Microsoft JhengHei"/>
              </a:defRPr>
            </a:pPr>
            <a:r>
              <a:t>範例 Prompt：🐉 玄冰龍（冬至·水·摩羯座）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5029200" cy="246888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A cute mystical ice dragon spirit pet,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Chinese fantasy style,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icy blue (#64b4ff) glowing aura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with frost crystal scales,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inspired by "Winter Solstice"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and Capricorn constellation,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dark background (#08080f),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aurora borealis particles,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chibi proportions,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serene yet powerful expression,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ice breath effect,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constellation pattern on body,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high quality game art,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F5E69A"/>
                </a:solidFill>
                <a:latin typeface="Consolas"/>
              </a:defRPr>
            </a:pPr>
            <a:r>
              <a:t>PNG transparent background, 1024x1024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八、資料夾結構 + 總數量統計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5029200"/>
          </a:xfrm>
          <a:prstGeom prst="rect">
            <a:avLst/>
          </a:prstGeom>
          <a:solidFill>
            <a:srgbClr val="1A1A28"/>
          </a:solidFill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assets/pets/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├── 01-lichun/        # 立春 — 青芽鹿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│   ├── avatar.png    (512×512)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│   ├── full.png      (1024×1024)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│   ├── evo-1.png     (1024×1024)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│   ├── evo-2.png     (1024×1024)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│   ├── evo-3.png     (1024×1024)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│   └── icon.png      (128×128)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├── 02-yushui/        # 雨水 — 潤澤蛙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├── 03-jingzhe/       # 驚蟄 — 雷蟲龍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│  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├── 24-dahan/         # 大寒 — 極光鳳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└── animations/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    ├── 01-lichun-idle.json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    ├── 01-lichun-happy.json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    ├── 01-lichun-talk.json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    │  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5E69A"/>
                </a:solidFill>
                <a:latin typeface="Consolas"/>
              </a:defRPr>
            </a:pPr>
            <a:r>
              <a:t>    └── 24-dahan-talk.json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0" y="914400"/>
            <a:ext cx="5029200" cy="3657600"/>
          </a:xfrm>
          <a:prstGeom prst="rect">
            <a:avLst/>
          </a:prstGeom>
          <a:solidFill>
            <a:srgbClr val="14141E"/>
          </a:solidFill>
          <a:ln w="12700">
            <a:solidFill>
              <a:srgbClr val="E89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9C47"/>
                </a:solidFill>
                <a:latin typeface="Microsoft JhengHei"/>
              </a:defRPr>
            </a:pPr>
            <a:r>
              <a:t>總數量統計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靈寵數量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14630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24 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642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92640" y="166420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949440" y="18653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每隻圖片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86537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6 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6654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avatar.png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665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×24 = 24 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26771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full.png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677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×24 = 24 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68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evo-1/2/3.png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4688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×24 = 72 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700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icon.png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67004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×24 = 24 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87121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692640" y="287121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949440" y="307238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JhengHei"/>
              </a:defRPr>
            </a:pPr>
            <a:r>
              <a:t>每隻動畫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7238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3 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735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070"/>
                </a:solidFill>
                <a:latin typeface="Microsoft JhengHei"/>
              </a:defRPr>
            </a:pPr>
            <a:r>
              <a:t>  idle/happy/talk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2735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070"/>
                </a:solidFill>
                <a:latin typeface="Microsoft JhengHei"/>
              </a:defRPr>
            </a:pPr>
            <a:r>
              <a:t>×24 = 72 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794760"/>
            <a:ext cx="4663440" cy="365760"/>
          </a:xfrm>
          <a:prstGeom prst="rect">
            <a:avLst/>
          </a:prstGeom>
          <a:solidFill>
            <a:srgbClr val="E89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8130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080F"/>
                </a:solidFill>
                <a:latin typeface="Microsoft JhengHei"/>
              </a:defRPr>
            </a:pPr>
            <a:r>
              <a:t>圖片合計 144 張 + 動畫 72 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4389120"/>
            <a:ext cx="5029200" cy="1554480"/>
          </a:xfrm>
          <a:prstGeom prst="rect">
            <a:avLst/>
          </a:prstGeom>
          <a:solidFill>
            <a:srgbClr val="14141E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C547"/>
                </a:solidFill>
                <a:latin typeface="Microsoft JhengHei"/>
              </a:defRPr>
            </a:pPr>
            <a:r>
              <a:t>交付格式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846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圖片：PNG 透明背景，sRGB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動畫：Lottie JSON 格式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命名：全小寫，連字號分隔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FFFFF"/>
                </a:solidFill>
                <a:latin typeface="Microsoft JhengHei"/>
              </a:defRPr>
            </a:pPr>
            <a:r>
              <a:t>品質：無壓縮，保持清晰度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