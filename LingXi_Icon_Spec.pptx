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8C547"/>
                </a:solidFill>
                <a:latin typeface="Microsoft JhengHei"/>
              </a:defRPr>
            </a:pPr>
            <a:r>
              <a:t>靈犀 LingXi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1945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5E69A"/>
                </a:solidFill>
                <a:latin typeface="Microsoft JhengHei"/>
              </a:defRPr>
            </a:pPr>
            <a:r>
              <a:t>🎨 Icon 美工規格書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JhengHei"/>
              </a:defRPr>
            </a:pPr>
            <a:r>
              <a:t>交給 AI 美工（Midjourney / DALL-E / Stable Diffusion）的完整指引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9C47"/>
                </a:solidFill>
                <a:latin typeface="Microsoft JhengHei"/>
              </a:defRPr>
            </a:pPr>
            <a:r>
              <a:t>合計 61 張圖標（不含 24 隻靈寵）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5303520"/>
            <a:ext cx="1097280" cy="5486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53218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8080F"/>
                </a:solidFill>
                <a:latin typeface="Microsoft JhengHei"/>
              </a:defRPr>
            </a:pPr>
            <a:r>
              <a:t>#E8C547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5961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8080F"/>
                </a:solidFill>
                <a:latin typeface="Microsoft JhengHei"/>
              </a:defRPr>
            </a:pPr>
            <a:r>
              <a:t>主金色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5303520"/>
            <a:ext cx="1097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53218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8080F"/>
                </a:solidFill>
                <a:latin typeface="Microsoft JhengHei"/>
              </a:defRPr>
            </a:pPr>
            <a:r>
              <a:t>#08080F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55961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8080F"/>
                </a:solidFill>
                <a:latin typeface="Microsoft JhengHei"/>
              </a:defRPr>
            </a:pPr>
            <a:r>
              <a:t>深黑底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5303520"/>
            <a:ext cx="1097280" cy="548640"/>
          </a:xfrm>
          <a:prstGeom prst="rect">
            <a:avLst/>
          </a:prstGeom>
          <a:solidFill>
            <a:srgbClr val="F5E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53218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8080F"/>
                </a:solidFill>
                <a:latin typeface="Microsoft JhengHei"/>
              </a:defRPr>
            </a:pPr>
            <a:r>
              <a:t>#F5E69A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55961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8080F"/>
                </a:solidFill>
                <a:latin typeface="Microsoft JhengHei"/>
              </a:defRPr>
            </a:pPr>
            <a:r>
              <a:t>暖金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79" y="5303520"/>
            <a:ext cx="1097280" cy="548640"/>
          </a:xfrm>
          <a:prstGeom prst="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9" y="53218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#64B4FF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55961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靈藍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5303520"/>
            <a:ext cx="1097280" cy="5486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53218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#A78BFA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55961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靈紫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5303520"/>
            <a:ext cx="1097280" cy="548640"/>
          </a:xfrm>
          <a:prstGeom prst="rect">
            <a:avLst/>
          </a:prstGeom>
          <a:solidFill>
            <a:srgbClr val="64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53218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#64C878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55961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靈綠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6035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070"/>
                </a:solidFill>
                <a:latin typeface="Microsoft JhengHei"/>
              </a:defRPr>
            </a:pPr>
            <a:r>
              <a:t>風格：東方神秘感 · 低調奢華 · 金色光暈 · 古籍符文 + 現代極簡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一、App Icon + Splash Screen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5486400" cy="27432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App Icon（應用程式圖標）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070"/>
                </a:solidFill>
                <a:latin typeface="Microsoft JhengHei"/>
              </a:defRPr>
            </a:pPr>
            <a:r>
              <a:t>assets/icons/app/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1371600" cy="1371600"/>
          </a:xfrm>
          <a:prstGeom prst="rect">
            <a:avLst/>
          </a:prstGeom>
          <a:solidFill>
            <a:srgbClr val="0A0A12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Microsoft JhengHei"/>
              </a:defRPr>
            </a:pPr>
            <a:r>
              <a:t>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070"/>
                </a:solidFill>
                <a:latin typeface="Microsoft JhengHei"/>
              </a:defRPr>
            </a:pPr>
            <a:r>
              <a:t>1024×1024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8288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F5E69A"/>
                </a:solidFill>
                <a:latin typeface="Microsoft JhengHei"/>
              </a:defRPr>
            </a:pPr>
            <a:r>
              <a:t>設計描述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深黑 #08080F 背景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中央：金色靈犀角/水晶球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散發金色光暈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周圍有微弱八卦紋路環繞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C44040"/>
                </a:solidFill>
                <a:latin typeface="Microsoft JhengHei"/>
              </a:defRPr>
            </a:pPr>
            <a:r>
              <a:t>不要文字，純圖形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尺寸：1024/512/192/180/120/76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+ foreground.png（Android adaptive）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23360"/>
            <a:ext cx="5486400" cy="2560320"/>
          </a:xfrm>
          <a:prstGeom prst="rect">
            <a:avLst/>
          </a:prstGeom>
          <a:solidFill>
            <a:srgbClr val="14141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Microsoft JhengHei"/>
              </a:defRPr>
            </a:pPr>
            <a:r>
              <a:t>Splash Screen（啟動畫面）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070"/>
                </a:solidFill>
                <a:latin typeface="Microsoft JhengHei"/>
              </a:defRPr>
            </a:pPr>
            <a:r>
              <a:t>assets/icons/splash/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846320"/>
            <a:ext cx="1097280" cy="1371600"/>
          </a:xfrm>
          <a:prstGeom prst="rect">
            <a:avLst/>
          </a:prstGeom>
          <a:solidFill>
            <a:srgbClr val="0A0A12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8C547"/>
                </a:solidFill>
                <a:latin typeface="Microsoft JhengHei"/>
              </a:defRPr>
            </a:pPr>
            <a:r>
              <a:t>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靈犀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1284×2778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84632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F5E69A"/>
                </a:solidFill>
                <a:latin typeface="Microsoft JhengHei"/>
              </a:defRPr>
            </a:pPr>
            <a:r>
              <a:t>設計描述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全屏深黑 #08080F 背景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中央：金色靈犀角 Logo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下方：「靈犀」毛筆書法（金色）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底部微弱金色粒子散佈效果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E89C47"/>
                </a:solidFill>
                <a:latin typeface="Microsoft JhengHei"/>
              </a:defRPr>
            </a:pPr>
            <a:r>
              <a:t>整體感覺：沉穩大氣、有儀式感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005840"/>
            <a:ext cx="5303520" cy="5577840"/>
          </a:xfrm>
          <a:prstGeom prst="rect">
            <a:avLst/>
          </a:prstGeom>
          <a:solidFill>
            <a:srgbClr val="14141E"/>
          </a:solidFill>
          <a:ln w="12700">
            <a:solidFill>
              <a:srgbClr val="3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097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檔案清單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55448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App Icon（7 張）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  icon-1024.png    1024×1024  App Store/Play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  icon-512.png     512×512    Android adaptive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  icon-192.png     192×192    Android launcher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  icon-180.png     180×180    iOS @3x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  icon-120.png     120×120    iOS @2x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  icon-76.png      76×76      iPad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  icon-foreground   1024×1024  Android 前景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A78BFA"/>
                </a:solidFill>
                <a:latin typeface="Microsoft JhengHei"/>
              </a:defRPr>
            </a:pPr>
            <a:r>
              <a:t>Splash Screen（3 張）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  splash.png       1284×2778  iPhone 基準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  splash-tablet     2048×2732  iPad Pro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  splash-logo       512×512    置中 Logo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二、Tab Bar 圖標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070"/>
                </a:solidFill>
                <a:latin typeface="Microsoft JhengHei"/>
              </a:defRPr>
            </a:pPr>
            <a:r>
              <a:t>assets/icons/tab-bar/   |   4 張（2 組 × 未選中/選中）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60320" cy="2286000"/>
          </a:xfrm>
          <a:prstGeom prst="rect">
            <a:avLst/>
          </a:prstGeom>
          <a:solidFill>
            <a:srgbClr val="14141E"/>
          </a:solidFill>
          <a:ln w="12700">
            <a:solidFill>
              <a:srgbClr val="888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JhengHei"/>
              </a:defRPr>
            </a:pPr>
            <a:r>
              <a:t>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E69A"/>
                </a:solidFill>
                <a:latin typeface="Microsoft JhengHei"/>
              </a:defRPr>
            </a:pPr>
            <a:r>
              <a:t>tab-pet.png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靈寵 Tab</a:t>
            </a:r>
            <a:br/>
            <a:r>
              <a:t>水晶球/靈犀角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88070"/>
                </a:solidFill>
                <a:latin typeface="Microsoft JhengHei"/>
              </a:defRPr>
            </a:pPr>
            <a:r>
              <a:t>未選中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371600"/>
            <a:ext cx="2560320" cy="22860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8C547"/>
                </a:solidFill>
                <a:latin typeface="Microsoft JhengHei"/>
              </a:defRPr>
            </a:pPr>
            <a:r>
              <a:t>🔮✨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057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E69A"/>
                </a:solidFill>
                <a:latin typeface="Microsoft JhengHei"/>
              </a:defRPr>
            </a:pPr>
            <a:r>
              <a:t>tab-pet-active.png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774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靈寵 Tab（選中）</a:t>
            </a:r>
            <a:br/>
            <a:r>
              <a:t>金色發光版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108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C547"/>
                </a:solidFill>
                <a:latin typeface="Microsoft JhengHei"/>
              </a:defRPr>
            </a:pPr>
            <a:r>
              <a:t>選中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371600"/>
            <a:ext cx="2560320" cy="2286000"/>
          </a:xfrm>
          <a:prstGeom prst="rect">
            <a:avLst/>
          </a:prstGeom>
          <a:solidFill>
            <a:srgbClr val="14141E"/>
          </a:solidFill>
          <a:ln w="12700">
            <a:solidFill>
              <a:srgbClr val="888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JhengHei"/>
              </a:defRPr>
            </a:pPr>
            <a:r>
              <a:t>⚙️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57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E69A"/>
                </a:solidFill>
                <a:latin typeface="Microsoft JhengHei"/>
              </a:defRPr>
            </a:pPr>
            <a:r>
              <a:t>tab-profile.png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774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我的 Tab</a:t>
            </a:r>
            <a:br/>
            <a:r>
              <a:t>齒輪/設定符號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108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88070"/>
                </a:solidFill>
                <a:latin typeface="Microsoft JhengHei"/>
              </a:defRPr>
            </a:pPr>
            <a:r>
              <a:t>未選中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371600"/>
            <a:ext cx="2560320" cy="22860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8C547"/>
                </a:solidFill>
                <a:latin typeface="Microsoft JhengHei"/>
              </a:defRPr>
            </a:pPr>
            <a:r>
              <a:t>⚙️✨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057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E69A"/>
                </a:solidFill>
                <a:latin typeface="Microsoft JhengHei"/>
              </a:defRPr>
            </a:pPr>
            <a:r>
              <a:t>tab-profile-active.png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3774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我的 Tab（選中）</a:t>
            </a:r>
            <a:br/>
            <a:r>
              <a:t>金色發光版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108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C547"/>
                </a:solidFill>
                <a:latin typeface="Microsoft JhengHei"/>
              </a:defRPr>
            </a:pPr>
            <a:r>
              <a:t>選中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23360"/>
            <a:ext cx="11247120" cy="256032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114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設計規格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F5E69A"/>
                </a:solidFill>
                <a:latin typeface="Microsoft JhengHei"/>
              </a:defRPr>
            </a:pPr>
            <a:r>
              <a:t>尺寸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96×96 px（@3x 基準）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同時提供 64×64（@2x）、32×32（@1x）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F5E69A"/>
                </a:solidFill>
                <a:latin typeface="Microsoft JhengHei"/>
              </a:defRPr>
            </a:pPr>
            <a:r>
              <a:t>背景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透明 PNG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F5E69A"/>
                </a:solidFill>
                <a:latin typeface="Microsoft JhengHei"/>
              </a:defRPr>
            </a:pPr>
            <a:r>
              <a:t>配色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未選中：暗金半透明 #88807050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E8C547"/>
                </a:solidFill>
                <a:latin typeface="Microsoft JhengHei"/>
              </a:defRPr>
            </a:pPr>
            <a:r>
              <a:t>選中：金色 #E8C547 + 微光暈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F5E69A"/>
                </a:solidFill>
                <a:latin typeface="Microsoft JhengHei"/>
              </a:defRPr>
            </a:pPr>
            <a:r>
              <a:t>風格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細線描邊，東方符文感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三、Action Bar 圖標（養成 + 靈寵能力）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070"/>
                </a:solidFill>
                <a:latin typeface="Microsoft JhengHei"/>
              </a:defRPr>
            </a:pPr>
            <a:r>
              <a:t>養成互動  assets/icons/action-bar/nurture/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566160" cy="22860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icrosoft JhengHei"/>
              </a:defRPr>
            </a:pPr>
            <a:r>
              <a:t>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feed.png  —  餵食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金色靈丹/仙果</a:t>
            </a:r>
            <a:br/>
            <a:r>
              <a:t>散發暖光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C878"/>
                </a:solidFill>
                <a:latin typeface="Microsoft JhengHei"/>
              </a:defRPr>
            </a:pPr>
            <a:r>
              <a:t>+50 EXP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566160" cy="22860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371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icrosoft JhengHei"/>
              </a:defRPr>
            </a:pPr>
            <a:r>
              <a:t>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288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play.png  —  玩耍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488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發光靈珠/水晶球</a:t>
            </a:r>
            <a:br/>
            <a:r>
              <a:t>玩耍意象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743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C878"/>
                </a:solidFill>
                <a:latin typeface="Microsoft JhengHei"/>
              </a:defRPr>
            </a:pPr>
            <a:r>
              <a:t>+30 EXP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3566160" cy="22860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371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icrosoft JhengHei"/>
              </a:defRPr>
            </a:pPr>
            <a:r>
              <a:t>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8288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meditate.png  —  冥想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488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蓮花/打坐剪影</a:t>
            </a:r>
            <a:br/>
            <a:r>
              <a:t>帶光環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743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C878"/>
                </a:solidFill>
                <a:latin typeface="Microsoft JhengHei"/>
              </a:defRPr>
            </a:pPr>
            <a:r>
              <a:t>+20 EXP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070"/>
                </a:solidFill>
                <a:latin typeface="Microsoft JhengHei"/>
              </a:defRPr>
            </a:pPr>
            <a:r>
              <a:t>靈寵能力  assets/icons/action-bar/ability/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3566160" cy="2377440"/>
          </a:xfrm>
          <a:prstGeom prst="rect">
            <a:avLst/>
          </a:prstGeom>
          <a:solidFill>
            <a:srgbClr val="14141E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2976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4B4FF"/>
                </a:solidFill>
                <a:latin typeface="Microsoft JhengHei"/>
              </a:defRPr>
            </a:pPr>
            <a:r>
              <a:t>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54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B4FF"/>
                </a:solidFill>
                <a:latin typeface="Microsoft JhengHei"/>
              </a:defRPr>
            </a:pPr>
            <a:r>
              <a:t>eye.png  —  靈眼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749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豎立天眼/靈眼</a:t>
            </a:r>
            <a:br/>
            <a:r>
              <a:t>瞳孔發藍光</a:t>
            </a:r>
            <a:br/>
            <a:r>
              <a:t>周圍面相五官紋路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206240"/>
            <a:ext cx="3566160" cy="2377440"/>
          </a:xfrm>
          <a:prstGeom prst="rect">
            <a:avLst/>
          </a:prstGeom>
          <a:solidFill>
            <a:srgbClr val="14141E"/>
          </a:solidFill>
          <a:ln w="12700">
            <a:solidFill>
              <a:srgbClr val="64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42976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4C878"/>
                </a:solidFill>
                <a:latin typeface="Microsoft JhengHei"/>
              </a:defRPr>
            </a:pPr>
            <a:r>
              <a:t>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754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C878"/>
                </a:solidFill>
                <a:latin typeface="Microsoft JhengHei"/>
              </a:defRPr>
            </a:pPr>
            <a:r>
              <a:t>heart.png  —  靈心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0749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羅盤/指南針</a:t>
            </a:r>
            <a:br/>
            <a:r>
              <a:t>帶八卦底紋</a:t>
            </a:r>
            <a:br/>
            <a:r>
              <a:t>中心點發綠光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4206240"/>
            <a:ext cx="3566160" cy="2377440"/>
          </a:xfrm>
          <a:prstGeom prst="rect">
            <a:avLst/>
          </a:prstGeom>
          <a:solidFill>
            <a:srgbClr val="14141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42976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A78BFA"/>
                </a:solidFill>
                <a:latin typeface="Microsoft JhengHei"/>
              </a:defRPr>
            </a:pPr>
            <a:r>
              <a:t>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754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78BFA"/>
                </a:solidFill>
                <a:latin typeface="Microsoft JhengHei"/>
              </a:defRPr>
            </a:pPr>
            <a:r>
              <a:t>soul.png  —  靈魂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0749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靈魂燈籠/古燈</a:t>
            </a:r>
            <a:br/>
            <a:r>
              <a:t>發紫光</a:t>
            </a:r>
            <a:br/>
            <a:r>
              <a:t>燈籠刻卦象線條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621024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5E69A"/>
                </a:solidFill>
                <a:latin typeface="Microsoft JhengHei"/>
              </a:defRPr>
            </a:pPr>
            <a:r>
              <a:t>共通規格：128×128 px  |  透明背景  |  主體金色 #E8C547，各能力有專屬色系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四、Onboarding 引導圖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070"/>
                </a:solidFill>
                <a:latin typeface="Microsoft JhengHei"/>
              </a:defRPr>
            </a:pPr>
            <a:r>
              <a:t>assets/icons/onboarding/   |   5 張  |  512×512 px  |  透明背景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2148840" cy="347472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Microsoft JhengHei"/>
              </a:defRPr>
            </a:pPr>
            <a:r>
              <a:t>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96596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語言選擇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860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070"/>
                </a:solidFill>
                <a:latin typeface="Microsoft JhengHei"/>
              </a:defRPr>
            </a:pPr>
            <a:r>
              <a:t>step0-language.png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65176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地球儀+多語言符號</a:t>
            </a:r>
            <a:br/>
            <a:r>
              <a:t>（漢字/ABC/あ）</a:t>
            </a:r>
            <a:br/>
            <a:r>
              <a:t>金色調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39" y="1280160"/>
            <a:ext cx="2148840" cy="3474720"/>
          </a:xfrm>
          <a:prstGeom prst="rect">
            <a:avLst/>
          </a:prstGeom>
          <a:solidFill>
            <a:srgbClr val="14141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39" y="137160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Microsoft JhengHei"/>
              </a:defRPr>
            </a:pPr>
            <a:r>
              <a:t>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59" y="196596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Microsoft JhengHei"/>
              </a:defRPr>
            </a:pPr>
            <a:r>
              <a:t>歡迎畫面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59" y="22860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070"/>
                </a:solidFill>
                <a:latin typeface="Microsoft JhengHei"/>
              </a:defRPr>
            </a:pPr>
            <a:r>
              <a:t>step1-welcome.png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59" y="265176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靈犀 Logo 大圖</a:t>
            </a:r>
            <a:br/>
            <a:r>
              <a:t>光暈粒子效果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59" y="1280160"/>
            <a:ext cx="2148840" cy="347472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59" y="137160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Microsoft JhengHei"/>
              </a:defRPr>
            </a:pPr>
            <a:r>
              <a:t>✏️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79" y="196596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輸入姓名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79" y="22860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070"/>
                </a:solidFill>
                <a:latin typeface="Microsoft JhengHei"/>
              </a:defRPr>
            </a:pPr>
            <a:r>
              <a:t>step2-name.png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79" y="265176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一支毛筆書寫</a:t>
            </a:r>
            <a:br/>
            <a:r>
              <a:t>東方感符號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79" y="1280160"/>
            <a:ext cx="2148840" cy="3474720"/>
          </a:xfrm>
          <a:prstGeom prst="rect">
            <a:avLst/>
          </a:prstGeom>
          <a:solidFill>
            <a:srgbClr val="14141E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79" y="137160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Microsoft JhengHei"/>
              </a:defRPr>
            </a:pPr>
            <a:r>
              <a:t>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9" y="196596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B4FF"/>
                </a:solidFill>
                <a:latin typeface="Microsoft JhengHei"/>
              </a:defRPr>
            </a:pPr>
            <a:r>
              <a:t>出生資料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199" y="22860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070"/>
                </a:solidFill>
                <a:latin typeface="Microsoft JhengHei"/>
              </a:defRPr>
            </a:pPr>
            <a:r>
              <a:t>step3-birth.png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199" y="265176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星象盤/命盤輪盤</a:t>
            </a:r>
            <a:br/>
            <a:r>
              <a:t>天干地支刻度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1280160"/>
            <a:ext cx="2148840" cy="3474720"/>
          </a:xfrm>
          <a:prstGeom prst="rect">
            <a:avLst/>
          </a:prstGeom>
          <a:solidFill>
            <a:srgbClr val="14141E"/>
          </a:solidFill>
          <a:ln w="12700">
            <a:solidFill>
              <a:srgbClr val="E89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137160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Microsoft JhengHei"/>
              </a:defRPr>
            </a:pPr>
            <a:r>
              <a:t>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196596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9C47"/>
                </a:solidFill>
                <a:latin typeface="Microsoft JhengHei"/>
              </a:defRPr>
            </a:pPr>
            <a:r>
              <a:t>靈寵召喚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2860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070"/>
                </a:solidFill>
                <a:latin typeface="Microsoft JhengHei"/>
              </a:defRPr>
            </a:pPr>
            <a:r>
              <a:t>step4-summon.png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265176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金色光柱從天而降</a:t>
            </a:r>
            <a:br/>
            <a:r>
              <a:t>剪影靈獸降臨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5029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E69A"/>
                </a:solidFill>
                <a:latin typeface="Microsoft JhengHei"/>
              </a:defRPr>
            </a:pPr>
            <a:r>
              <a:t>Step 0 ──→ Step 1 ──→ Step 2 ──→ Step 3 ──→ Step 4 ──→ 進入靈寵主畫面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577840"/>
            <a:ext cx="11247120" cy="1005840"/>
          </a:xfrm>
          <a:prstGeom prst="rect">
            <a:avLst/>
          </a:prstGeom>
          <a:solidFill>
            <a:srgbClr val="14141E"/>
          </a:solidFill>
          <a:ln w="12700">
            <a:solidFill>
              <a:srgbClr val="E89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6692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E89C47"/>
                </a:solidFill>
                <a:latin typeface="Microsoft JhengHei"/>
              </a:defRPr>
            </a:pPr>
            <a:r>
              <a:t>設計提醒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每張都是精緻插圖，金色主調，風格統一。Step 4 是最重要的一張 — 靈寵降臨的儀式感決定了使用者第一印象。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五、Chat 對話類型標記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070"/>
                </a:solidFill>
                <a:latin typeface="Microsoft JhengHei"/>
              </a:defRPr>
            </a:pPr>
            <a:r>
              <a:t>assets/icons/chat-types/   |   7 張  |  64×64 px  |  用於對話氣泡左上角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1508760" cy="219456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8C547"/>
                </a:solidFill>
                <a:latin typeface="Microsoft JhengHei"/>
              </a:defRPr>
            </a:pPr>
            <a:r>
              <a:t>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874519"/>
            <a:ext cx="1472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E69A"/>
                </a:solidFill>
                <a:latin typeface="Microsoft JhengHei"/>
              </a:defRPr>
            </a:pPr>
            <a:r>
              <a:t>fortune.png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2148840"/>
            <a:ext cx="1472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每日運勢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2468880"/>
            <a:ext cx="1472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070"/>
                </a:solidFill>
                <a:latin typeface="Microsoft JhengHei"/>
              </a:defRPr>
            </a:pPr>
            <a:r>
              <a:t>五角星/命盤</a:t>
            </a:r>
          </a:p>
        </p:txBody>
      </p:sp>
      <p:sp>
        <p:nvSpPr>
          <p:cNvPr id="9" name="Rectangle 8"/>
          <p:cNvSpPr/>
          <p:nvPr/>
        </p:nvSpPr>
        <p:spPr>
          <a:xfrm>
            <a:off x="1938528" y="1280160"/>
            <a:ext cx="1508760" cy="2194560"/>
          </a:xfrm>
          <a:prstGeom prst="rect">
            <a:avLst/>
          </a:prstGeom>
          <a:solidFill>
            <a:srgbClr val="14141E"/>
          </a:solidFill>
          <a:ln w="12700">
            <a:solidFill>
              <a:srgbClr val="E89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38528" y="137160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89C47"/>
                </a:solidFill>
                <a:latin typeface="Microsoft JhengHei"/>
              </a:defRPr>
            </a:pPr>
            <a:r>
              <a:t>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1874519"/>
            <a:ext cx="1472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E69A"/>
                </a:solidFill>
                <a:latin typeface="Microsoft JhengHei"/>
              </a:defRPr>
            </a:pPr>
            <a:r>
              <a:t>outfit.png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56816" y="2148840"/>
            <a:ext cx="1472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9C47"/>
                </a:solidFill>
                <a:latin typeface="Microsoft JhengHei"/>
              </a:defRPr>
            </a:pPr>
            <a:r>
              <a:t>穿搭建議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6816" y="2468880"/>
            <a:ext cx="1472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070"/>
                </a:solidFill>
                <a:latin typeface="Microsoft JhengHei"/>
              </a:defRPr>
            </a:pPr>
            <a:r>
              <a:t>衣架/布料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2736" y="1280160"/>
            <a:ext cx="1508760" cy="2194560"/>
          </a:xfrm>
          <a:prstGeom prst="rect">
            <a:avLst/>
          </a:prstGeom>
          <a:solidFill>
            <a:srgbClr val="14141E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137160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B4FF"/>
                </a:solidFill>
                <a:latin typeface="Microsoft JhengHei"/>
              </a:defRPr>
            </a:pPr>
            <a:r>
              <a:t>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1874519"/>
            <a:ext cx="1472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E69A"/>
                </a:solidFill>
                <a:latin typeface="Microsoft JhengHei"/>
              </a:defRPr>
            </a:pPr>
            <a:r>
              <a:t>face.png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2148840"/>
            <a:ext cx="1472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B4FF"/>
                </a:solidFill>
                <a:latin typeface="Microsoft JhengHei"/>
              </a:defRPr>
            </a:pPr>
            <a:r>
              <a:t>面相結果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2468880"/>
            <a:ext cx="1472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070"/>
                </a:solidFill>
                <a:latin typeface="Microsoft JhengHei"/>
              </a:defRPr>
            </a:pPr>
            <a:r>
              <a:t>臉部輪廓線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66944" y="1280160"/>
            <a:ext cx="1508760" cy="2194560"/>
          </a:xfrm>
          <a:prstGeom prst="rect">
            <a:avLst/>
          </a:prstGeom>
          <a:solidFill>
            <a:srgbClr val="14141E"/>
          </a:solidFill>
          <a:ln w="12700">
            <a:solidFill>
              <a:srgbClr val="64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6944" y="137160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C878"/>
                </a:solidFill>
                <a:latin typeface="Microsoft JhengHei"/>
              </a:defRPr>
            </a:pPr>
            <a:r>
              <a:t>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1" y="1874519"/>
            <a:ext cx="1472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E69A"/>
                </a:solidFill>
                <a:latin typeface="Microsoft JhengHei"/>
              </a:defRPr>
            </a:pPr>
            <a:r>
              <a:t>fengshui.png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1" y="2148840"/>
            <a:ext cx="1472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C878"/>
                </a:solidFill>
                <a:latin typeface="Microsoft JhengHei"/>
              </a:defRPr>
            </a:pPr>
            <a:r>
              <a:t>風水結果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1" y="2468880"/>
            <a:ext cx="1472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070"/>
                </a:solidFill>
                <a:latin typeface="Microsoft JhengHei"/>
              </a:defRPr>
            </a:pPr>
            <a:r>
              <a:t>羅盤小圖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31152" y="1280160"/>
            <a:ext cx="1508760" cy="2194560"/>
          </a:xfrm>
          <a:prstGeom prst="rect">
            <a:avLst/>
          </a:prstGeom>
          <a:solidFill>
            <a:srgbClr val="14141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1152" y="137160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78BFA"/>
                </a:solidFill>
                <a:latin typeface="Microsoft JhengHei"/>
              </a:defRPr>
            </a:pPr>
            <a:r>
              <a:t>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1874519"/>
            <a:ext cx="1472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E69A"/>
                </a:solidFill>
                <a:latin typeface="Microsoft JhengHei"/>
              </a:defRPr>
            </a:pPr>
            <a:r>
              <a:t>divination.png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148840"/>
            <a:ext cx="1472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78BFA"/>
                </a:solidFill>
                <a:latin typeface="Microsoft JhengHei"/>
              </a:defRPr>
            </a:pPr>
            <a:r>
              <a:t>占卜結果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68880"/>
            <a:ext cx="1472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070"/>
                </a:solidFill>
                <a:latin typeface="Microsoft JhengHei"/>
              </a:defRPr>
            </a:pPr>
            <a:r>
              <a:t>卦象符號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1280160"/>
            <a:ext cx="1508760" cy="2194560"/>
          </a:xfrm>
          <a:prstGeom prst="rect">
            <a:avLst/>
          </a:prstGeom>
          <a:solidFill>
            <a:srgbClr val="14141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137160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D700"/>
                </a:solidFill>
                <a:latin typeface="Microsoft JhengHei"/>
              </a:defRPr>
            </a:pPr>
            <a:r>
              <a:t>⬆️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648" y="1874519"/>
            <a:ext cx="1472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E69A"/>
                </a:solidFill>
                <a:latin typeface="Microsoft JhengHei"/>
              </a:defRPr>
            </a:pPr>
            <a:r>
              <a:t>levelup.png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13648" y="2148840"/>
            <a:ext cx="1472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700"/>
                </a:solidFill>
                <a:latin typeface="Microsoft JhengHei"/>
              </a:defRPr>
            </a:pPr>
            <a:r>
              <a:t>升級通知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3648" y="2468880"/>
            <a:ext cx="1472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070"/>
                </a:solidFill>
                <a:latin typeface="Microsoft JhengHei"/>
              </a:defRPr>
            </a:pPr>
            <a:r>
              <a:t>上升箭頭+星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59568" y="1280160"/>
            <a:ext cx="1508760" cy="219456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59568" y="137160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8C547"/>
                </a:solidFill>
                <a:latin typeface="Microsoft JhengHei"/>
              </a:defRPr>
            </a:pPr>
            <a:r>
              <a:t>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77856" y="1874519"/>
            <a:ext cx="1472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E69A"/>
                </a:solidFill>
                <a:latin typeface="Microsoft JhengHei"/>
              </a:defRPr>
            </a:pPr>
            <a:r>
              <a:t>evolve.png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77856" y="2148840"/>
            <a:ext cx="1472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進化通知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77856" y="2468880"/>
            <a:ext cx="1472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070"/>
                </a:solidFill>
                <a:latin typeface="Microsoft JhengHei"/>
              </a:defRPr>
            </a:pPr>
            <a:r>
              <a:t>蛻變/展翅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840480"/>
            <a:ext cx="11247120" cy="118872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3931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各類型專屬色調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297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E8C547"/>
                </a:solidFill>
                <a:latin typeface="Microsoft JhengHei"/>
              </a:defRPr>
            </a:pPr>
            <a:r>
              <a:t>fortune → #E8C547 金色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E89C47"/>
                </a:solidFill>
                <a:latin typeface="Microsoft JhengHei"/>
              </a:defRPr>
            </a:pPr>
            <a:r>
              <a:t>outfit → #E89C47 暖橙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4B4FF"/>
                </a:solidFill>
                <a:latin typeface="Microsoft JhengHei"/>
              </a:defRPr>
            </a:pPr>
            <a:r>
              <a:t>face → #64B4FF 靈藍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4C878"/>
                </a:solidFill>
                <a:latin typeface="Microsoft JhengHei"/>
              </a:defRPr>
            </a:pPr>
            <a:r>
              <a:t>fengshui → #64C878 靈綠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A78BFA"/>
                </a:solidFill>
                <a:latin typeface="Microsoft JhengHei"/>
              </a:defRPr>
            </a:pPr>
            <a:r>
              <a:t>divination → #A78BFA 靈紫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FFD700"/>
                </a:solidFill>
                <a:latin typeface="Microsoft JhengHei"/>
              </a:defRPr>
            </a:pPr>
            <a:r>
              <a:t>levelup → #FFD700 亮金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F5E69A"/>
                </a:solidFill>
                <a:latin typeface="Microsoft JhengHei"/>
              </a:defRPr>
            </a:pPr>
            <a:r>
              <a:t>evolve → 彩虹漸層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212080"/>
            <a:ext cx="11247120" cy="1371600"/>
          </a:xfrm>
          <a:prstGeom prst="rect">
            <a:avLst/>
          </a:prstGeom>
          <a:solidFill>
            <a:srgbClr val="14141E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3035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B4FF"/>
                </a:solidFill>
                <a:latin typeface="Microsoft JhengHei"/>
              </a:defRPr>
            </a:pPr>
            <a:r>
              <a:t>使用位置示意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5715000"/>
            <a:ext cx="5486400" cy="731520"/>
          </a:xfrm>
          <a:prstGeom prst="rect">
            <a:avLst/>
          </a:prstGeom>
          <a:solidFill>
            <a:srgbClr val="1A1A28"/>
          </a:solidFill>
          <a:ln w="12700">
            <a:solidFill>
              <a:srgbClr val="3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5733288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⭐ 🦌 青芽鹿    08:00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5E69A"/>
                </a:solidFill>
                <a:latin typeface="Microsoft JhengHei"/>
              </a:defRPr>
            </a:pPr>
            <a:r>
              <a:t>主人早安～今日木氣旺盛，《滴天髓》云...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5806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← ⭐ 就是 fortune.png</a:t>
            </a:r>
            <a:br/>
            <a:r>
              <a:t>    顯示在對話氣泡左上角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六、升級 Modal + Profile 設定頁圖標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升級 Modal  assets/icons/upgrade/   |   4 張  |  256×256 px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651760" cy="18288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8C547"/>
                </a:solidFill>
                <a:latin typeface="Microsoft JhengHei"/>
              </a:defRPr>
            </a:pPr>
            <a:r>
              <a:t>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E69A"/>
                </a:solidFill>
                <a:latin typeface="Microsoft JhengHei"/>
              </a:defRPr>
            </a:pPr>
            <a:r>
              <a:t>member-badge.png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會員徽章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070"/>
                </a:solidFill>
                <a:latin typeface="Microsoft JhengHei"/>
              </a:defRPr>
            </a:pPr>
            <a:r>
              <a:t>金色星章</a:t>
            </a:r>
            <a:br/>
            <a:r>
              <a:t>帶「靈」字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280160"/>
            <a:ext cx="2651760" cy="1828800"/>
          </a:xfrm>
          <a:prstGeom prst="rect">
            <a:avLst/>
          </a:prstGeom>
          <a:solidFill>
            <a:srgbClr val="14141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25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78BFA"/>
                </a:solidFill>
                <a:latin typeface="Microsoft JhengHei"/>
              </a:defRPr>
            </a:pPr>
            <a:r>
              <a:t>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17830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E69A"/>
                </a:solidFill>
                <a:latin typeface="Microsoft JhengHei"/>
              </a:defRPr>
            </a:pPr>
            <a:r>
              <a:t>supreme-badge.png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2011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78BFA"/>
                </a:solidFill>
                <a:latin typeface="Microsoft JhengHei"/>
              </a:defRPr>
            </a:pPr>
            <a:r>
              <a:t>至尊徽章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070"/>
                </a:solidFill>
                <a:latin typeface="Microsoft JhengHei"/>
              </a:defRPr>
            </a:pPr>
            <a:r>
              <a:t>紫金皇冠章</a:t>
            </a:r>
            <a:br/>
            <a:r>
              <a:t>漸層更華麗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2651760" cy="1828800"/>
          </a:xfrm>
          <a:prstGeom prst="rect">
            <a:avLst/>
          </a:prstGeom>
          <a:solidFill>
            <a:srgbClr val="14141E"/>
          </a:solidFill>
          <a:ln w="12700">
            <a:solidFill>
              <a:srgbClr val="888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325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88070"/>
                </a:solidFill>
                <a:latin typeface="Microsoft JhengHei"/>
              </a:defRPr>
            </a:pPr>
            <a:r>
              <a:t>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7830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E69A"/>
                </a:solidFill>
                <a:latin typeface="Microsoft JhengHei"/>
              </a:defRPr>
            </a:pPr>
            <a:r>
              <a:t>quota-empty.png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011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88070"/>
                </a:solidFill>
                <a:latin typeface="Microsoft JhengHei"/>
              </a:defRPr>
            </a:pPr>
            <a:r>
              <a:t>額度用盡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070"/>
                </a:solidFill>
                <a:latin typeface="Microsoft JhengHei"/>
              </a:defRPr>
            </a:pPr>
            <a:r>
              <a:t>空沙漏/靈力瓶</a:t>
            </a:r>
            <a:br/>
            <a:r>
              <a:t>暗淡狀態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280160"/>
            <a:ext cx="2651760" cy="18288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9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325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89C47"/>
                </a:solidFill>
                <a:latin typeface="Microsoft JhengHei"/>
              </a:defRPr>
            </a:pPr>
            <a:r>
              <a:t>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7830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E69A"/>
                </a:solidFill>
                <a:latin typeface="Microsoft JhengHei"/>
              </a:defRPr>
            </a:pPr>
            <a:r>
              <a:t>lock.png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011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9C47"/>
                </a:solidFill>
                <a:latin typeface="Microsoft JhengHei"/>
              </a:defRPr>
            </a:pPr>
            <a:r>
              <a:t>功能鎖定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070"/>
                </a:solidFill>
                <a:latin typeface="Microsoft JhengHei"/>
              </a:defRPr>
            </a:pPr>
            <a:r>
              <a:t>古風鎖</a:t>
            </a:r>
            <a:br/>
            <a:r>
              <a:t>金色鑰匙孔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383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Profile 設定頁  assets/icons/profile/   |   8 張  |  64×64 px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749039"/>
            <a:ext cx="1325880" cy="2011680"/>
          </a:xfrm>
          <a:prstGeom prst="rect">
            <a:avLst/>
          </a:prstGeom>
          <a:solidFill>
            <a:srgbClr val="14141E"/>
          </a:solidFill>
          <a:ln w="12700">
            <a:solidFill>
              <a:srgbClr val="3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79476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JhengHei"/>
              </a:defRPr>
            </a:pPr>
            <a:r>
              <a:t>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" y="4206240"/>
            <a:ext cx="1289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E69A"/>
                </a:solidFill>
                <a:latin typeface="Microsoft JhengHei"/>
              </a:defRPr>
            </a:pPr>
            <a:r>
              <a:t>notification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" y="4480560"/>
            <a:ext cx="12893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推播鈴鐺</a:t>
            </a:r>
            <a:br/>
            <a:r>
              <a:t>（古鐘風格）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37360" y="3749039"/>
            <a:ext cx="1325880" cy="2011680"/>
          </a:xfrm>
          <a:prstGeom prst="rect">
            <a:avLst/>
          </a:prstGeom>
          <a:solidFill>
            <a:srgbClr val="14141E"/>
          </a:solidFill>
          <a:ln w="12700">
            <a:solidFill>
              <a:srgbClr val="3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379476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JhengHei"/>
              </a:defRPr>
            </a:pPr>
            <a:r>
              <a:t>🛡️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55648" y="4206240"/>
            <a:ext cx="1289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E69A"/>
                </a:solidFill>
                <a:latin typeface="Microsoft JhengHei"/>
              </a:defRPr>
            </a:pPr>
            <a:r>
              <a:t>privacy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55648" y="4480560"/>
            <a:ext cx="12893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盾牌/隱私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3749039"/>
            <a:ext cx="1325880" cy="2011680"/>
          </a:xfrm>
          <a:prstGeom prst="rect">
            <a:avLst/>
          </a:prstGeom>
          <a:solidFill>
            <a:srgbClr val="14141E"/>
          </a:solidFill>
          <a:ln w="12700">
            <a:solidFill>
              <a:srgbClr val="3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0" y="379476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JhengHei"/>
              </a:defRPr>
            </a:pPr>
            <a:r>
              <a:t>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18688" y="4206240"/>
            <a:ext cx="1289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E69A"/>
                </a:solidFill>
                <a:latin typeface="Microsoft JhengHei"/>
              </a:defRPr>
            </a:pPr>
            <a:r>
              <a:t>terms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18688" y="4480560"/>
            <a:ext cx="12893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書卷/合約</a:t>
            </a:r>
            <a:br/>
            <a:r>
              <a:t>（竹簡感）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3749039"/>
            <a:ext cx="1325880" cy="2011680"/>
          </a:xfrm>
          <a:prstGeom prst="rect">
            <a:avLst/>
          </a:prstGeom>
          <a:solidFill>
            <a:srgbClr val="14141E"/>
          </a:solidFill>
          <a:ln w="12700">
            <a:solidFill>
              <a:srgbClr val="3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379476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JhengHei"/>
              </a:defRPr>
            </a:pPr>
            <a:r>
              <a:t>ℹ️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1728" y="4206240"/>
            <a:ext cx="1289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E69A"/>
                </a:solidFill>
                <a:latin typeface="Microsoft JhengHei"/>
              </a:defRPr>
            </a:pPr>
            <a:r>
              <a:t>about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1728" y="4480560"/>
            <a:ext cx="12893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資訊 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3749039"/>
            <a:ext cx="1325880" cy="2011680"/>
          </a:xfrm>
          <a:prstGeom prst="rect">
            <a:avLst/>
          </a:prstGeom>
          <a:solidFill>
            <a:srgbClr val="14141E"/>
          </a:solidFill>
          <a:ln w="12700">
            <a:solidFill>
              <a:srgbClr val="3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379476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JhengHei"/>
              </a:defRPr>
            </a:pPr>
            <a:r>
              <a:t>🚪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44768" y="4206240"/>
            <a:ext cx="1289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E69A"/>
                </a:solidFill>
                <a:latin typeface="Microsoft JhengHei"/>
              </a:defRPr>
            </a:pPr>
            <a:r>
              <a:t>logout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4480560"/>
            <a:ext cx="12893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登出門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89520" y="3749039"/>
            <a:ext cx="1325880" cy="2011680"/>
          </a:xfrm>
          <a:prstGeom prst="rect">
            <a:avLst/>
          </a:prstGeom>
          <a:solidFill>
            <a:srgbClr val="14141E"/>
          </a:solidFill>
          <a:ln w="12700">
            <a:solidFill>
              <a:srgbClr val="3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89520" y="379476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JhengHei"/>
              </a:defRPr>
            </a:pPr>
            <a:r>
              <a:t>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07808" y="4206240"/>
            <a:ext cx="1289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E69A"/>
                </a:solidFill>
                <a:latin typeface="Microsoft JhengHei"/>
              </a:defRPr>
            </a:pPr>
            <a:r>
              <a:t>subscription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07808" y="4480560"/>
            <a:ext cx="12893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皇冠/星章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52560" y="3749039"/>
            <a:ext cx="1325880" cy="2011680"/>
          </a:xfrm>
          <a:prstGeom prst="rect">
            <a:avLst/>
          </a:prstGeom>
          <a:solidFill>
            <a:srgbClr val="14141E"/>
          </a:solidFill>
          <a:ln w="12700">
            <a:solidFill>
              <a:srgbClr val="3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0" y="379476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JhengHei"/>
              </a:defRPr>
            </a:pPr>
            <a:r>
              <a:t>☯️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70848" y="4206240"/>
            <a:ext cx="1289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E69A"/>
                </a:solidFill>
                <a:latin typeface="Microsoft JhengHei"/>
              </a:defRPr>
            </a:pPr>
            <a:r>
              <a:t>destiny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70848" y="4480560"/>
            <a:ext cx="12893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命盤輪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3749039"/>
            <a:ext cx="1325880" cy="2011680"/>
          </a:xfrm>
          <a:prstGeom prst="rect">
            <a:avLst/>
          </a:prstGeom>
          <a:solidFill>
            <a:srgbClr val="14141E"/>
          </a:solidFill>
          <a:ln w="12700">
            <a:solidFill>
              <a:srgbClr val="3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15600" y="379476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JhengHei"/>
              </a:defRPr>
            </a:pPr>
            <a:r>
              <a:t>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33888" y="4206240"/>
            <a:ext cx="1289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E69A"/>
                </a:solidFill>
                <a:latin typeface="Microsoft JhengHei"/>
              </a:defRPr>
            </a:pPr>
            <a:r>
              <a:t>language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33888" y="4480560"/>
            <a:ext cx="12893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地球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F5E69A"/>
                </a:solidFill>
                <a:latin typeface="Microsoft JhengHei"/>
              </a:defRPr>
            </a:pPr>
            <a:r>
              <a:t>Profile 圖標設計要點：暗金 #888070 為主（低調）、細線描邊、東方符文感、每個都有古風韻味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七、狀態圖標 + 五行標記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070"/>
                </a:solidFill>
                <a:latin typeface="Microsoft JhengHei"/>
              </a:defRPr>
            </a:pPr>
            <a:r>
              <a:t>assets/icons/status/   |   9 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164592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EXP 進度條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91640"/>
            <a:ext cx="3657600" cy="228600"/>
          </a:xfrm>
          <a:prstGeom prst="rect">
            <a:avLst/>
          </a:prstGeom>
          <a:solidFill>
            <a:srgbClr val="33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691640"/>
            <a:ext cx="2560320" cy="2286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64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240/500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exp-bar-fill.png — 金色漸層橫條，帶光澤感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exp-bar-bg.png — 深灰半透明底條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高度 24px，寬度可拉伸（9-patch）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5303520" cy="1645920"/>
          </a:xfrm>
          <a:prstGeom prst="rect">
            <a:avLst/>
          </a:prstGeom>
          <a:solidFill>
            <a:srgbClr val="14141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80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JhengHei"/>
              </a:defRPr>
            </a:pPr>
            <a:r>
              <a:t>進化星星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691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8C547"/>
                </a:solidFill>
                <a:latin typeface="Microsoft JhengHei"/>
              </a:defRPr>
            </a:pPr>
            <a:r>
              <a:t>★ ★ ★ ☆ 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031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star-filled.png — 金色五角星 + 光暈（48×48）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star-empty.png — 暗色描邊五角星（48×48）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五行標記  64×64 px  |  透明背景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2103120" cy="2743200"/>
          </a:xfrm>
          <a:prstGeom prst="rect">
            <a:avLst/>
          </a:prstGeom>
          <a:solidFill>
            <a:srgbClr val="14141E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4CAF50"/>
                </a:solidFill>
                <a:latin typeface="Microsoft JhengHei"/>
              </a:defRPr>
            </a:pPr>
            <a:r>
              <a:t>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60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CAF50"/>
                </a:solidFill>
                <a:latin typeface="Microsoft JhengHei"/>
              </a:defRPr>
            </a:pPr>
            <a:r>
              <a:t>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26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E69A"/>
                </a:solidFill>
                <a:latin typeface="Microsoft JhengHei"/>
              </a:defRPr>
            </a:pPr>
            <a:r>
              <a:t>element-wood.png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46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綠色 #4CAF50</a:t>
            </a:r>
            <a:br/>
            <a:r>
              <a:t>嫩芽/樹木符號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566160"/>
            <a:ext cx="2103120" cy="2743200"/>
          </a:xfrm>
          <a:prstGeom prst="rect">
            <a:avLst/>
          </a:prstGeom>
          <a:solidFill>
            <a:srgbClr val="14141E"/>
          </a:solidFill>
          <a:ln w="127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3657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5722"/>
                </a:solidFill>
                <a:latin typeface="Microsoft JhengHei"/>
              </a:defRPr>
            </a:pPr>
            <a:r>
              <a:t>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160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5722"/>
                </a:solidFill>
                <a:latin typeface="Microsoft JhengHei"/>
              </a:defRPr>
            </a:pPr>
            <a:r>
              <a:t>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526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E69A"/>
                </a:solidFill>
                <a:latin typeface="Microsoft JhengHei"/>
              </a:defRPr>
            </a:pPr>
            <a:r>
              <a:t>element-fire.png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4846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紅橙 #FF5722</a:t>
            </a:r>
            <a:br/>
            <a:r>
              <a:t>火焰符號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3566160"/>
            <a:ext cx="2103120" cy="2743200"/>
          </a:xfrm>
          <a:prstGeom prst="rect">
            <a:avLst/>
          </a:prstGeom>
          <a:solidFill>
            <a:srgbClr val="14141E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3657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C107"/>
                </a:solidFill>
                <a:latin typeface="Microsoft JhengHei"/>
              </a:defRPr>
            </a:pPr>
            <a:r>
              <a:t>⛰️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60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107"/>
                </a:solidFill>
                <a:latin typeface="Microsoft JhengHei"/>
              </a:defRPr>
            </a:pPr>
            <a:r>
              <a:t>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4526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E69A"/>
                </a:solidFill>
                <a:latin typeface="Microsoft JhengHei"/>
              </a:defRPr>
            </a:pPr>
            <a:r>
              <a:t>element-earth.png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4846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土黃 #FFC107</a:t>
            </a:r>
            <a:br/>
            <a:r>
              <a:t>山形符號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3566160"/>
            <a:ext cx="2103120" cy="2743200"/>
          </a:xfrm>
          <a:prstGeom prst="rect">
            <a:avLst/>
          </a:prstGeom>
          <a:solidFill>
            <a:srgbClr val="14141E"/>
          </a:solidFill>
          <a:ln w="1270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3657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B0BEC5"/>
                </a:solidFill>
                <a:latin typeface="Microsoft JhengHei"/>
              </a:defRPr>
            </a:pPr>
            <a:r>
              <a:t>⚔️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4160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0BEC5"/>
                </a:solidFill>
                <a:latin typeface="Microsoft JhengHei"/>
              </a:defRPr>
            </a:pPr>
            <a:r>
              <a:t>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4526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E69A"/>
                </a:solidFill>
                <a:latin typeface="Microsoft JhengHei"/>
              </a:defRPr>
            </a:pPr>
            <a:r>
              <a:t>element-metal.png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4846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銀白 #B0BEC5</a:t>
            </a:r>
            <a:br/>
            <a:r>
              <a:t>金屬/劍形符號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3566160"/>
            <a:ext cx="2103120" cy="2743200"/>
          </a:xfrm>
          <a:prstGeom prst="rect">
            <a:avLst/>
          </a:prstGeom>
          <a:solidFill>
            <a:srgbClr val="14141E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0" y="3657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196F3"/>
                </a:solidFill>
                <a:latin typeface="Microsoft JhengHei"/>
              </a:defRPr>
            </a:pPr>
            <a:r>
              <a:t>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4160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196F3"/>
                </a:solidFill>
                <a:latin typeface="Microsoft JhengHei"/>
              </a:defRPr>
            </a:pPr>
            <a:r>
              <a:t>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4526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5E69A"/>
                </a:solidFill>
                <a:latin typeface="Microsoft JhengHei"/>
              </a:defRPr>
            </a:pPr>
            <a:r>
              <a:t>element-water.png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6920" y="4846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靛藍 #2196F3</a:t>
            </a:r>
            <a:br/>
            <a:r>
              <a:t>水波符號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八、其他/通用圖標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070"/>
                </a:solidFill>
                <a:latin typeface="Microsoft JhengHei"/>
              </a:defRPr>
            </a:pPr>
            <a:r>
              <a:t>assets/icons/misc/   |   8 張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325880" cy="256032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8C547"/>
                </a:solidFill>
                <a:latin typeface="Microsoft JhengHei"/>
              </a:defRPr>
            </a:pPr>
            <a:r>
              <a:t>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691640"/>
            <a:ext cx="1289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E69A"/>
                </a:solidFill>
                <a:latin typeface="Microsoft JhengHei"/>
              </a:defRPr>
            </a:pPr>
            <a:r>
              <a:t>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1965960"/>
            <a:ext cx="1289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分享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2286000"/>
            <a:ext cx="12893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070"/>
                </a:solidFill>
                <a:latin typeface="Microsoft JhengHei"/>
              </a:defRPr>
            </a:pPr>
            <a:r>
              <a:t>對話分享按鈕</a:t>
            </a:r>
            <a:br/>
            <a:r>
              <a:t>64×64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188720"/>
            <a:ext cx="1325880" cy="256032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123444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8C547"/>
                </a:solidFill>
                <a:latin typeface="Microsoft JhengHei"/>
              </a:defRPr>
            </a:pPr>
            <a: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1691640"/>
            <a:ext cx="1289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E69A"/>
                </a:solidFill>
                <a:latin typeface="Microsoft JhengHei"/>
              </a:defRPr>
            </a:pPr>
            <a:r>
              <a:t>retry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1965960"/>
            <a:ext cx="1289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重試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5648" y="2286000"/>
            <a:ext cx="12893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070"/>
                </a:solidFill>
                <a:latin typeface="Microsoft JhengHei"/>
              </a:defRPr>
            </a:pPr>
            <a:r>
              <a:t>再搖一卦</a:t>
            </a:r>
            <a:br/>
            <a:r>
              <a:t>64×64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188720"/>
            <a:ext cx="1325880" cy="2560320"/>
          </a:xfrm>
          <a:prstGeom prst="rect">
            <a:avLst/>
          </a:prstGeom>
          <a:solidFill>
            <a:srgbClr val="14141E"/>
          </a:solidFill>
          <a:ln w="12700">
            <a:solidFill>
              <a:srgbClr val="888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123444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070"/>
                </a:solidFill>
                <a:latin typeface="Microsoft JhengHei"/>
              </a:defRPr>
            </a:pPr>
            <a: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1691640"/>
            <a:ext cx="1289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E69A"/>
                </a:solidFill>
                <a:latin typeface="Microsoft JhengHei"/>
              </a:defRPr>
            </a:pPr>
            <a:r>
              <a:t>close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8" y="1965960"/>
            <a:ext cx="1289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88070"/>
                </a:solidFill>
                <a:latin typeface="Microsoft JhengHei"/>
              </a:defRPr>
            </a:pPr>
            <a:r>
              <a:t>關閉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2286000"/>
            <a:ext cx="12893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070"/>
                </a:solidFill>
                <a:latin typeface="Microsoft JhengHei"/>
              </a:defRPr>
            </a:pPr>
            <a:r>
              <a:t>Modal 關閉</a:t>
            </a:r>
            <a:br/>
            <a:r>
              <a:t>64×64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1188720"/>
            <a:ext cx="1325880" cy="2560320"/>
          </a:xfrm>
          <a:prstGeom prst="rect">
            <a:avLst/>
          </a:prstGeom>
          <a:solidFill>
            <a:srgbClr val="14141E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123444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B4FF"/>
                </a:solidFill>
                <a:latin typeface="Microsoft JhengHei"/>
              </a:defRPr>
            </a:pPr>
            <a:r>
              <a:t>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1691640"/>
            <a:ext cx="1289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E69A"/>
                </a:solidFill>
                <a:latin typeface="Microsoft JhengHei"/>
              </a:defRPr>
            </a:pPr>
            <a:r>
              <a:t>camera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1965960"/>
            <a:ext cx="1289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B4FF"/>
                </a:solidFill>
                <a:latin typeface="Microsoft JhengHei"/>
              </a:defRPr>
            </a:pPr>
            <a:r>
              <a:t>相機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2286000"/>
            <a:ext cx="12893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070"/>
                </a:solidFill>
                <a:latin typeface="Microsoft JhengHei"/>
              </a:defRPr>
            </a:pPr>
            <a:r>
              <a:t>靈眼拍照</a:t>
            </a:r>
            <a:br/>
            <a:r>
              <a:t>128×128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188720"/>
            <a:ext cx="1325880" cy="2560320"/>
          </a:xfrm>
          <a:prstGeom prst="rect">
            <a:avLst/>
          </a:prstGeom>
          <a:solidFill>
            <a:srgbClr val="14141E"/>
          </a:solidFill>
          <a:ln w="12700">
            <a:solidFill>
              <a:srgbClr val="64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23444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C878"/>
                </a:solidFill>
                <a:latin typeface="Microsoft JhengHei"/>
              </a:defRPr>
            </a:pPr>
            <a:r>
              <a:t>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1691640"/>
            <a:ext cx="1289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E69A"/>
                </a:solidFill>
                <a:latin typeface="Microsoft JhengHei"/>
              </a:defRPr>
            </a:pPr>
            <a:r>
              <a:t>gps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1965960"/>
            <a:ext cx="1289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C878"/>
                </a:solidFill>
                <a:latin typeface="Microsoft JhengHei"/>
              </a:defRPr>
            </a:pPr>
            <a:r>
              <a:t>定位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2286000"/>
            <a:ext cx="12893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070"/>
                </a:solidFill>
                <a:latin typeface="Microsoft JhengHei"/>
              </a:defRPr>
            </a:pPr>
            <a:r>
              <a:t>靈心 GPS</a:t>
            </a:r>
            <a:br/>
            <a:r>
              <a:t>128×128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0" y="1188720"/>
            <a:ext cx="1325880" cy="2560320"/>
          </a:xfrm>
          <a:prstGeom prst="rect">
            <a:avLst/>
          </a:prstGeom>
          <a:solidFill>
            <a:srgbClr val="14141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123444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78BFA"/>
                </a:solidFill>
                <a:latin typeface="Microsoft JhengHei"/>
              </a:defRPr>
            </a:pPr>
            <a:r>
              <a:t>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8" y="1691640"/>
            <a:ext cx="1289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E69A"/>
                </a:solidFill>
                <a:latin typeface="Microsoft JhengHei"/>
              </a:defRPr>
            </a:pPr>
            <a:r>
              <a:t>shake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7808" y="1965960"/>
            <a:ext cx="1289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78BFA"/>
                </a:solidFill>
                <a:latin typeface="Microsoft JhengHei"/>
              </a:defRPr>
            </a:pPr>
            <a:r>
              <a:t>搖動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8" y="2286000"/>
            <a:ext cx="12893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070"/>
                </a:solidFill>
                <a:latin typeface="Microsoft JhengHei"/>
              </a:defRPr>
            </a:pPr>
            <a:r>
              <a:t>靈魂搖卦</a:t>
            </a:r>
            <a:br/>
            <a:r>
              <a:t>128×128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60" y="1188720"/>
            <a:ext cx="1325880" cy="2560320"/>
          </a:xfrm>
          <a:prstGeom prst="rect">
            <a:avLst/>
          </a:prstGeom>
          <a:solidFill>
            <a:srgbClr val="14141E"/>
          </a:solidFill>
          <a:ln w="12700">
            <a:solidFill>
              <a:srgbClr val="E89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123444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89C47"/>
                </a:solidFill>
                <a:latin typeface="Microsoft JhengHei"/>
              </a:defRPr>
            </a:pPr>
            <a:r>
              <a:t>「」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0848" y="1691640"/>
            <a:ext cx="1289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E69A"/>
                </a:solidFill>
                <a:latin typeface="Microsoft JhengHei"/>
              </a:defRPr>
            </a:pPr>
            <a:r>
              <a:t>quote-mark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0848" y="1965960"/>
            <a:ext cx="1289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9C47"/>
                </a:solidFill>
                <a:latin typeface="Microsoft JhengHei"/>
              </a:defRPr>
            </a:pPr>
            <a:r>
              <a:t>引號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0848" y="2286000"/>
            <a:ext cx="12893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070"/>
                </a:solidFill>
                <a:latin typeface="Microsoft JhengHei"/>
              </a:defRPr>
            </a:pPr>
            <a:r>
              <a:t>引經據典裝飾</a:t>
            </a:r>
            <a:br/>
            <a:r>
              <a:t>毛筆質感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15600" y="1188720"/>
            <a:ext cx="1325880" cy="256032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0" y="123444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8C547"/>
                </a:solidFill>
                <a:latin typeface="Microsoft JhengHei"/>
              </a:defRPr>
            </a:pPr>
            <a:r>
              <a:t>〰️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33888" y="1691640"/>
            <a:ext cx="1289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E69A"/>
                </a:solidFill>
                <a:latin typeface="Microsoft JhengHei"/>
              </a:defRPr>
            </a:pPr>
            <a:r>
              <a:t>scroll-decor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33888" y="1965960"/>
            <a:ext cx="12893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裝飾線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33888" y="2286000"/>
            <a:ext cx="12893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070"/>
                </a:solidFill>
                <a:latin typeface="Microsoft JhengHei"/>
              </a:defRPr>
            </a:pPr>
            <a:r>
              <a:t>書卷紋飾</a:t>
            </a:r>
            <a:br/>
            <a:r>
              <a:t>高32px可拉伸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023360"/>
            <a:ext cx="11247120" cy="9144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41148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設計提醒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所有通用圖標配色金色系 #E8C547，quote-mark 用古風書法引號帶毛筆質感，scroll-decor 是橫向書卷紋飾線條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九、AI 生圖 Prompt + 交付格式 + 總統計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5486400" cy="2286000"/>
          </a:xfrm>
          <a:prstGeom prst="rect">
            <a:avLst/>
          </a:prstGeom>
          <a:solidFill>
            <a:srgbClr val="14141E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B4FF"/>
                </a:solidFill>
                <a:latin typeface="Microsoft JhengHei"/>
              </a:defRPr>
            </a:pPr>
            <a:r>
              <a:t>英文 Prompt 範本（Midjourney / DALL-E）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1737360"/>
          </a:xfrm>
          <a:prstGeom prst="rect">
            <a:avLst/>
          </a:prstGeom>
          <a:solidFill>
            <a:srgbClr val="1A1A28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Icon design for a mystical Chinese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fortune-telling app.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Style: dark luxury, Eastern mysticism,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gold (#E8C547) on black (#08080F).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Gold glow effects, subtle aura,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fine line details.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[具體物件描述]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Transparent PNG background,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centered composition.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Clean vector-style icon,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high contrast, app-ready.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5486400" cy="18288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9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9C47"/>
                </a:solidFill>
                <a:latin typeface="Microsoft JhengHei"/>
              </a:defRPr>
            </a:pPr>
            <a:r>
              <a:t>中文 Prompt 範本（對照）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5029200" cy="1280160"/>
          </a:xfrm>
          <a:prstGeom prst="rect">
            <a:avLst/>
          </a:prstGeom>
          <a:solidFill>
            <a:srgbClr val="1A1A28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東方神秘風格 App 圖標設計。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主色金色 #E8C547，深黑背景 #08080F。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帶金色光暈、微光效果、精緻描邊。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[具體物件描述]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透明背景 PNG，置中構圖。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乾淨向量風格，高對比，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可直接用於 App。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486400" cy="18288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圖檔交付格式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格式：PNG（透明背景）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色彩：sRGB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解析度：依各規格表指定尺寸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命名：全小寫，連字號（tab-pet-active.png）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品質：無壓縮或極輕壓縮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017520"/>
            <a:ext cx="5486400" cy="36576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9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9C47"/>
                </a:solidFill>
                <a:latin typeface="Microsoft JhengHei"/>
              </a:defRPr>
            </a:pPr>
            <a:r>
              <a:t>總數量統計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520440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App Icon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352044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7 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758184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78BFA"/>
                </a:solidFill>
                <a:latin typeface="Microsoft JhengHei"/>
              </a:defRPr>
            </a:pPr>
            <a:r>
              <a:t>Splash Screen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375818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3 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995928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Tab Bar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399592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4 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23367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Action Bar 養成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423367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3 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471416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B4FF"/>
                </a:solidFill>
                <a:latin typeface="Microsoft JhengHei"/>
              </a:defRPr>
            </a:pPr>
            <a:r>
              <a:t>Action Bar 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447141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3 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709160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Onboarding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470916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5 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946904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Chat 類型標記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94690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7 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184648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78BFA"/>
                </a:solidFill>
                <a:latin typeface="Microsoft JhengHei"/>
              </a:defRPr>
            </a:pPr>
            <a:r>
              <a:t>升級 Modal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518464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4 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42239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Profile 設定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542239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8 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660136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700"/>
                </a:solidFill>
                <a:latin typeface="Microsoft JhengHei"/>
              </a:defRPr>
            </a:pPr>
            <a:r>
              <a:t>狀態相關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566013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9 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897880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其他/通用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589788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8 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6172200"/>
            <a:ext cx="5029200" cy="320040"/>
          </a:xfrm>
          <a:prstGeom prst="rect">
            <a:avLst/>
          </a:prstGeom>
          <a:solidFill>
            <a:srgbClr val="E89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618134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080F"/>
                </a:solidFill>
                <a:latin typeface="Microsoft JhengHei"/>
              </a:defRPr>
            </a:pPr>
            <a:r>
              <a:t>合計 61 張（不含 24 隻靈寵）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486400"/>
            <a:ext cx="5486400" cy="1188720"/>
          </a:xfrm>
          <a:prstGeom prst="rect">
            <a:avLst/>
          </a:prstGeom>
          <a:solidFill>
            <a:srgbClr val="14141E"/>
          </a:solidFill>
          <a:ln w="12700">
            <a:solidFill>
              <a:srgbClr val="3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532120"/>
            <a:ext cx="5120640" cy="1097280"/>
          </a:xfrm>
          <a:prstGeom prst="rect">
            <a:avLst/>
          </a:prstGeom>
          <a:solidFill>
            <a:srgbClr val="1A1A28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assets/icons/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├── app/      ├── chat-types/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├── splash/   ├── upgrade/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├── tab-bar/  ├── profile/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├── action-bar/  ├── status/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│   ├── nurture/ └── misc/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│   └── ability/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└── onboarding/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