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64592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>
                <a:solidFill>
                  <a:srgbClr val="E8C547"/>
                </a:solidFill>
                <a:latin typeface="Microsoft JhengHei"/>
              </a:defRPr>
            </a:pPr>
            <a:r>
              <a:t>靈犀 LingXi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9260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CCCCCC"/>
                </a:solidFill>
                <a:latin typeface="Microsoft JhengHei"/>
              </a:defRPr>
            </a:pPr>
            <a:r>
              <a:t>操作介面與互動邏輯說明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8404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888888"/>
                </a:solidFill>
                <a:latin typeface="Microsoft JhengHei"/>
              </a:defRPr>
            </a:pPr>
            <a:r>
              <a:t>命理寵物 App  |  React Native / Expo SDK 52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3035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888888"/>
                </a:solidFill>
                <a:latin typeface="Microsoft JhengHei"/>
              </a:defRPr>
            </a:pPr>
            <a:r>
              <a:t>Version: 2026-03-19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E8C547"/>
                </a:solidFill>
                <a:latin typeface="Microsoft JhengHei"/>
              </a:defRPr>
            </a:pPr>
            <a:r>
              <a:t>1. 主畫面佈局 — 全螢幕靈寵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97280" y="1188720"/>
            <a:ext cx="3657600" cy="5303520"/>
          </a:xfrm>
          <a:prstGeom prst="roundRect">
            <a:avLst/>
          </a:prstGeom>
          <a:solidFill>
            <a:srgbClr val="141420"/>
          </a:solidFill>
          <a:ln w="25400">
            <a:solidFill>
              <a:srgbClr val="8A7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188720" y="1280160"/>
            <a:ext cx="3474720" cy="548640"/>
          </a:xfrm>
          <a:prstGeom prst="roundRect">
            <a:avLst/>
          </a:prstGeom>
          <a:solidFill>
            <a:srgbClr val="101018"/>
          </a:solidFill>
          <a:ln w="12700">
            <a:solidFill>
              <a:srgbClr val="8A7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34440" y="132588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8C547"/>
                </a:solidFill>
                <a:latin typeface="Microsoft JhengHei"/>
              </a:defRPr>
            </a:pPr>
            <a:r>
              <a:t>⚙️  靈犀 Logo     3月19日·戌時     Lv.5 小白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828800" y="2834640"/>
            <a:ext cx="2194560" cy="2194560"/>
          </a:xfrm>
          <a:prstGeom prst="roundRect">
            <a:avLst/>
          </a:prstGeom>
          <a:solidFill>
            <a:srgbClr val="1A1A28"/>
          </a:solidFill>
          <a:ln w="12700">
            <a:solidFill>
              <a:srgbClr val="8A7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194560" y="3474720"/>
            <a:ext cx="1463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E8C547"/>
                </a:solidFill>
                <a:latin typeface="Microsoft JhengHei"/>
              </a:defRPr>
            </a:pPr>
            <a:r>
              <a:t>🐉 靈寵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411480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888888"/>
                </a:solidFill>
                <a:latin typeface="Microsoft JhengHei"/>
              </a:defRPr>
            </a:pPr>
            <a:r>
              <a:t>(全螢幕浮動動畫)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234440" y="1965960"/>
            <a:ext cx="2560320" cy="731520"/>
          </a:xfrm>
          <a:prstGeom prst="roundRect">
            <a:avLst/>
          </a:prstGeom>
          <a:solidFill>
            <a:srgbClr val="FFFCF5"/>
          </a:solidFill>
          <a:ln w="12700">
            <a:solidFill>
              <a:srgbClr val="807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25880" y="2011680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A1A2E"/>
                </a:solidFill>
                <a:latin typeface="Microsoft JhengHei"/>
              </a:defRPr>
            </a:pPr>
            <a:r>
              <a:t>「主人早安～今日財運大吉，宜東南方...」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023360" y="2834640"/>
            <a:ext cx="548640" cy="2926080"/>
          </a:xfrm>
          <a:prstGeom prst="roundRect">
            <a:avLst/>
          </a:prstGeom>
          <a:solidFill>
            <a:srgbClr val="101018"/>
          </a:solidFill>
          <a:ln w="12700">
            <a:solidFill>
              <a:srgbClr val="8A7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041648" y="2926080"/>
            <a:ext cx="51206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FFC107"/>
                </a:solidFill>
                <a:latin typeface="Microsoft JhengHei"/>
              </a:defRPr>
            </a:pPr>
            <a:r>
              <a:t>靈眼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041648" y="3337560"/>
            <a:ext cx="51206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4ADE80"/>
                </a:solidFill>
                <a:latin typeface="Microsoft JhengHei"/>
              </a:defRPr>
            </a:pPr>
            <a:r>
              <a:t>靈心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041648" y="3749040"/>
            <a:ext cx="51206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A78BFA"/>
                </a:solidFill>
                <a:latin typeface="Microsoft JhengHei"/>
              </a:defRPr>
            </a:pPr>
            <a:r>
              <a:t>靈魂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041648" y="4297680"/>
            <a:ext cx="51206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888888"/>
                </a:solidFill>
                <a:latin typeface="Microsoft JhengHei"/>
              </a:defRPr>
            </a:pPr>
            <a:r>
              <a:t>───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041648" y="4572000"/>
            <a:ext cx="51206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888888"/>
                </a:solidFill>
                <a:latin typeface="Microsoft JhengHei"/>
              </a:defRPr>
            </a:pPr>
            <a:r>
              <a:t>餵食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041648" y="4892040"/>
            <a:ext cx="51206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888888"/>
                </a:solidFill>
                <a:latin typeface="Microsoft JhengHei"/>
              </a:defRPr>
            </a:pPr>
            <a:r>
              <a:t>玩耍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041648" y="5212080"/>
            <a:ext cx="51206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888888"/>
                </a:solidFill>
                <a:latin typeface="Microsoft JhengHei"/>
              </a:defRPr>
            </a:pPr>
            <a:r>
              <a:t>冥想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0" y="1188720"/>
            <a:ext cx="5943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E8C547"/>
                </a:solidFill>
                <a:latin typeface="Microsoft JhengHei"/>
              </a:defRPr>
            </a:pPr>
            <a:r>
              <a:t>佈局結構</a:t>
            </a:r>
          </a:p>
          <a:p>
            <a:pPr>
              <a:spcBef>
                <a:spcPts val="1000"/>
              </a:spcBef>
              <a:defRPr sz="600" b="0">
                <a:solidFill>
                  <a:srgbClr val="CCCCCC"/>
                </a:solidFill>
                <a:latin typeface="Microsoft JhengHei"/>
              </a:defRPr>
            </a:pPr>
          </a:p>
          <a:p>
            <a:pPr>
              <a:spcBef>
                <a:spcPts val="800"/>
              </a:spcBef>
              <a:defRPr sz="1600" b="1">
                <a:solidFill>
                  <a:srgbClr val="E8C547"/>
                </a:solidFill>
                <a:latin typeface="Microsoft JhengHei"/>
              </a:defRPr>
            </a:pPr>
            <a:r>
              <a:t>▸ Status Bar (頂部)</a:t>
            </a:r>
          </a:p>
          <a:p>
            <a:pPr>
              <a:spcBef>
                <a:spcPts val="400"/>
              </a:spcBef>
              <a:defRPr sz="1300" b="0">
                <a:solidFill>
                  <a:srgbClr val="CCCCCC"/>
                </a:solidFill>
                <a:latin typeface="Microsoft JhengHei"/>
              </a:defRPr>
            </a:pPr>
            <a:r>
              <a:t>   ⚙️ 設定按鈕 → 導航至個人設定頁</a:t>
            </a:r>
          </a:p>
          <a:p>
            <a:pPr>
              <a:spcBef>
                <a:spcPts val="400"/>
              </a:spcBef>
              <a:defRPr sz="1300" b="0">
                <a:solidFill>
                  <a:srgbClr val="CCCCCC"/>
                </a:solidFill>
                <a:latin typeface="Microsoft JhengHei"/>
              </a:defRPr>
            </a:pPr>
            <a:r>
              <a:t>   Logo + 農曆日期(含時辰) + Lv.等級 靈寵名</a:t>
            </a:r>
          </a:p>
          <a:p>
            <a:pPr>
              <a:spcBef>
                <a:spcPts val="1000"/>
              </a:spcBef>
              <a:defRPr sz="600" b="0">
                <a:solidFill>
                  <a:srgbClr val="CCCCCC"/>
                </a:solidFill>
                <a:latin typeface="Microsoft JhengHei"/>
              </a:defRPr>
            </a:pPr>
          </a:p>
          <a:p>
            <a:pPr>
              <a:spcBef>
                <a:spcPts val="800"/>
              </a:spcBef>
              <a:defRPr sz="1600" b="1">
                <a:solidFill>
                  <a:srgbClr val="E8C547"/>
                </a:solidFill>
                <a:latin typeface="Microsoft JhengHei"/>
              </a:defRPr>
            </a:pPr>
            <a:r>
              <a:t>▸ 漫畫對白泡泡 (浮動層)</a:t>
            </a:r>
          </a:p>
          <a:p>
            <a:pPr>
              <a:spcBef>
                <a:spcPts val="400"/>
              </a:spcBef>
              <a:defRPr sz="1300" b="0">
                <a:solidFill>
                  <a:srgbClr val="CCCCCC"/>
                </a:solidFill>
                <a:latin typeface="Microsoft JhengHei"/>
              </a:defRPr>
            </a:pPr>
            <a:r>
              <a:t>   顯示最新一則對話，自動調整高度</a:t>
            </a:r>
          </a:p>
          <a:p>
            <a:pPr>
              <a:spcBef>
                <a:spcPts val="400"/>
              </a:spcBef>
              <a:defRPr sz="1300" b="0">
                <a:solidFill>
                  <a:srgbClr val="CCCCCC"/>
                </a:solidFill>
                <a:latin typeface="Microsoft JhengHei"/>
              </a:defRPr>
            </a:pPr>
            <a:r>
              <a:t>   支援捲動 (maxHeight 45%)，避開右側操作列</a:t>
            </a:r>
          </a:p>
          <a:p>
            <a:pPr>
              <a:spcBef>
                <a:spcPts val="1000"/>
              </a:spcBef>
              <a:defRPr sz="600" b="0">
                <a:solidFill>
                  <a:srgbClr val="CCCCCC"/>
                </a:solidFill>
                <a:latin typeface="Microsoft JhengHei"/>
              </a:defRPr>
            </a:pPr>
          </a:p>
          <a:p>
            <a:pPr>
              <a:spcBef>
                <a:spcPts val="800"/>
              </a:spcBef>
              <a:defRPr sz="1600" b="1">
                <a:solidFill>
                  <a:srgbClr val="E8C547"/>
                </a:solidFill>
                <a:latin typeface="Microsoft JhengHei"/>
              </a:defRPr>
            </a:pPr>
            <a:r>
              <a:t>▸ 靈寵 (全螢幕主角)</a:t>
            </a:r>
          </a:p>
          <a:p>
            <a:pPr>
              <a:spcBef>
                <a:spcPts val="400"/>
              </a:spcBef>
              <a:defRPr sz="1300" b="0">
                <a:solidFill>
                  <a:srgbClr val="CCCCCC"/>
                </a:solidFill>
                <a:latin typeface="Microsoft JhengHei"/>
              </a:defRPr>
            </a:pPr>
            <a:r>
              <a:t>   佔據整個畫面中央，帶浮動動畫</a:t>
            </a:r>
          </a:p>
          <a:p>
            <a:pPr>
              <a:spcBef>
                <a:spcPts val="400"/>
              </a:spcBef>
              <a:defRPr sz="1300" b="0">
                <a:solidFill>
                  <a:srgbClr val="CCCCCC"/>
                </a:solidFill>
                <a:latin typeface="Microsoft JhengHei"/>
              </a:defRPr>
            </a:pPr>
            <a:r>
              <a:t>   分層渲染：光環 → 頭像 → 外框 → 特效</a:t>
            </a:r>
          </a:p>
          <a:p>
            <a:pPr>
              <a:spcBef>
                <a:spcPts val="1000"/>
              </a:spcBef>
              <a:defRPr sz="600" b="0">
                <a:solidFill>
                  <a:srgbClr val="CCCCCC"/>
                </a:solidFill>
                <a:latin typeface="Microsoft JhengHei"/>
              </a:defRPr>
            </a:pPr>
          </a:p>
          <a:p>
            <a:pPr>
              <a:spcBef>
                <a:spcPts val="800"/>
              </a:spcBef>
              <a:defRPr sz="1600" b="1">
                <a:solidFill>
                  <a:srgbClr val="E8C547"/>
                </a:solidFill>
                <a:latin typeface="Microsoft JhengHei"/>
              </a:defRPr>
            </a:pPr>
            <a:r>
              <a:t>▸ 右側操作列 (浮動層)</a:t>
            </a:r>
          </a:p>
          <a:p>
            <a:pPr>
              <a:spcBef>
                <a:spcPts val="400"/>
              </a:spcBef>
              <a:defRPr sz="1300" b="0">
                <a:solidFill>
                  <a:srgbClr val="CCCCCC"/>
                </a:solidFill>
                <a:latin typeface="Microsoft JhengHei"/>
              </a:defRPr>
            </a:pPr>
            <a:r>
              <a:t>   垂直排列，半透明暗底圓角容器</a:t>
            </a:r>
          </a:p>
          <a:p>
            <a:pPr>
              <a:spcBef>
                <a:spcPts val="400"/>
              </a:spcBef>
              <a:defRPr sz="1300" b="0">
                <a:solidFill>
                  <a:srgbClr val="CCCCCC"/>
                </a:solidFill>
                <a:latin typeface="Microsoft JhengHei"/>
              </a:defRPr>
            </a:pPr>
            <a:r>
              <a:t>   上方：三大功能鍵 (靈眼/靈心/靈魂)</a:t>
            </a:r>
          </a:p>
          <a:p>
            <a:pPr>
              <a:spcBef>
                <a:spcPts val="400"/>
              </a:spcBef>
              <a:defRPr sz="1300" b="0">
                <a:solidFill>
                  <a:srgbClr val="CCCCCC"/>
                </a:solidFill>
                <a:latin typeface="Microsoft JhengHei"/>
              </a:defRPr>
            </a:pPr>
            <a:r>
              <a:t>   下方：養成鍵 (餵食/玩耍/冥想)</a:t>
            </a:r>
          </a:p>
          <a:p>
            <a:pPr>
              <a:spcBef>
                <a:spcPts val="1000"/>
              </a:spcBef>
              <a:defRPr sz="600" b="0">
                <a:solidFill>
                  <a:srgbClr val="CCCCCC"/>
                </a:solidFill>
                <a:latin typeface="Microsoft JhengHei"/>
              </a:defRPr>
            </a:pPr>
          </a:p>
          <a:p>
            <a:pPr>
              <a:spcBef>
                <a:spcPts val="800"/>
              </a:spcBef>
              <a:defRPr sz="1600" b="1">
                <a:solidFill>
                  <a:srgbClr val="E8C547"/>
                </a:solidFill>
                <a:latin typeface="Microsoft JhengHei"/>
              </a:defRPr>
            </a:pPr>
            <a:r>
              <a:t>▸ 無底部 Tab Bar</a:t>
            </a:r>
          </a:p>
          <a:p>
            <a:pPr>
              <a:spcBef>
                <a:spcPts val="400"/>
              </a:spcBef>
              <a:defRPr sz="1300" b="0">
                <a:solidFill>
                  <a:srgbClr val="CCCCCC"/>
                </a:solidFill>
                <a:latin typeface="Microsoft JhengHei"/>
              </a:defRPr>
            </a:pPr>
            <a:r>
              <a:t>   取消傳統底部導航列</a:t>
            </a:r>
          </a:p>
          <a:p>
            <a:pPr>
              <a:spcBef>
                <a:spcPts val="400"/>
              </a:spcBef>
              <a:defRPr sz="1300" b="0">
                <a:solidFill>
                  <a:srgbClr val="CCCCCC"/>
                </a:solidFill>
                <a:latin typeface="Microsoft JhengHei"/>
              </a:defRPr>
            </a:pPr>
            <a:r>
              <a:t>   設定頁透過左上角 ⚙️ 按鈕進入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E8C547"/>
                </a:solidFill>
                <a:latin typeface="Microsoft JhengHei"/>
              </a:defRPr>
            </a:pPr>
            <a:r>
              <a:t>2. 漫畫對白泡泡 — Manga Speech Bubble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14400" y="1371600"/>
            <a:ext cx="4572000" cy="2286000"/>
          </a:xfrm>
          <a:prstGeom prst="roundRect">
            <a:avLst/>
          </a:prstGeom>
          <a:solidFill>
            <a:srgbClr val="FFFCF5"/>
          </a:solidFill>
          <a:ln w="25400">
            <a:solidFill>
              <a:srgbClr val="807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88720" y="1554480"/>
            <a:ext cx="40233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A1A2E"/>
                </a:solidFill>
                <a:latin typeface="Microsoft JhengHei"/>
              </a:defRPr>
            </a:pPr>
            <a:r>
              <a:t>「主人早安～小白感應到今日靈氣充沛！</a:t>
            </a:r>
            <a:br/>
            <a:br/>
            <a:r>
              <a:t>財運方面大吉，宜往東南方發展。</a:t>
            </a:r>
            <a:br/>
            <a:r>
              <a:t>桃花運勢平穩，保持自信即可。</a:t>
            </a:r>
            <a:br/>
            <a:br/>
            <a:r>
              <a:t>幸運色：金色 | 幸運數字：7</a:t>
            </a:r>
            <a:br/>
            <a:r>
              <a:t>吉位：東南方 | 吉時：巳時」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0" y="365760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FFFCF5"/>
                </a:solidFill>
                <a:latin typeface="Microsoft JhengHei"/>
              </a:defRPr>
            </a:pPr>
            <a:r>
              <a:t>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402336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888888"/>
                </a:solidFill>
                <a:latin typeface="Microsoft JhengHei"/>
              </a:defRPr>
            </a:pPr>
            <a:r>
              <a:t>(尾巴指向靈寵)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37160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E8C547"/>
                </a:solidFill>
                <a:latin typeface="Microsoft JhengHei"/>
              </a:defRPr>
            </a:pPr>
            <a:r>
              <a:t>泡泡框規格</a:t>
            </a:r>
          </a:p>
          <a:p>
            <a:pPr>
              <a:spcBef>
                <a:spcPts val="600"/>
              </a:spcBef>
              <a:defRPr sz="1300" b="0">
                <a:solidFill>
                  <a:srgbClr val="CCCCCC"/>
                </a:solidFill>
                <a:latin typeface="Microsoft JhengHei"/>
              </a:defRPr>
            </a:pPr>
            <a:r>
              <a:t>▸ 背景色：rgba(255,252,245,0.95) — 米白半透明</a:t>
            </a:r>
          </a:p>
          <a:p>
            <a:pPr>
              <a:spcBef>
                <a:spcPts val="600"/>
              </a:spcBef>
              <a:defRPr sz="1300" b="0">
                <a:solidFill>
                  <a:srgbClr val="CCCCCC"/>
                </a:solidFill>
                <a:latin typeface="Microsoft JhengHei"/>
              </a:defRPr>
            </a:pPr>
            <a:r>
              <a:t>▸ 圓角：20px</a:t>
            </a:r>
          </a:p>
          <a:p>
            <a:pPr>
              <a:spcBef>
                <a:spcPts val="600"/>
              </a:spcBef>
              <a:defRPr sz="1300" b="0">
                <a:solidFill>
                  <a:srgbClr val="CCCCCC"/>
                </a:solidFill>
                <a:latin typeface="Microsoft JhengHei"/>
              </a:defRPr>
            </a:pPr>
            <a:r>
              <a:t>▸ 邊框：1.5px, rgba(60,50,30,0.12)</a:t>
            </a:r>
          </a:p>
          <a:p>
            <a:pPr>
              <a:spcBef>
                <a:spcPts val="600"/>
              </a:spcBef>
              <a:defRPr sz="1300" b="0">
                <a:solidFill>
                  <a:srgbClr val="CCCCCC"/>
                </a:solidFill>
                <a:latin typeface="Microsoft JhengHei"/>
              </a:defRPr>
            </a:pPr>
            <a:r>
              <a:t>▸ 文字：15px, 行高 24px, serif 字體, 深色 #1a1a2e</a:t>
            </a:r>
          </a:p>
          <a:p>
            <a:pPr>
              <a:spcBef>
                <a:spcPts val="600"/>
              </a:spcBef>
              <a:defRPr sz="1300" b="0">
                <a:solidFill>
                  <a:srgbClr val="CCCCCC"/>
                </a:solidFill>
                <a:latin typeface="Microsoft JhengHei"/>
              </a:defRPr>
            </a:pPr>
            <a:r>
              <a:t>▸ 位置：absolute, top:10, left:16, right:72 (避開右側列)</a:t>
            </a:r>
          </a:p>
          <a:p>
            <a:pPr>
              <a:spcBef>
                <a:spcPts val="600"/>
              </a:spcBef>
              <a:defRPr sz="1300" b="0">
                <a:solidFill>
                  <a:srgbClr val="CCCCCC"/>
                </a:solidFill>
                <a:latin typeface="Microsoft JhengHei"/>
              </a:defRPr>
            </a:pPr>
            <a:r>
              <a:t>▸ 高度：自動撐開，maxHeight 45% 螢幕高度</a:t>
            </a:r>
          </a:p>
          <a:p>
            <a:pPr>
              <a:spcBef>
                <a:spcPts val="600"/>
              </a:spcBef>
              <a:defRPr sz="1300" b="0">
                <a:solidFill>
                  <a:srgbClr val="CCCCCC"/>
                </a:solidFill>
                <a:latin typeface="Microsoft JhengHei"/>
              </a:defRPr>
            </a:pPr>
            <a:r>
              <a:t>▸ 捲動：內建 ScrollView，長文可上下捲動</a:t>
            </a:r>
          </a:p>
          <a:p>
            <a:pPr>
              <a:spcBef>
                <a:spcPts val="600"/>
              </a:spcBef>
              <a:defRPr sz="1300" b="0">
                <a:solidFill>
                  <a:srgbClr val="CCCCCC"/>
                </a:solidFill>
                <a:latin typeface="Microsoft JhengHei"/>
              </a:defRPr>
            </a:pPr>
            <a:r>
              <a:t>▸ 尾巴：CSS border triangle, 底部偏左 30%</a:t>
            </a:r>
          </a:p>
          <a:p>
            <a:pPr>
              <a:spcBef>
                <a:spcPts val="600"/>
              </a:spcBef>
              <a:defRPr sz="1300" b="0">
                <a:solidFill>
                  <a:srgbClr val="CCCCCC"/>
                </a:solidFill>
                <a:latin typeface="Microsoft JhengHei"/>
              </a:defRPr>
            </a:pPr>
            <a:r>
              <a:t>▸ 陰影：shadowOpacity 0.12, radius 10, offset y:4</a:t>
            </a:r>
          </a:p>
          <a:p>
            <a:pPr>
              <a:spcBef>
                <a:spcPts val="600"/>
              </a:spcBef>
              <a:defRPr sz="1300" b="0">
                <a:solidFill>
                  <a:srgbClr val="CCCCCC"/>
                </a:solidFill>
                <a:latin typeface="Microsoft JhengHei"/>
              </a:defRPr>
            </a:pPr>
            <a:r>
              <a:t>▸ 資料來源：chatStore 最新一則 message.text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E8C547"/>
                </a:solidFill>
                <a:latin typeface="Microsoft JhengHei"/>
              </a:defRPr>
            </a:pPr>
            <a:r>
              <a:t>3. 右側操作列 — Floating ActionBar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828800" y="1188720"/>
            <a:ext cx="1645920" cy="5029200"/>
          </a:xfrm>
          <a:prstGeom prst="roundRect">
            <a:avLst/>
          </a:prstGeom>
          <a:solidFill>
            <a:srgbClr val="141420"/>
          </a:solidFill>
          <a:ln w="25400">
            <a:solidFill>
              <a:srgbClr val="8A7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00" y="132588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888888"/>
                </a:solidFill>
                <a:latin typeface="Microsoft JhengHei"/>
              </a:defRPr>
            </a:pPr>
            <a:r>
              <a:t>── 功能鍵 ──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965960" y="1691640"/>
            <a:ext cx="1371600" cy="640080"/>
          </a:xfrm>
          <a:prstGeom prst="roundRect">
            <a:avLst/>
          </a:prstGeom>
          <a:solidFill>
            <a:srgbClr val="1A1A28"/>
          </a:solidFill>
          <a:ln w="12700">
            <a:solidFill>
              <a:srgbClr val="FFC1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011680" y="1737360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C107"/>
                </a:solidFill>
                <a:latin typeface="Microsoft JhengHei"/>
              </a:defRPr>
            </a:pPr>
            <a:r>
              <a:t>👁  靈眼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011680" y="2039112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888888"/>
                </a:solidFill>
                <a:latin typeface="Microsoft JhengHei"/>
              </a:defRPr>
            </a:pPr>
            <a:r>
              <a:t>面相分析 (相機)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965960" y="2468880"/>
            <a:ext cx="1371600" cy="640080"/>
          </a:xfrm>
          <a:prstGeom prst="roundRect">
            <a:avLst/>
          </a:prstGeom>
          <a:solidFill>
            <a:srgbClr val="1A1A28"/>
          </a:solidFill>
          <a:ln w="12700">
            <a:solidFill>
              <a:srgbClr val="4AD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011680" y="2514600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4ADE80"/>
                </a:solidFill>
                <a:latin typeface="Microsoft JhengHei"/>
              </a:defRPr>
            </a:pPr>
            <a:r>
              <a:t>🌍  靈心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011680" y="2816352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888888"/>
                </a:solidFill>
                <a:latin typeface="Microsoft JhengHei"/>
              </a:defRPr>
            </a:pPr>
            <a:r>
              <a:t>風水羅盤 (GPS+磁力)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965960" y="3246120"/>
            <a:ext cx="1371600" cy="640080"/>
          </a:xfrm>
          <a:prstGeom prst="roundRect">
            <a:avLst/>
          </a:prstGeom>
          <a:solidFill>
            <a:srgbClr val="1A1A28"/>
          </a:solidFill>
          <a:ln w="1270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011680" y="3291840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A78BFA"/>
                </a:solidFill>
                <a:latin typeface="Microsoft JhengHei"/>
              </a:defRPr>
            </a:pPr>
            <a:r>
              <a:t>✨  靈魂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11680" y="3593592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888888"/>
                </a:solidFill>
                <a:latin typeface="Microsoft JhengHei"/>
              </a:defRPr>
            </a:pPr>
            <a:r>
              <a:t>靈珠占卜 (搖卦)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28800" y="4023360"/>
            <a:ext cx="1645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888888"/>
                </a:solidFill>
                <a:latin typeface="Microsoft JhengHei"/>
              </a:defRPr>
            </a:pPr>
            <a:r>
              <a:t>─────────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28800" y="434340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888888"/>
                </a:solidFill>
                <a:latin typeface="Microsoft JhengHei"/>
              </a:defRPr>
            </a:pPr>
            <a:r>
              <a:t>── 養成鍵 ──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965960" y="4663440"/>
            <a:ext cx="1371600" cy="457200"/>
          </a:xfrm>
          <a:prstGeom prst="roundRect">
            <a:avLst/>
          </a:prstGeom>
          <a:solidFill>
            <a:srgbClr val="1A1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011680" y="470916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CCCCCC"/>
                </a:solidFill>
                <a:latin typeface="Microsoft JhengHei"/>
              </a:defRPr>
            </a:pPr>
            <a:r>
              <a:t>🍖  餵食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834640" y="4736592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888888"/>
                </a:solidFill>
                <a:latin typeface="Microsoft JhengHei"/>
              </a:defRPr>
            </a:pPr>
            <a:r>
              <a:t>+50 EXP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965960" y="5193792"/>
            <a:ext cx="1371600" cy="457200"/>
          </a:xfrm>
          <a:prstGeom prst="roundRect">
            <a:avLst/>
          </a:prstGeom>
          <a:solidFill>
            <a:srgbClr val="1A1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011680" y="5239512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CCCCCC"/>
                </a:solidFill>
                <a:latin typeface="Microsoft JhengHei"/>
              </a:defRPr>
            </a:pPr>
            <a:r>
              <a:t>🎮  玩耍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834640" y="5266944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888888"/>
                </a:solidFill>
                <a:latin typeface="Microsoft JhengHei"/>
              </a:defRPr>
            </a:pPr>
            <a:r>
              <a:t>+30 EXP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965960" y="5724144"/>
            <a:ext cx="1371600" cy="457200"/>
          </a:xfrm>
          <a:prstGeom prst="roundRect">
            <a:avLst/>
          </a:prstGeom>
          <a:solidFill>
            <a:srgbClr val="1A1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011680" y="5769864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CCCCCC"/>
                </a:solidFill>
                <a:latin typeface="Microsoft JhengHei"/>
              </a:defRPr>
            </a:pPr>
            <a:r>
              <a:t>🧘  冥想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834640" y="5797296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888888"/>
                </a:solidFill>
                <a:latin typeface="Microsoft JhengHei"/>
              </a:defRPr>
            </a:pPr>
            <a:r>
              <a:t>+20 EXP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0" y="1188720"/>
            <a:ext cx="6400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E8C547"/>
                </a:solidFill>
                <a:latin typeface="Microsoft JhengHei"/>
              </a:defRPr>
            </a:pPr>
            <a:r>
              <a:t>操作列規格</a:t>
            </a:r>
          </a:p>
          <a:p>
            <a:pPr>
              <a:spcBef>
                <a:spcPts val="400"/>
              </a:spcBef>
              <a:defRPr sz="600" b="0">
                <a:solidFill>
                  <a:srgbClr val="CCCCCC"/>
                </a:solidFill>
                <a:latin typeface="Microsoft JhengHei"/>
              </a:defRPr>
            </a:pPr>
          </a:p>
          <a:p>
            <a:pPr>
              <a:spcBef>
                <a:spcPts val="800"/>
              </a:spcBef>
              <a:defRPr sz="1600" b="1">
                <a:solidFill>
                  <a:srgbClr val="E8C547"/>
                </a:solidFill>
                <a:latin typeface="Microsoft JhengHei"/>
              </a:defRPr>
            </a:pPr>
            <a:r>
              <a:t>▸ 定位方式</a:t>
            </a:r>
          </a:p>
          <a:p>
            <a:pPr>
              <a:spcBef>
                <a:spcPts val="400"/>
              </a:spcBef>
              <a:defRPr sz="1300" b="0">
                <a:solidFill>
                  <a:srgbClr val="CCCCCC"/>
                </a:solidFill>
                <a:latin typeface="Microsoft JhengHei"/>
              </a:defRPr>
            </a:pPr>
            <a:r>
              <a:t>   position: absolute, right: 8, bottom: 40</a:t>
            </a:r>
          </a:p>
          <a:p>
            <a:pPr>
              <a:spcBef>
                <a:spcPts val="400"/>
              </a:spcBef>
              <a:defRPr sz="1300" b="0">
                <a:solidFill>
                  <a:srgbClr val="CCCCCC"/>
                </a:solidFill>
                <a:latin typeface="Microsoft JhengHei"/>
              </a:defRPr>
            </a:pPr>
            <a:r>
              <a:t>   浮動於靈寵畫面右側，不佔據 flex 空間</a:t>
            </a:r>
          </a:p>
          <a:p>
            <a:pPr>
              <a:spcBef>
                <a:spcPts val="1200"/>
              </a:spcBef>
              <a:defRPr sz="1600" b="1">
                <a:solidFill>
                  <a:srgbClr val="E8C547"/>
                </a:solidFill>
                <a:latin typeface="Microsoft JhengHei"/>
              </a:defRPr>
            </a:pPr>
            <a:r>
              <a:t>▸ 容器樣式</a:t>
            </a:r>
          </a:p>
          <a:p>
            <a:pPr>
              <a:spcBef>
                <a:spcPts val="400"/>
              </a:spcBef>
              <a:defRPr sz="1300" b="0">
                <a:solidFill>
                  <a:srgbClr val="CCCCCC"/>
                </a:solidFill>
                <a:latin typeface="Microsoft JhengHei"/>
              </a:defRPr>
            </a:pPr>
            <a:r>
              <a:t>   背景: rgba(8,8,15,0.75) — 半透明暗色</a:t>
            </a:r>
          </a:p>
          <a:p>
            <a:pPr>
              <a:spcBef>
                <a:spcPts val="400"/>
              </a:spcBef>
              <a:defRPr sz="1300" b="0">
                <a:solidFill>
                  <a:srgbClr val="CCCCCC"/>
                </a:solidFill>
                <a:latin typeface="Microsoft JhengHei"/>
              </a:defRPr>
            </a:pPr>
            <a:r>
              <a:t>   圓角: 24px, 邊框: 1px 金色淡邊</a:t>
            </a:r>
          </a:p>
          <a:p>
            <a:pPr>
              <a:spcBef>
                <a:spcPts val="1200"/>
              </a:spcBef>
              <a:defRPr sz="1600" b="1">
                <a:solidFill>
                  <a:srgbClr val="E8C547"/>
                </a:solidFill>
                <a:latin typeface="Microsoft JhengHei"/>
              </a:defRPr>
            </a:pPr>
            <a:r>
              <a:t>▸ 功能鍵行為</a:t>
            </a:r>
          </a:p>
          <a:p>
            <a:pPr>
              <a:spcBef>
                <a:spcPts val="400"/>
              </a:spcBef>
              <a:defRPr sz="1300" b="0">
                <a:solidFill>
                  <a:srgbClr val="CCCCCC"/>
                </a:solidFill>
                <a:latin typeface="Microsoft JhengHei"/>
              </a:defRPr>
            </a:pPr>
            <a:r>
              <a:t>   點擊 → 切換 activeFeature 狀態</a:t>
            </a:r>
          </a:p>
          <a:p>
            <a:pPr>
              <a:spcBef>
                <a:spcPts val="400"/>
              </a:spcBef>
              <a:defRPr sz="1300" b="0">
                <a:solidFill>
                  <a:srgbClr val="CCCCCC"/>
                </a:solidFill>
                <a:latin typeface="Microsoft JhengHei"/>
              </a:defRPr>
            </a:pPr>
            <a:r>
              <a:t>   再次點擊同一鍵 → 關閉功能面板</a:t>
            </a:r>
          </a:p>
          <a:p>
            <a:pPr>
              <a:spcBef>
                <a:spcPts val="400"/>
              </a:spcBef>
              <a:defRPr sz="1300" b="0">
                <a:solidFill>
                  <a:srgbClr val="CCCCCC"/>
                </a:solidFill>
                <a:latin typeface="Microsoft JhengHei"/>
              </a:defRPr>
            </a:pPr>
            <a:r>
              <a:t>   啟動時有對應色光暈 + 邊框高亮</a:t>
            </a:r>
          </a:p>
          <a:p>
            <a:pPr>
              <a:spcBef>
                <a:spcPts val="400"/>
              </a:spcBef>
              <a:defRPr sz="1300" b="0">
                <a:solidFill>
                  <a:srgbClr val="CCCCCC"/>
                </a:solidFill>
                <a:latin typeface="Microsoft JhengHei"/>
              </a:defRPr>
            </a:pPr>
            <a:r>
              <a:t>   額度不足 → 彈出升級 Modal</a:t>
            </a:r>
          </a:p>
          <a:p>
            <a:pPr>
              <a:spcBef>
                <a:spcPts val="1200"/>
              </a:spcBef>
              <a:defRPr sz="1600" b="1">
                <a:solidFill>
                  <a:srgbClr val="E8C547"/>
                </a:solidFill>
                <a:latin typeface="Microsoft JhengHei"/>
              </a:defRPr>
            </a:pPr>
            <a:r>
              <a:t>▸ 養成鍵行為</a:t>
            </a:r>
          </a:p>
          <a:p>
            <a:pPr>
              <a:spcBef>
                <a:spcPts val="400"/>
              </a:spcBef>
              <a:defRPr sz="1300" b="0">
                <a:solidFill>
                  <a:srgbClr val="CCCCCC"/>
                </a:solidFill>
                <a:latin typeface="Microsoft JhengHei"/>
              </a:defRPr>
            </a:pPr>
            <a:r>
              <a:t>   點擊 → 增加 EXP + 靈寵回話 (chat bubble)</a:t>
            </a:r>
          </a:p>
          <a:p>
            <a:pPr>
              <a:spcBef>
                <a:spcPts val="400"/>
              </a:spcBef>
              <a:defRPr sz="1300" b="0">
                <a:solidFill>
                  <a:srgbClr val="CCCCCC"/>
                </a:solidFill>
                <a:latin typeface="Microsoft JhengHei"/>
              </a:defRPr>
            </a:pPr>
            <a:r>
              <a:t>   等級上限時 → 彈出升級 Modal</a:t>
            </a:r>
          </a:p>
          <a:p>
            <a:pPr>
              <a:spcBef>
                <a:spcPts val="400"/>
              </a:spcBef>
              <a:defRPr sz="1300" b="0">
                <a:solidFill>
                  <a:srgbClr val="CCCCCC"/>
                </a:solidFill>
                <a:latin typeface="Microsoft JhengHei"/>
              </a:defRPr>
            </a:pPr>
            <a:r>
              <a:t>   功能面板開啟時自動隱藏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E8C547"/>
                </a:solidFill>
                <a:latin typeface="Microsoft JhengHei"/>
              </a:defRPr>
            </a:pPr>
            <a:r>
              <a:t>4. 靈寵頭像 — 分層渲染 + 動畫系統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14400" y="1280160"/>
            <a:ext cx="4572000" cy="777240"/>
          </a:xfrm>
          <a:prstGeom prst="roundRect">
            <a:avLst/>
          </a:prstGeom>
          <a:solidFill>
            <a:srgbClr val="141420"/>
          </a:solidFill>
          <a:ln w="19050">
            <a:solidFill>
              <a:srgbClr val="FFC1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353312"/>
            <a:ext cx="4206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C107"/>
                </a:solidFill>
                <a:latin typeface="Microsoft JhengHei"/>
              </a:defRPr>
            </a:pPr>
            <a:r>
              <a:t>Layer 0 — 功能光環 (Aura)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691640"/>
            <a:ext cx="4206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Microsoft JhengHei"/>
              </a:defRPr>
            </a:pPr>
            <a:r>
              <a:t>rgba glow image, 功能啟動時顯示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2240280"/>
            <a:ext cx="4572000" cy="777240"/>
          </a:xfrm>
          <a:prstGeom prst="roundRect">
            <a:avLst/>
          </a:prstGeom>
          <a:solidFill>
            <a:srgbClr val="141420"/>
          </a:solidFill>
          <a:ln w="19050">
            <a:solidFill>
              <a:srgbClr val="E8C5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2313432"/>
            <a:ext cx="4206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E8C547"/>
                </a:solidFill>
                <a:latin typeface="Microsoft JhengHei"/>
              </a:defRPr>
            </a:pPr>
            <a:r>
              <a:t>Layer 1 — 頭像圖片 / Emoji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2651760"/>
            <a:ext cx="4206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Microsoft JhengHei"/>
              </a:defRPr>
            </a:pPr>
            <a:r>
              <a:t>圓形裁切, 金色邊框, 陰影光暈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3200400"/>
            <a:ext cx="4572000" cy="777240"/>
          </a:xfrm>
          <a:prstGeom prst="roundRect">
            <a:avLst/>
          </a:prstGeom>
          <a:solidFill>
            <a:srgbClr val="141420"/>
          </a:solidFill>
          <a:ln w="190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3273552"/>
            <a:ext cx="4206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CCCCCC"/>
                </a:solidFill>
                <a:latin typeface="Microsoft JhengHei"/>
              </a:defRPr>
            </a:pPr>
            <a:r>
              <a:t>Layer 2 — 外框覆蓋 (Frame)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3611880"/>
            <a:ext cx="4206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Microsoft JhengHei"/>
              </a:defRPr>
            </a:pPr>
            <a:r>
              <a:t>一般框 / 靈眼框 / 靈心框 / 靈魂框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14400" y="4160520"/>
            <a:ext cx="4572000" cy="777240"/>
          </a:xfrm>
          <a:prstGeom prst="roundRect">
            <a:avLst/>
          </a:prstGeom>
          <a:solidFill>
            <a:srgbClr val="141420"/>
          </a:solidFill>
          <a:ln w="19050">
            <a:solidFill>
              <a:srgbClr val="FFC1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7280" y="4233672"/>
            <a:ext cx="4206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C107"/>
                </a:solidFill>
                <a:latin typeface="Microsoft JhengHei"/>
              </a:defRPr>
            </a:pPr>
            <a:r>
              <a:t>Layer 3 — 靈眼符號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4572000"/>
            <a:ext cx="4206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Microsoft JhengHei"/>
              </a:defRPr>
            </a:pPr>
            <a:r>
              <a:t>靈眼功能啟動時頂部顯示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128016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E8C547"/>
                </a:solidFill>
                <a:latin typeface="Microsoft JhengHei"/>
              </a:defRPr>
            </a:pPr>
            <a:r>
              <a:t>動畫系統</a:t>
            </a:r>
          </a:p>
          <a:p>
            <a:pPr>
              <a:spcBef>
                <a:spcPts val="400"/>
              </a:spcBef>
              <a:defRPr sz="600" b="0">
                <a:solidFill>
                  <a:srgbClr val="CCCCCC"/>
                </a:solidFill>
                <a:latin typeface="Microsoft JhengHei"/>
              </a:defRPr>
            </a:pPr>
          </a:p>
          <a:p>
            <a:pPr>
              <a:spcBef>
                <a:spcPts val="800"/>
              </a:spcBef>
              <a:defRPr sz="1600" b="1">
                <a:solidFill>
                  <a:srgbClr val="E8C547"/>
                </a:solidFill>
                <a:latin typeface="Microsoft JhengHei"/>
              </a:defRPr>
            </a:pPr>
            <a:r>
              <a:t>▸ 浮動動畫 (Float)</a:t>
            </a:r>
          </a:p>
          <a:p>
            <a:pPr>
              <a:spcBef>
                <a:spcPts val="400"/>
              </a:spcBef>
              <a:defRPr sz="1300" b="0">
                <a:solidFill>
                  <a:srgbClr val="CCCCCC"/>
                </a:solidFill>
                <a:latin typeface="Microsoft JhengHei"/>
              </a:defRPr>
            </a:pPr>
            <a:r>
              <a:t>   translateY: 0 ↔ -6px</a:t>
            </a:r>
          </a:p>
          <a:p>
            <a:pPr>
              <a:spcBef>
                <a:spcPts val="400"/>
              </a:spcBef>
              <a:defRPr sz="1300" b="0">
                <a:solidFill>
                  <a:srgbClr val="CCCCCC"/>
                </a:solidFill>
                <a:latin typeface="Microsoft JhengHei"/>
              </a:defRPr>
            </a:pPr>
            <a:r>
              <a:t>   duration: 1500ms × 2 (loop)</a:t>
            </a:r>
          </a:p>
          <a:p>
            <a:pPr>
              <a:spcBef>
                <a:spcPts val="400"/>
              </a:spcBef>
              <a:defRPr sz="1300" b="0">
                <a:solidFill>
                  <a:srgbClr val="CCCCCC"/>
                </a:solidFill>
                <a:latin typeface="Microsoft JhengHei"/>
              </a:defRPr>
            </a:pPr>
            <a:r>
              <a:t>   easing: sin curve — 自然呼吸感</a:t>
            </a:r>
          </a:p>
          <a:p>
            <a:pPr>
              <a:spcBef>
                <a:spcPts val="1200"/>
              </a:spcBef>
              <a:defRPr sz="1600" b="1">
                <a:solidFill>
                  <a:srgbClr val="E8C547"/>
                </a:solidFill>
                <a:latin typeface="Microsoft JhengHei"/>
              </a:defRPr>
            </a:pPr>
            <a:r>
              <a:t>▸ 脈動動畫 (Pulse)</a:t>
            </a:r>
          </a:p>
          <a:p>
            <a:pPr>
              <a:spcBef>
                <a:spcPts val="400"/>
              </a:spcBef>
              <a:defRPr sz="1300" b="0">
                <a:solidFill>
                  <a:srgbClr val="CCCCCC"/>
                </a:solidFill>
                <a:latin typeface="Microsoft JhengHei"/>
              </a:defRPr>
            </a:pPr>
            <a:r>
              <a:t>   scale: 1.0 ↔ 1.05</a:t>
            </a:r>
          </a:p>
          <a:p>
            <a:pPr>
              <a:spcBef>
                <a:spcPts val="400"/>
              </a:spcBef>
              <a:defRPr sz="1300" b="0">
                <a:solidFill>
                  <a:srgbClr val="CCCCCC"/>
                </a:solidFill>
                <a:latin typeface="Microsoft JhengHei"/>
              </a:defRPr>
            </a:pPr>
            <a:r>
              <a:t>   duration: 900ms × 2 (loop)</a:t>
            </a:r>
          </a:p>
          <a:p>
            <a:pPr>
              <a:spcBef>
                <a:spcPts val="400"/>
              </a:spcBef>
              <a:defRPr sz="1300" b="0">
                <a:solidFill>
                  <a:srgbClr val="CCCCCC"/>
                </a:solidFill>
                <a:latin typeface="Microsoft JhengHei"/>
              </a:defRPr>
            </a:pPr>
            <a:r>
              <a:t>   僅在功能啟動時觸發</a:t>
            </a:r>
          </a:p>
          <a:p>
            <a:pPr>
              <a:spcBef>
                <a:spcPts val="1200"/>
              </a:spcBef>
              <a:defRPr sz="1600" b="1">
                <a:solidFill>
                  <a:srgbClr val="E8C547"/>
                </a:solidFill>
                <a:latin typeface="Microsoft JhengHei"/>
              </a:defRPr>
            </a:pPr>
            <a:r>
              <a:t>▸ 尺寸設定</a:t>
            </a:r>
          </a:p>
          <a:p>
            <a:pPr>
              <a:spcBef>
                <a:spcPts val="400"/>
              </a:spcBef>
              <a:defRPr sz="1300" b="0">
                <a:solidFill>
                  <a:srgbClr val="CCCCCC"/>
                </a:solidFill>
                <a:latin typeface="Microsoft JhengHei"/>
              </a:defRPr>
            </a:pPr>
            <a:r>
              <a:t>   一般模式: 240×240 (頭像 160px, 框 210px)</a:t>
            </a:r>
          </a:p>
          <a:p>
            <a:pPr>
              <a:spcBef>
                <a:spcPts val="400"/>
              </a:spcBef>
              <a:defRPr sz="1300" b="0">
                <a:solidFill>
                  <a:srgbClr val="CCCCCC"/>
                </a:solidFill>
                <a:latin typeface="Microsoft JhengHei"/>
              </a:defRPr>
            </a:pPr>
            <a:r>
              <a:t>   精簡模式: 130×130 (頭像 80px, 框 110px)</a:t>
            </a:r>
          </a:p>
          <a:p>
            <a:pPr>
              <a:spcBef>
                <a:spcPts val="400"/>
              </a:spcBef>
              <a:defRPr sz="1300" b="0">
                <a:solidFill>
                  <a:srgbClr val="CCCCCC"/>
                </a:solidFill>
                <a:latin typeface="Microsoft JhengHei"/>
              </a:defRPr>
            </a:pPr>
            <a:r>
              <a:t>   功能啟動時外框加大 (228 / 126px)</a:t>
            </a:r>
          </a:p>
          <a:p>
            <a:pPr>
              <a:spcBef>
                <a:spcPts val="1200"/>
              </a:spcBef>
              <a:defRPr sz="1600" b="1">
                <a:solidFill>
                  <a:srgbClr val="E8C547"/>
                </a:solidFill>
                <a:latin typeface="Microsoft JhengHei"/>
              </a:defRPr>
            </a:pPr>
            <a:r>
              <a:t>▸ 五行對應色</a:t>
            </a:r>
          </a:p>
          <a:p>
            <a:pPr>
              <a:spcBef>
                <a:spcPts val="400"/>
              </a:spcBef>
              <a:defRPr sz="1300" b="0">
                <a:solidFill>
                  <a:srgbClr val="CCCCCC"/>
                </a:solidFill>
                <a:latin typeface="Microsoft JhengHei"/>
              </a:defRPr>
            </a:pPr>
            <a:r>
              <a:t>   金/木/水/火/土 → 各有專屬色彩</a:t>
            </a:r>
          </a:p>
          <a:p>
            <a:pPr>
              <a:spcBef>
                <a:spcPts val="400"/>
              </a:spcBef>
              <a:defRPr sz="1300" b="0">
                <a:solidFill>
                  <a:srgbClr val="CCCCCC"/>
                </a:solidFill>
                <a:latin typeface="Microsoft JhengHei"/>
              </a:defRPr>
            </a:pPr>
            <a:r>
              <a:t>   顯示於靈寵名牌下方的屬性徽章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E8C547"/>
                </a:solidFill>
                <a:latin typeface="Microsoft JhengHei"/>
              </a:defRPr>
            </a:pPr>
            <a:r>
              <a:t>5. 三大核心功能 — 靈眼 / 靈心 / 靈魂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188720"/>
            <a:ext cx="3566160" cy="5029200"/>
          </a:xfrm>
          <a:prstGeom prst="roundRect">
            <a:avLst/>
          </a:prstGeom>
          <a:solidFill>
            <a:srgbClr val="141420"/>
          </a:solidFill>
          <a:ln w="19050">
            <a:solidFill>
              <a:srgbClr val="FFC1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32588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C107"/>
                </a:solidFill>
                <a:latin typeface="Microsoft JhengHei"/>
              </a:defRPr>
            </a:pPr>
            <a:r>
              <a:t>靈眼 — 面相分析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92024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Microsoft JhengHei"/>
              </a:defRPr>
            </a:pPr>
            <a:r>
              <a:t>• 啟動相機拍攝臉部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304288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Microsoft JhengHei"/>
              </a:defRPr>
            </a:pPr>
            <a:r>
              <a:t>• 上傳至 Cloud Run AI 分析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688336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Microsoft JhengHei"/>
              </a:defRPr>
            </a:pPr>
            <a:r>
              <a:t>• 回傳：五官評分、運勢等級、開運物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072384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Microsoft JhengHei"/>
              </a:defRPr>
            </a:pPr>
            <a:r>
              <a:t>• 結果透過漫畫泡泡呈現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456432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Microsoft JhengHei"/>
              </a:defRPr>
            </a:pPr>
            <a:r>
              <a:t>• API: /ai/face-reading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93776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88888"/>
                </a:solidFill>
                <a:latin typeface="Microsoft JhengHei"/>
              </a:defRPr>
            </a:pPr>
            <a:r>
              <a:t>額度：Free 1次/日 | Member 5次/日 | Supreme 無限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51960" y="1188720"/>
            <a:ext cx="3566160" cy="5029200"/>
          </a:xfrm>
          <a:prstGeom prst="roundRect">
            <a:avLst/>
          </a:prstGeom>
          <a:solidFill>
            <a:srgbClr val="141420"/>
          </a:solidFill>
          <a:ln w="19050">
            <a:solidFill>
              <a:srgbClr val="4AD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34840" y="132588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4ADE80"/>
                </a:solidFill>
                <a:latin typeface="Microsoft JhengHei"/>
              </a:defRPr>
            </a:pPr>
            <a:r>
              <a:t>靈心 — 風水羅盤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26280" y="192024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Microsoft JhengHei"/>
              </a:defRPr>
            </a:pPr>
            <a:r>
              <a:t>• 取得 GPS 座標 + 磁力計方位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26280" y="2304288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Microsoft JhengHei"/>
              </a:defRPr>
            </a:pPr>
            <a:r>
              <a:t>• 即時數位羅盤顯示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26280" y="2688336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Microsoft JhengHei"/>
              </a:defRPr>
            </a:pPr>
            <a:r>
              <a:t>• 上傳至 AI 分析方位吉凶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26280" y="3072384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Microsoft JhengHei"/>
              </a:defRPr>
            </a:pPr>
            <a:r>
              <a:t>• 回傳：吉方/凶方、座位建議、開運提示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26280" y="3456432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Microsoft JhengHei"/>
              </a:defRPr>
            </a:pPr>
            <a:r>
              <a:t>• API: /ai/feng-shui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34840" y="493776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88888"/>
                </a:solidFill>
                <a:latin typeface="Microsoft JhengHei"/>
              </a:defRPr>
            </a:pPr>
            <a:r>
              <a:t>額度：Free 1次/日 | Member 5次/日 | Supreme 無限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46720" y="1188720"/>
            <a:ext cx="3566160" cy="5029200"/>
          </a:xfrm>
          <a:prstGeom prst="roundRect">
            <a:avLst/>
          </a:prstGeom>
          <a:solidFill>
            <a:srgbClr val="141420"/>
          </a:solidFill>
          <a:ln w="1905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0" y="132588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A78BFA"/>
                </a:solidFill>
                <a:latin typeface="Microsoft JhengHei"/>
              </a:defRPr>
            </a:pPr>
            <a:r>
              <a:t>靈魂 — 靈珠占卜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21040" y="192024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Microsoft JhengHei"/>
              </a:defRPr>
            </a:pPr>
            <a:r>
              <a:t>• 搖動手機模擬搖卦 (加速度計)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21040" y="2304288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Microsoft JhengHei"/>
              </a:defRPr>
            </a:pPr>
            <a:r>
              <a:t>• 本地生成六爻卦象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21040" y="2688336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Microsoft JhengHei"/>
              </a:defRPr>
            </a:pPr>
            <a:r>
              <a:t>• 用戶輸入問題 → AI 解卦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21040" y="3072384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Microsoft JhengHei"/>
              </a:defRPr>
            </a:pPr>
            <a:r>
              <a:t>• 回傳：卦名、直接回答、深度解讀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21040" y="3456432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Microsoft JhengHei"/>
              </a:defRPr>
            </a:pPr>
            <a:r>
              <a:t>• API: /ai/divination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0" y="493776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88888"/>
                </a:solidFill>
                <a:latin typeface="Microsoft JhengHei"/>
              </a:defRPr>
            </a:pPr>
            <a:r>
              <a:t>額度：Free 1次/日 | Member 5次/日 | Supreme 無限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E8C547"/>
                </a:solidFill>
                <a:latin typeface="Microsoft JhengHei"/>
              </a:defRPr>
            </a:pPr>
            <a:r>
              <a:t>6. 操作邏輯流程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371600"/>
            <a:ext cx="2926080" cy="731520"/>
          </a:xfrm>
          <a:prstGeom prst="roundRect">
            <a:avLst/>
          </a:prstGeom>
          <a:solidFill>
            <a:srgbClr val="141420"/>
          </a:solidFill>
          <a:ln w="12700">
            <a:solidFill>
              <a:srgbClr val="E8C5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417320"/>
            <a:ext cx="2743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E8C547"/>
                </a:solidFill>
                <a:latin typeface="Microsoft JhengHei"/>
              </a:defRPr>
            </a:pPr>
            <a:r>
              <a:t>使用者開啟 App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286000"/>
            <a:ext cx="2926080" cy="731520"/>
          </a:xfrm>
          <a:prstGeom prst="roundRect">
            <a:avLst/>
          </a:prstGeom>
          <a:solidFill>
            <a:srgbClr val="141420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2331720"/>
            <a:ext cx="2743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CCCCCC"/>
                </a:solidFill>
                <a:latin typeface="Microsoft JhengHei"/>
              </a:defRPr>
            </a:pPr>
            <a:r>
              <a:t>自動登入</a:t>
            </a:r>
            <a:br/>
            <a:r>
              <a:t>(JWT Token)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383280"/>
            <a:ext cx="2926080" cy="731520"/>
          </a:xfrm>
          <a:prstGeom prst="roundRect">
            <a:avLst/>
          </a:prstGeom>
          <a:solidFill>
            <a:srgbClr val="141420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3429000"/>
            <a:ext cx="2743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CCCCCC"/>
                </a:solidFill>
                <a:latin typeface="Microsoft JhengHei"/>
              </a:defRPr>
            </a:pPr>
            <a:r>
              <a:t>載入靈寵 + 命盤資料</a:t>
            </a:r>
            <a:br/>
            <a:r>
              <a:t>(Zustand persist)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4572000"/>
            <a:ext cx="2926080" cy="731520"/>
          </a:xfrm>
          <a:prstGeom prst="roundRect">
            <a:avLst/>
          </a:prstGeom>
          <a:solidFill>
            <a:srgbClr val="141420"/>
          </a:solidFill>
          <a:ln w="12700">
            <a:solidFill>
              <a:srgbClr val="E8C5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4617720"/>
            <a:ext cx="2743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E8C547"/>
                </a:solidFill>
                <a:latin typeface="Microsoft JhengHei"/>
              </a:defRPr>
            </a:pPr>
            <a:r>
              <a:t>自動產生每日運勢</a:t>
            </a:r>
            <a:br/>
            <a:r>
              <a:t>(八字+紫微+奇門+星座)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54480" y="214884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888888"/>
                </a:solidFill>
                <a:latin typeface="Microsoft JhengHei"/>
              </a:defRPr>
            </a:pPr>
            <a:r>
              <a:t>▼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4480" y="306324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888888"/>
                </a:solidFill>
                <a:latin typeface="Microsoft JhengHei"/>
              </a:defRPr>
            </a:pPr>
            <a:r>
              <a:t>▼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54480" y="416052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888888"/>
                </a:solidFill>
                <a:latin typeface="Microsoft JhengHei"/>
              </a:defRPr>
            </a:pPr>
            <a:r>
              <a:t>▼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118872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E8C547"/>
                </a:solidFill>
                <a:latin typeface="Microsoft JhengHei"/>
              </a:defRPr>
            </a:pPr>
            <a:r>
              <a:t>功能操作流程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173736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Microsoft JhengHei"/>
              </a:defRPr>
            </a:pPr>
            <a:r>
              <a:t>1. 點擊右側功能鍵 (靈眼/靈心/靈魂)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210312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Microsoft JhengHei"/>
              </a:defRPr>
            </a:pPr>
            <a:r>
              <a:t>2. 檢查使用額度 (getRemainingUses)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246888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Microsoft JhengHei"/>
              </a:defRPr>
            </a:pPr>
            <a:r>
              <a:t>   → 額度不足：彈出升級 Modal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0" y="283464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Microsoft JhengHei"/>
              </a:defRPr>
            </a:pPr>
            <a:r>
              <a:t>   → 額度充足：切換 activeFeature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0" y="320040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Microsoft JhengHei"/>
              </a:defRPr>
            </a:pPr>
            <a:r>
              <a:t>3. 靈寵縮小 (compact mode)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356616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Microsoft JhengHei"/>
              </a:defRPr>
            </a:pPr>
            <a:r>
              <a:t>4. 開啟功能面板 (FeaturePanel)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0" y="393192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Microsoft JhengHei"/>
              </a:defRPr>
            </a:pPr>
            <a:r>
              <a:t>5. 用戶操作 (拍照/羅盤/搖卦)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0" y="429768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Microsoft JhengHei"/>
              </a:defRPr>
            </a:pPr>
            <a:r>
              <a:t>6. 送出 API 請求至 Cloud Run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0" y="466344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Microsoft JhengHei"/>
              </a:defRPr>
            </a:pPr>
            <a:r>
              <a:t>7. 結果寫入 chatStore (addMessage)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0" y="502920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Microsoft JhengHei"/>
              </a:defRPr>
            </a:pPr>
            <a:r>
              <a:t>8. 關閉功能面板 → 回到全螢幕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0" y="539496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Microsoft JhengHei"/>
              </a:defRPr>
            </a:pPr>
            <a:r>
              <a:t>9. 泡泡框顯示最新結果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686800" y="118872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E8C547"/>
                </a:solidFill>
                <a:latin typeface="Microsoft JhengHei"/>
              </a:defRPr>
            </a:pPr>
            <a:r>
              <a:t>養成操作流程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686800" y="173736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Microsoft JhengHei"/>
              </a:defRPr>
            </a:pPr>
            <a:r>
              <a:t>1. 點擊養成鍵 (餵食/玩耍/冥想)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686800" y="210312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Microsoft JhengHei"/>
              </a:defRPr>
            </a:pPr>
            <a:r>
              <a:t>2. 檢查等級上限 (canLevelUp)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686800" y="246888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Microsoft JhengHei"/>
              </a:defRPr>
            </a:pPr>
            <a:r>
              <a:t>   → 已達上限：彈出升級 Modal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686800" y="283464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Microsoft JhengHei"/>
              </a:defRPr>
            </a:pPr>
            <a:r>
              <a:t>   → 可升級：執行養成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686800" y="320040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Microsoft JhengHei"/>
              </a:defRPr>
            </a:pPr>
            <a:r>
              <a:t>3. 增加 EXP (50/30/20)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686800" y="356616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Microsoft JhengHei"/>
              </a:defRPr>
            </a:pPr>
            <a:r>
              <a:t>4. 靈寵回話寫入 chatStore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686800" y="393192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Microsoft JhengHei"/>
              </a:defRPr>
            </a:pPr>
            <a:r>
              <a:t>5. 若升級 → 追加升級訊息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686800" y="429768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Microsoft JhengHei"/>
              </a:defRPr>
            </a:pPr>
            <a:r>
              <a:t>6. 若進化 → 追加進化訊息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686800" y="466344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Microsoft JhengHei"/>
              </a:defRPr>
            </a:pPr>
            <a:r>
              <a:t>7. 泡泡框即時更新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E8C547"/>
                </a:solidFill>
                <a:latin typeface="Microsoft JhengHei"/>
              </a:defRPr>
            </a:pPr>
            <a:r>
              <a:t>7. 狀態管理與資料流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74320" y="1188720"/>
            <a:ext cx="2834640" cy="5029200"/>
          </a:xfrm>
          <a:prstGeom prst="roundRect">
            <a:avLst/>
          </a:prstGeom>
          <a:solidFill>
            <a:srgbClr val="141420"/>
          </a:solidFill>
          <a:ln w="19050">
            <a:solidFill>
              <a:srgbClr val="E8C5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2588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8C547"/>
                </a:solidFill>
                <a:latin typeface="Microsoft JhengHei"/>
              </a:defRPr>
            </a:pPr>
            <a:r>
              <a:t>petStore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920240"/>
            <a:ext cx="2468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Microsoft JhengHei"/>
              </a:defRPr>
            </a:pPr>
            <a:r>
              <a:t>• name, emoji, creature, element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267712"/>
            <a:ext cx="2468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Microsoft JhengHei"/>
              </a:defRPr>
            </a:pPr>
            <a:r>
              <a:t>• level, exp, evolution, petId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615184"/>
            <a:ext cx="2468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Microsoft JhengHei"/>
              </a:defRPr>
            </a:pPr>
            <a:r>
              <a:t>• feed(), play(), meditate()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962656"/>
            <a:ext cx="2468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Microsoft JhengHei"/>
              </a:defRPr>
            </a:pPr>
            <a:r>
              <a:t>• canLevelUp(planType)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310128"/>
            <a:ext cx="2468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Microsoft JhengHei"/>
              </a:defRPr>
            </a:pPr>
            <a:r>
              <a:t>• AsyncStorage 持久化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91840" y="1188720"/>
            <a:ext cx="2834640" cy="5029200"/>
          </a:xfrm>
          <a:prstGeom prst="roundRect">
            <a:avLst/>
          </a:prstGeom>
          <a:solidFill>
            <a:srgbClr val="141420"/>
          </a:solidFill>
          <a:ln w="19050">
            <a:solidFill>
              <a:srgbClr val="4AD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474720" y="132588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4ADE80"/>
                </a:solidFill>
                <a:latin typeface="Microsoft JhengHei"/>
              </a:defRPr>
            </a:pPr>
            <a:r>
              <a:t>userStore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74720" y="1920240"/>
            <a:ext cx="2468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Microsoft JhengHei"/>
              </a:defRPr>
            </a:pPr>
            <a:r>
              <a:t>• userName, birthYear/Month/Day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74720" y="2267712"/>
            <a:ext cx="2468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Microsoft JhengHei"/>
              </a:defRPr>
            </a:pPr>
            <a:r>
              <a:t>• bazi (八字), ziwei (紫微), astrology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74720" y="2615184"/>
            <a:ext cx="2468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Microsoft JhengHei"/>
              </a:defRPr>
            </a:pPr>
            <a:r>
              <a:t>• planType (free/member/supreme)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74720" y="2962656"/>
            <a:ext cx="2468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Microsoft JhengHei"/>
              </a:defRPr>
            </a:pPr>
            <a:r>
              <a:t>• getRemainingUses(feature, level)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74720" y="3310128"/>
            <a:ext cx="2468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Microsoft JhengHei"/>
              </a:defRPr>
            </a:pPr>
            <a:r>
              <a:t>• AsyncStorage 持久化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09360" y="1188720"/>
            <a:ext cx="2834640" cy="5029200"/>
          </a:xfrm>
          <a:prstGeom prst="roundRect">
            <a:avLst/>
          </a:prstGeom>
          <a:solidFill>
            <a:srgbClr val="141420"/>
          </a:solidFill>
          <a:ln w="1905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92240" y="132588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A78BFA"/>
                </a:solidFill>
                <a:latin typeface="Microsoft JhengHei"/>
              </a:defRPr>
            </a:pPr>
            <a:r>
              <a:t>chatStore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2240" y="1920240"/>
            <a:ext cx="2468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Microsoft JhengHei"/>
              </a:defRPr>
            </a:pPr>
            <a:r>
              <a:t>• messages[] (最多 200 則)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2267712"/>
            <a:ext cx="2468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Microsoft JhengHei"/>
              </a:defRPr>
            </a:pPr>
            <a:r>
              <a:t>• addMessage(msg)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92240" y="2615184"/>
            <a:ext cx="2468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Microsoft JhengHei"/>
              </a:defRPr>
            </a:pPr>
            <a:r>
              <a:t>• ChatMessage: type, text, data, time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92240" y="2962656"/>
            <a:ext cx="2468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Microsoft JhengHei"/>
              </a:defRPr>
            </a:pPr>
            <a:r>
              <a:t>• types: fortune/face/fengshui/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92240" y="3310128"/>
            <a:ext cx="2468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Microsoft JhengHei"/>
              </a:defRPr>
            </a:pPr>
            <a:r>
              <a:t>•   divination/feed/play/meditate/levelup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92240" y="3657600"/>
            <a:ext cx="2468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Microsoft JhengHei"/>
              </a:defRPr>
            </a:pPr>
            <a:r>
              <a:t>• AsyncStorage 持久化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326880" y="1188720"/>
            <a:ext cx="2834640" cy="5029200"/>
          </a:xfrm>
          <a:prstGeom prst="roundRect">
            <a:avLst/>
          </a:prstGeom>
          <a:solidFill>
            <a:srgbClr val="141420"/>
          </a:solidFill>
          <a:ln w="19050">
            <a:solidFill>
              <a:srgbClr val="FFC1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509760" y="132588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C107"/>
                </a:solidFill>
                <a:latin typeface="Microsoft JhengHei"/>
              </a:defRPr>
            </a:pPr>
            <a:r>
              <a:t>authStore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509760" y="1920240"/>
            <a:ext cx="2468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Microsoft JhengHei"/>
              </a:defRPr>
            </a:pPr>
            <a:r>
              <a:t>• token (JWT access)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509760" y="2267712"/>
            <a:ext cx="2468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Microsoft JhengHei"/>
              </a:defRPr>
            </a:pPr>
            <a:r>
              <a:t>• refreshToken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509760" y="2615184"/>
            <a:ext cx="2468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Microsoft JhengHei"/>
              </a:defRPr>
            </a:pPr>
            <a:r>
              <a:t>• isAuthenticated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509760" y="2962656"/>
            <a:ext cx="2468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Microsoft JhengHei"/>
              </a:defRPr>
            </a:pPr>
            <a:r>
              <a:t>• login(), logout(), register()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509760" y="3310128"/>
            <a:ext cx="2468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Microsoft JhengHei"/>
              </a:defRPr>
            </a:pPr>
            <a:r>
              <a:t>• Apple Sign-In support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E8C547"/>
                </a:solidFill>
                <a:latin typeface="Microsoft JhengHei"/>
              </a:defRPr>
            </a:pPr>
            <a:r>
              <a:t>8. 設定頁面 (Profile)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188720"/>
            <a:ext cx="3657600" cy="2377440"/>
          </a:xfrm>
          <a:prstGeom prst="roundRect">
            <a:avLst/>
          </a:prstGeom>
          <a:solidFill>
            <a:srgbClr val="141420"/>
          </a:solidFill>
          <a:ln w="12700">
            <a:solidFill>
              <a:srgbClr val="8A7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8C547"/>
                </a:solidFill>
                <a:latin typeface="Microsoft JhengHei"/>
              </a:defRPr>
            </a:pPr>
            <a:r>
              <a:t>導航方式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9164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Microsoft JhengHei"/>
              </a:defRPr>
            </a:pPr>
            <a:r>
              <a:t>• 主畫面左上角 ⚙️ 按鈕進入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993392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Microsoft JhengHei"/>
              </a:defRPr>
            </a:pPr>
            <a:r>
              <a:t>• 頁面頂部「← 靈寵」返回主畫面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295144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Microsoft JhengHei"/>
              </a:defRPr>
            </a:pPr>
            <a:r>
              <a:t>• 無底部 Tab Bar，純頁面切換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97680" y="1188720"/>
            <a:ext cx="3657600" cy="2377440"/>
          </a:xfrm>
          <a:prstGeom prst="roundRect">
            <a:avLst/>
          </a:prstGeom>
          <a:solidFill>
            <a:srgbClr val="141420"/>
          </a:solidFill>
          <a:ln w="12700">
            <a:solidFill>
              <a:srgbClr val="8A7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80560" y="128016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8C547"/>
                </a:solidFill>
                <a:latin typeface="Microsoft JhengHei"/>
              </a:defRPr>
            </a:pPr>
            <a:r>
              <a:t>使用者資訊卡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169164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Microsoft JhengHei"/>
              </a:defRPr>
            </a:pPr>
            <a:r>
              <a:t>• 靈寵頭像 + 用戶名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1993392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Microsoft JhengHei"/>
              </a:defRPr>
            </a:pPr>
            <a:r>
              <a:t>• Lv.等級 + 靈寵名 + 屬性 + 節氣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2295144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Microsoft JhengHei"/>
              </a:defRPr>
            </a:pPr>
            <a:r>
              <a:t>• 訂閱等級 badge (Free/Member/Supreme)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38160" y="1188720"/>
            <a:ext cx="3657600" cy="2377440"/>
          </a:xfrm>
          <a:prstGeom prst="roundRect">
            <a:avLst/>
          </a:prstGeom>
          <a:solidFill>
            <a:srgbClr val="141420"/>
          </a:solidFill>
          <a:ln w="12700">
            <a:solidFill>
              <a:srgbClr val="8A7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21040" y="128016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8C547"/>
                </a:solidFill>
                <a:latin typeface="Microsoft JhengHei"/>
              </a:defRPr>
            </a:pPr>
            <a:r>
              <a:t>歷史回覆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80" y="169164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Microsoft JhengHei"/>
              </a:defRPr>
            </a:pPr>
            <a:r>
              <a:t>• 展開/收起 切換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80" y="1993392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Microsoft JhengHei"/>
              </a:defRPr>
            </a:pPr>
            <a:r>
              <a:t>• 內嵌 PetChat 元件 (FlatList)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80" y="2295144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Microsoft JhengHei"/>
              </a:defRPr>
            </a:pPr>
            <a:r>
              <a:t>• 完整對話記錄 + 日期分隔線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12480" y="2596896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Microsoft JhengHei"/>
              </a:defRPr>
            </a:pPr>
            <a:r>
              <a:t>• 所有功能結果、養成回覆、升級通知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3931920"/>
            <a:ext cx="3657600" cy="2377440"/>
          </a:xfrm>
          <a:prstGeom prst="roundRect">
            <a:avLst/>
          </a:prstGeom>
          <a:solidFill>
            <a:srgbClr val="141420"/>
          </a:solidFill>
          <a:ln w="12700">
            <a:solidFill>
              <a:srgbClr val="8A7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402336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8C547"/>
                </a:solidFill>
                <a:latin typeface="Microsoft JhengHei"/>
              </a:defRPr>
            </a:pPr>
            <a:r>
              <a:t>語言設定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443484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Microsoft JhengHei"/>
              </a:defRPr>
            </a:pPr>
            <a:r>
              <a:t>• 6 種語言：繁中/簡中/日/英/德/法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4736592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Microsoft JhengHei"/>
              </a:defRPr>
            </a:pPr>
            <a:r>
              <a:t>• react-i18next 即時切換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297680" y="3931920"/>
            <a:ext cx="3657600" cy="2377440"/>
          </a:xfrm>
          <a:prstGeom prst="roundRect">
            <a:avLst/>
          </a:prstGeom>
          <a:solidFill>
            <a:srgbClr val="141420"/>
          </a:solidFill>
          <a:ln w="12700">
            <a:solidFill>
              <a:srgbClr val="8A7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480560" y="402336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8C547"/>
                </a:solidFill>
                <a:latin typeface="Microsoft JhengHei"/>
              </a:defRPr>
            </a:pPr>
            <a:r>
              <a:t>命盤資料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0" y="443484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Microsoft JhengHei"/>
              </a:defRPr>
            </a:pPr>
            <a:r>
              <a:t>• 八字四柱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0" y="4736592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Microsoft JhengHei"/>
              </a:defRPr>
            </a:pPr>
            <a:r>
              <a:t>• 紫微主星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0" y="5038344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Microsoft JhengHei"/>
              </a:defRPr>
            </a:pPr>
            <a:r>
              <a:t>• 西洋星座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5340096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Microsoft JhengHei"/>
              </a:defRPr>
            </a:pPr>
            <a:r>
              <a:t>• 節氣靈寵對應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138160" y="3931920"/>
            <a:ext cx="3657600" cy="2377440"/>
          </a:xfrm>
          <a:prstGeom prst="roundRect">
            <a:avLst/>
          </a:prstGeom>
          <a:solidFill>
            <a:srgbClr val="141420"/>
          </a:solidFill>
          <a:ln w="12700">
            <a:solidFill>
              <a:srgbClr val="8A7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321040" y="402336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8C547"/>
                </a:solidFill>
                <a:latin typeface="Microsoft JhengHei"/>
              </a:defRPr>
            </a:pPr>
            <a:r>
              <a:t>其他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412480" y="443484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Microsoft JhengHei"/>
              </a:defRPr>
            </a:pPr>
            <a:r>
              <a:t>• 推播通知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412480" y="4736592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Microsoft JhengHei"/>
              </a:defRPr>
            </a:pPr>
            <a:r>
              <a:t>• 隱私權政策 / 服務條款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412480" y="5038344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Microsoft JhengHei"/>
              </a:defRPr>
            </a:pPr>
            <a:r>
              <a:t>• 恢復購買 (RevenueCat)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412480" y="5340096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Microsoft JhengHei"/>
              </a:defRPr>
            </a:pPr>
            <a:r>
              <a:t>• 登出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E8C547"/>
                </a:solidFill>
                <a:latin typeface="Microsoft JhengHei"/>
              </a:defRPr>
            </a:pPr>
            <a:r>
              <a:t>9. 訂閱方案與額度系統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14400" y="1371600"/>
            <a:ext cx="1828800" cy="548640"/>
          </a:xfrm>
          <a:prstGeom prst="roundRect">
            <a:avLst/>
          </a:prstGeom>
          <a:solidFill>
            <a:srgbClr val="141420"/>
          </a:solidFill>
          <a:ln w="12700">
            <a:solidFill>
              <a:srgbClr val="8A7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141732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E8C547"/>
                </a:solidFill>
                <a:latin typeface="Microsoft JhengHei"/>
              </a:defRPr>
            </a:pPr>
          </a:p>
        </p:txBody>
      </p:sp>
      <p:sp>
        <p:nvSpPr>
          <p:cNvPr id="5" name="Rounded Rectangle 4"/>
          <p:cNvSpPr/>
          <p:nvPr/>
        </p:nvSpPr>
        <p:spPr>
          <a:xfrm>
            <a:off x="2834640" y="1371600"/>
            <a:ext cx="2743200" cy="548640"/>
          </a:xfrm>
          <a:prstGeom prst="roundRect">
            <a:avLst/>
          </a:prstGeom>
          <a:solidFill>
            <a:srgbClr val="141420"/>
          </a:solidFill>
          <a:ln w="12700">
            <a:solidFill>
              <a:srgbClr val="8A7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926080" y="141732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888888"/>
                </a:solidFill>
                <a:latin typeface="Microsoft JhengHei"/>
              </a:defRPr>
            </a:pPr>
            <a:r>
              <a:t>Free (免費)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0" y="1371600"/>
            <a:ext cx="2743200" cy="548640"/>
          </a:xfrm>
          <a:prstGeom prst="roundRect">
            <a:avLst/>
          </a:prstGeom>
          <a:solidFill>
            <a:srgbClr val="141420"/>
          </a:solidFill>
          <a:ln w="12700">
            <a:solidFill>
              <a:srgbClr val="8A7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760720" y="141732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E8C547"/>
                </a:solidFill>
                <a:latin typeface="Microsoft JhengHei"/>
              </a:defRPr>
            </a:pPr>
            <a:r>
              <a:t>Member ($390/月)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503920" y="1371600"/>
            <a:ext cx="2743200" cy="548640"/>
          </a:xfrm>
          <a:prstGeom prst="roundRect">
            <a:avLst/>
          </a:prstGeom>
          <a:solidFill>
            <a:srgbClr val="141420"/>
          </a:solidFill>
          <a:ln w="12700">
            <a:solidFill>
              <a:srgbClr val="8A7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95360" y="141732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A78BFA"/>
                </a:solidFill>
                <a:latin typeface="Microsoft JhengHei"/>
              </a:defRPr>
            </a:pPr>
            <a:r>
              <a:t>Supreme ($1,990/月)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4400" y="2057400"/>
            <a:ext cx="1828800" cy="502920"/>
          </a:xfrm>
          <a:prstGeom prst="roundRect">
            <a:avLst/>
          </a:prstGeom>
          <a:solidFill>
            <a:srgbClr val="1414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2103120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CCCCCC"/>
                </a:solidFill>
                <a:latin typeface="Microsoft JhengHei"/>
              </a:defRPr>
            </a:pPr>
            <a:r>
              <a:t>靈眼 (面相)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834640" y="2057400"/>
            <a:ext cx="2743200" cy="502920"/>
          </a:xfrm>
          <a:prstGeom prst="roundRect">
            <a:avLst/>
          </a:prstGeom>
          <a:solidFill>
            <a:srgbClr val="1414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926080" y="210312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888888"/>
                </a:solidFill>
                <a:latin typeface="Microsoft JhengHei"/>
              </a:defRPr>
            </a:pPr>
            <a:r>
              <a:t>1 次/日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0" y="2057400"/>
            <a:ext cx="2743200" cy="502920"/>
          </a:xfrm>
          <a:prstGeom prst="roundRect">
            <a:avLst/>
          </a:prstGeom>
          <a:solidFill>
            <a:srgbClr val="1414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760720" y="210312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E8C547"/>
                </a:solidFill>
                <a:latin typeface="Microsoft JhengHei"/>
              </a:defRPr>
            </a:pPr>
            <a:r>
              <a:t>5 次/日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503920" y="2057400"/>
            <a:ext cx="2743200" cy="502920"/>
          </a:xfrm>
          <a:prstGeom prst="roundRect">
            <a:avLst/>
          </a:prstGeom>
          <a:solidFill>
            <a:srgbClr val="1414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595360" y="210312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A78BFA"/>
                </a:solidFill>
                <a:latin typeface="Microsoft JhengHei"/>
              </a:defRPr>
            </a:pPr>
            <a:r>
              <a:t>無限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14400" y="2651760"/>
            <a:ext cx="1828800" cy="502920"/>
          </a:xfrm>
          <a:prstGeom prst="roundRect">
            <a:avLst/>
          </a:prstGeom>
          <a:solidFill>
            <a:srgbClr val="1212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05840" y="2697480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CCCCCC"/>
                </a:solidFill>
                <a:latin typeface="Microsoft JhengHei"/>
              </a:defRPr>
            </a:pPr>
            <a:r>
              <a:t>靈心 (風水)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834640" y="2651760"/>
            <a:ext cx="2743200" cy="502920"/>
          </a:xfrm>
          <a:prstGeom prst="roundRect">
            <a:avLst/>
          </a:prstGeom>
          <a:solidFill>
            <a:srgbClr val="1212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926080" y="269748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888888"/>
                </a:solidFill>
                <a:latin typeface="Microsoft JhengHei"/>
              </a:defRPr>
            </a:pPr>
            <a:r>
              <a:t>1 次/日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669280" y="2651760"/>
            <a:ext cx="2743200" cy="502920"/>
          </a:xfrm>
          <a:prstGeom prst="roundRect">
            <a:avLst/>
          </a:prstGeom>
          <a:solidFill>
            <a:srgbClr val="1212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760720" y="269748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E8C547"/>
                </a:solidFill>
                <a:latin typeface="Microsoft JhengHei"/>
              </a:defRPr>
            </a:pPr>
            <a:r>
              <a:t>5 次/日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503920" y="2651760"/>
            <a:ext cx="2743200" cy="502920"/>
          </a:xfrm>
          <a:prstGeom prst="roundRect">
            <a:avLst/>
          </a:prstGeom>
          <a:solidFill>
            <a:srgbClr val="1212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595360" y="269748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A78BFA"/>
                </a:solidFill>
                <a:latin typeface="Microsoft JhengHei"/>
              </a:defRPr>
            </a:pPr>
            <a:r>
              <a:t>無限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14400" y="3246120"/>
            <a:ext cx="1828800" cy="502920"/>
          </a:xfrm>
          <a:prstGeom prst="roundRect">
            <a:avLst/>
          </a:prstGeom>
          <a:solidFill>
            <a:srgbClr val="1414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05840" y="3291840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CCCCCC"/>
                </a:solidFill>
                <a:latin typeface="Microsoft JhengHei"/>
              </a:defRPr>
            </a:pPr>
            <a:r>
              <a:t>靈魂 (占卜)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2834640" y="3246120"/>
            <a:ext cx="2743200" cy="502920"/>
          </a:xfrm>
          <a:prstGeom prst="roundRect">
            <a:avLst/>
          </a:prstGeom>
          <a:solidFill>
            <a:srgbClr val="1414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926080" y="329184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888888"/>
                </a:solidFill>
                <a:latin typeface="Microsoft JhengHei"/>
              </a:defRPr>
            </a:pPr>
            <a:r>
              <a:t>1 次/日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669280" y="3246120"/>
            <a:ext cx="2743200" cy="502920"/>
          </a:xfrm>
          <a:prstGeom prst="roundRect">
            <a:avLst/>
          </a:prstGeom>
          <a:solidFill>
            <a:srgbClr val="1414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760720" y="329184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E8C547"/>
                </a:solidFill>
                <a:latin typeface="Microsoft JhengHei"/>
              </a:defRPr>
            </a:pPr>
            <a:r>
              <a:t>5 次/日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503920" y="3246120"/>
            <a:ext cx="2743200" cy="502920"/>
          </a:xfrm>
          <a:prstGeom prst="roundRect">
            <a:avLst/>
          </a:prstGeom>
          <a:solidFill>
            <a:srgbClr val="1414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595360" y="329184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A78BFA"/>
                </a:solidFill>
                <a:latin typeface="Microsoft JhengHei"/>
              </a:defRPr>
            </a:pPr>
            <a:r>
              <a:t>無限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14400" y="3840480"/>
            <a:ext cx="1828800" cy="502920"/>
          </a:xfrm>
          <a:prstGeom prst="roundRect">
            <a:avLst/>
          </a:prstGeom>
          <a:solidFill>
            <a:srgbClr val="1212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05840" y="3886200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CCCCCC"/>
                </a:solidFill>
                <a:latin typeface="Microsoft JhengHei"/>
              </a:defRPr>
            </a:pPr>
            <a:r>
              <a:t>靈寵等級上限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2834640" y="3840480"/>
            <a:ext cx="2743200" cy="502920"/>
          </a:xfrm>
          <a:prstGeom prst="roundRect">
            <a:avLst/>
          </a:prstGeom>
          <a:solidFill>
            <a:srgbClr val="1212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926080" y="388620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888888"/>
                </a:solidFill>
                <a:latin typeface="Microsoft JhengHei"/>
              </a:defRPr>
            </a:pPr>
            <a:r>
              <a:t>Lv.10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669280" y="3840480"/>
            <a:ext cx="2743200" cy="502920"/>
          </a:xfrm>
          <a:prstGeom prst="roundRect">
            <a:avLst/>
          </a:prstGeom>
          <a:solidFill>
            <a:srgbClr val="1212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760720" y="388620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E8C547"/>
                </a:solidFill>
                <a:latin typeface="Microsoft JhengHei"/>
              </a:defRPr>
            </a:pPr>
            <a:r>
              <a:t>Lv.50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8503920" y="3840480"/>
            <a:ext cx="2743200" cy="502920"/>
          </a:xfrm>
          <a:prstGeom prst="roundRect">
            <a:avLst/>
          </a:prstGeom>
          <a:solidFill>
            <a:srgbClr val="1212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595360" y="388620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A78BFA"/>
                </a:solidFill>
                <a:latin typeface="Microsoft JhengHei"/>
              </a:defRPr>
            </a:pPr>
            <a:r>
              <a:t>無限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914400" y="4434840"/>
            <a:ext cx="1828800" cy="502920"/>
          </a:xfrm>
          <a:prstGeom prst="roundRect">
            <a:avLst/>
          </a:prstGeom>
          <a:solidFill>
            <a:srgbClr val="1414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005840" y="4480560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CCCCCC"/>
                </a:solidFill>
                <a:latin typeface="Microsoft JhengHei"/>
              </a:defRPr>
            </a:pPr>
            <a:r>
              <a:t>養成功能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2834640" y="4434840"/>
            <a:ext cx="2743200" cy="502920"/>
          </a:xfrm>
          <a:prstGeom prst="roundRect">
            <a:avLst/>
          </a:prstGeom>
          <a:solidFill>
            <a:srgbClr val="1414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2926080" y="448056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888888"/>
                </a:solidFill>
                <a:latin typeface="Microsoft JhengHei"/>
              </a:defRPr>
            </a:pPr>
            <a:r>
              <a:t>有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5669280" y="4434840"/>
            <a:ext cx="2743200" cy="502920"/>
          </a:xfrm>
          <a:prstGeom prst="roundRect">
            <a:avLst/>
          </a:prstGeom>
          <a:solidFill>
            <a:srgbClr val="1414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760720" y="448056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E8C547"/>
                </a:solidFill>
                <a:latin typeface="Microsoft JhengHei"/>
              </a:defRPr>
            </a:pPr>
            <a:r>
              <a:t>有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8503920" y="4434840"/>
            <a:ext cx="2743200" cy="502920"/>
          </a:xfrm>
          <a:prstGeom prst="roundRect">
            <a:avLst/>
          </a:prstGeom>
          <a:solidFill>
            <a:srgbClr val="1414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595360" y="448056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A78BFA"/>
                </a:solidFill>
                <a:latin typeface="Microsoft JhengHei"/>
              </a:defRPr>
            </a:pPr>
            <a:r>
              <a:t>有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914400" y="5029200"/>
            <a:ext cx="1828800" cy="502920"/>
          </a:xfrm>
          <a:prstGeom prst="roundRect">
            <a:avLst/>
          </a:prstGeom>
          <a:solidFill>
            <a:srgbClr val="1212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1005840" y="5074920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CCCCCC"/>
                </a:solidFill>
                <a:latin typeface="Microsoft JhengHei"/>
              </a:defRPr>
            </a:pPr>
            <a:r>
              <a:t>每日運勢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2834640" y="5029200"/>
            <a:ext cx="2743200" cy="502920"/>
          </a:xfrm>
          <a:prstGeom prst="roundRect">
            <a:avLst/>
          </a:prstGeom>
          <a:solidFill>
            <a:srgbClr val="1212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2926080" y="507492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888888"/>
                </a:solidFill>
                <a:latin typeface="Microsoft JhengHei"/>
              </a:defRPr>
            </a:pPr>
            <a:r>
              <a:t>有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5669280" y="5029200"/>
            <a:ext cx="2743200" cy="502920"/>
          </a:xfrm>
          <a:prstGeom prst="roundRect">
            <a:avLst/>
          </a:prstGeom>
          <a:solidFill>
            <a:srgbClr val="1212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5760720" y="507492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E8C547"/>
                </a:solidFill>
                <a:latin typeface="Microsoft JhengHei"/>
              </a:defRPr>
            </a:pPr>
            <a:r>
              <a:t>有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8503920" y="5029200"/>
            <a:ext cx="2743200" cy="502920"/>
          </a:xfrm>
          <a:prstGeom prst="roundRect">
            <a:avLst/>
          </a:prstGeom>
          <a:solidFill>
            <a:srgbClr val="1212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8595360" y="507492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A78BFA"/>
                </a:solidFill>
                <a:latin typeface="Microsoft JhengHei"/>
              </a:defRPr>
            </a:pPr>
            <a:r>
              <a:t>有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914400" y="57607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88888"/>
                </a:solidFill>
                <a:latin typeface="Microsoft JhengHei"/>
              </a:defRPr>
            </a:pPr>
            <a:r>
              <a:t>額度檢查邏輯：IP rate-limit (express-rate-limit) → 後端每日額度 (DB) → 前端本地 check | 付款: RevenueCat (Apple IAP)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E8C547"/>
                </a:solidFill>
                <a:latin typeface="Microsoft JhengHei"/>
              </a:defRPr>
            </a:pPr>
            <a:r>
              <a:t>10. 技術架構總覽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74320" y="1188720"/>
            <a:ext cx="2834640" cy="5029200"/>
          </a:xfrm>
          <a:prstGeom prst="roundRect">
            <a:avLst/>
          </a:prstGeom>
          <a:solidFill>
            <a:srgbClr val="141420"/>
          </a:solidFill>
          <a:ln w="19050">
            <a:solidFill>
              <a:srgbClr val="E8C5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2588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E8C547"/>
                </a:solidFill>
                <a:latin typeface="Microsoft JhengHei"/>
              </a:defRPr>
            </a:pPr>
            <a:r>
              <a:t>前端 (App)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92024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Microsoft JhengHei"/>
              </a:defRPr>
            </a:pPr>
            <a:r>
              <a:t>• React Native 0.81 + Expo SDK 52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267712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Microsoft JhengHei"/>
              </a:defRPr>
            </a:pPr>
            <a:r>
              <a:t>• Expo Router (file-based)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615184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Microsoft JhengHei"/>
              </a:defRPr>
            </a:pPr>
            <a:r>
              <a:t>• Zustand + AsyncStorage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962656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Microsoft JhengHei"/>
              </a:defRPr>
            </a:pPr>
            <a:r>
              <a:t>• react-i18next (6 語言)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310128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Microsoft JhengHei"/>
              </a:defRPr>
            </a:pPr>
            <a:r>
              <a:t>• expo-camera / expo-location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65760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Microsoft JhengHei"/>
              </a:defRPr>
            </a:pPr>
            <a:r>
              <a:t>• expo-sensors (Magnetometer)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4005072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Microsoft JhengHei"/>
              </a:defRPr>
            </a:pPr>
            <a:r>
              <a:t>• RevenueCat (IAP)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4352544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Microsoft JhengHei"/>
              </a:defRPr>
            </a:pPr>
            <a:r>
              <a:t>• Apple Sign-In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291840" y="1188720"/>
            <a:ext cx="2834640" cy="5029200"/>
          </a:xfrm>
          <a:prstGeom prst="roundRect">
            <a:avLst/>
          </a:prstGeom>
          <a:solidFill>
            <a:srgbClr val="141420"/>
          </a:solidFill>
          <a:ln w="19050">
            <a:solidFill>
              <a:srgbClr val="4AD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474720" y="132588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4ADE80"/>
                </a:solidFill>
                <a:latin typeface="Microsoft JhengHei"/>
              </a:defRPr>
            </a:pPr>
            <a:r>
              <a:t>後端 (API)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74720" y="192024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Microsoft JhengHei"/>
              </a:defRPr>
            </a:pPr>
            <a:r>
              <a:t>• Node.js + Express + TypeScript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74720" y="2267712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Microsoft JhengHei"/>
              </a:defRPr>
            </a:pPr>
            <a:r>
              <a:t>• Google Cloud Run (asia-east1)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74720" y="2615184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Microsoft JhengHei"/>
              </a:defRPr>
            </a:pPr>
            <a:r>
              <a:t>• JWT 認證 (access + refresh)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74720" y="2962656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Microsoft JhengHei"/>
              </a:defRPr>
            </a:pPr>
            <a:r>
              <a:t>• Claude AI (面相/風水/占卜)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74720" y="3310128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Microsoft JhengHei"/>
              </a:defRPr>
            </a:pPr>
            <a:r>
              <a:t>• express-rate-limit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74720" y="365760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Microsoft JhengHei"/>
              </a:defRPr>
            </a:pPr>
            <a:r>
              <a:t>• RevenueCat Webhook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474720" y="4005072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Microsoft JhengHei"/>
              </a:defRPr>
            </a:pPr>
            <a:r>
              <a:t>• Bundle ID: com.youquan.lingxi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309360" y="1188720"/>
            <a:ext cx="2834640" cy="5029200"/>
          </a:xfrm>
          <a:prstGeom prst="roundRect">
            <a:avLst/>
          </a:prstGeom>
          <a:solidFill>
            <a:srgbClr val="141420"/>
          </a:solidFill>
          <a:ln w="1905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92240" y="132588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A78BFA"/>
                </a:solidFill>
                <a:latin typeface="Microsoft JhengHei"/>
              </a:defRPr>
            </a:pPr>
            <a:r>
              <a:t>命理引擎 (本地)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92240" y="192024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Microsoft JhengHei"/>
              </a:defRPr>
            </a:pPr>
            <a:r>
              <a:t>• bazi-engine (八字計算)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92240" y="2267712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Microsoft JhengHei"/>
              </a:defRPr>
            </a:pPr>
            <a:r>
              <a:t>• ziwei-engine (紫微斗數)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92240" y="2615184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Microsoft JhengHei"/>
              </a:defRPr>
            </a:pPr>
            <a:r>
              <a:t>• qimen-engine (奇門遁甲)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92240" y="2962656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Microsoft JhengHei"/>
              </a:defRPr>
            </a:pPr>
            <a:r>
              <a:t>• astrology (西洋星座)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92240" y="3310128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Microsoft JhengHei"/>
              </a:defRPr>
            </a:pPr>
            <a:r>
              <a:t>• unified-fortune-engine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92240" y="365760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Microsoft JhengHei"/>
              </a:defRPr>
            </a:pPr>
            <a:r>
              <a:t>• pet-narrator (靈寵敘事)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92240" y="4005072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Microsoft JhengHei"/>
              </a:defRPr>
            </a:pPr>
            <a:r>
              <a:t>• 所有運勢計算在前端完成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92240" y="4352544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Microsoft JhengHei"/>
              </a:defRPr>
            </a:pPr>
            <a:r>
              <a:t>• AI 僅用於文本生成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326880" y="1188720"/>
            <a:ext cx="2834640" cy="5029200"/>
          </a:xfrm>
          <a:prstGeom prst="roundRect">
            <a:avLst/>
          </a:prstGeom>
          <a:solidFill>
            <a:srgbClr val="141420"/>
          </a:solidFill>
          <a:ln w="19050">
            <a:solidFill>
              <a:srgbClr val="FFC1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509760" y="132588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C107"/>
                </a:solidFill>
                <a:latin typeface="Microsoft JhengHei"/>
              </a:defRPr>
            </a:pPr>
            <a:r>
              <a:t>建置 &amp; 部署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509760" y="192024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Microsoft JhengHei"/>
              </a:defRPr>
            </a:pPr>
            <a:r>
              <a:t>• EAS Build (iOS Ad Hoc)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509760" y="2267712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Microsoft JhengHei"/>
              </a:defRPr>
            </a:pPr>
            <a:r>
              <a:t>• eas.json: preview profile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509760" y="2615184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Microsoft JhengHei"/>
              </a:defRPr>
            </a:pPr>
            <a:r>
              <a:t>• Apple Developer (Individual)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509760" y="2962656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Microsoft JhengHei"/>
              </a:defRPr>
            </a:pPr>
            <a:r>
              <a:t>• Provisioned devices (UDID)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509760" y="3310128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Microsoft JhengHei"/>
              </a:defRPr>
            </a:pPr>
            <a:r>
              <a:t>• gcloud CLI (Cloud Run)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509760" y="365760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Microsoft JhengHei"/>
              </a:defRPr>
            </a:pPr>
            <a:r>
              <a:t>• GitHub (程式碼管理)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