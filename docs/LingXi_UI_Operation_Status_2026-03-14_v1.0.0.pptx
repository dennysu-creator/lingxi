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29184" y="310896"/>
            <a:ext cx="11539728" cy="594360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601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E8C547"/>
                </a:solidFill>
                <a:latin typeface="Microsoft JhengHei"/>
              </a:defRPr>
            </a:pPr>
            <a:r>
              <a:t>靈犀 LingXi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10789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3ECD4"/>
                </a:solidFill>
                <a:latin typeface="Microsoft JhengHei"/>
              </a:defRPr>
            </a:pPr>
            <a:r>
              <a:t>目前最新開發狀況</a:t>
            </a:r>
            <a:br/>
            <a:r>
              <a:t>UI 操作畫面詳細說明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542032"/>
            <a:ext cx="96926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4B07A"/>
                </a:solidFill>
                <a:latin typeface="Microsoft JhengHei"/>
              </a:defRPr>
            </a:pPr>
            <a:r>
              <a:t>本簡報以目前工作樹為準，重點反映 2026-03-09 UI 重構後的單一靈寵中心版本。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3236976"/>
            <a:ext cx="1737360" cy="38404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3300984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日期 2026-03-14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50208" y="3236976"/>
            <a:ext cx="1645920" cy="38404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50208" y="330098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版本 v1.0.0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3236976"/>
            <a:ext cx="1371600" cy="38404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06440" y="3300984"/>
            <a:ext cx="1371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分支 main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79208" y="3236976"/>
            <a:ext cx="1920240" cy="38404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330098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基準 fd9d2fa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840480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79576" y="3986784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075688" y="3877056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35295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Pet Center / Default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16151" y="4041648"/>
            <a:ext cx="2505456" cy="38404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9304" y="4087368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087368"/>
            <a:ext cx="1234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3月14日 · 卯時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9232" y="4087368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Lv.3 小鹿靈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4590288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3ECD4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56231" y="4919472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小鹿靈  Lv.3  · 木系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600199" y="5102352"/>
            <a:ext cx="1426464" cy="45720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600199" y="5102352"/>
            <a:ext cx="859536" cy="45720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89304" y="5285232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小鹿靈 08:30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289304" y="5394960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C4B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80744" y="5468112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今天財運偏穩，先動後靜較順。吉方可先看東南，色彩以青綠、米金最合。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9304" y="6089903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小鹿靈 08:31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89304" y="6199631"/>
            <a:ext cx="1938528" cy="548640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80744" y="6272783"/>
            <a:ext cx="17556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餵食後精神好多了，今天更願意幫你觀察細節。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16151" y="8028432"/>
            <a:ext cx="2157984" cy="43891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71016" y="8083296"/>
            <a:ext cx="621792" cy="1645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71016" y="8129016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F3ECD4"/>
                </a:solidFill>
                <a:latin typeface="Microsoft JhengHei"/>
              </a:defRPr>
            </a:pPr>
            <a:r>
              <a:t>🍖 餵食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65960" y="8083296"/>
            <a:ext cx="621792" cy="1645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8129016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F3ECD4"/>
                </a:solidFill>
                <a:latin typeface="Microsoft JhengHei"/>
              </a:defRPr>
            </a:pPr>
            <a:r>
              <a:t>🎾 玩耍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60904" y="8083296"/>
            <a:ext cx="621792" cy="1645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60904" y="8129016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F3ECD4"/>
                </a:solidFill>
                <a:latin typeface="Microsoft JhengHei"/>
              </a:defRPr>
            </a:pPr>
            <a:r>
              <a:t>🧘 冥想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271016" y="8284463"/>
            <a:ext cx="621792" cy="1463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762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71016" y="8321040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E8C547"/>
                </a:solidFill>
                <a:latin typeface="Microsoft JhengHei"/>
              </a:defRPr>
            </a:pPr>
            <a:r>
              <a:t>👁 靈眼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965960" y="8284463"/>
            <a:ext cx="621792" cy="1463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65960" y="8321040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C4B07A"/>
                </a:solidFill>
                <a:latin typeface="Microsoft JhengHei"/>
              </a:defRPr>
            </a:pPr>
            <a:r>
              <a:t>🌍 靈心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60904" y="8284463"/>
            <a:ext cx="621792" cy="1463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60904" y="8321040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C4B07A"/>
                </a:solidFill>
                <a:latin typeface="Microsoft JhengHei"/>
              </a:defRPr>
            </a:pPr>
            <a:r>
              <a:t>🏮 靈魂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216151" y="8778240"/>
            <a:ext cx="2505456" cy="43891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92807" y="8823960"/>
            <a:ext cx="411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ECD4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37943" y="9015984"/>
            <a:ext cx="548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靈寵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43784" y="8823960"/>
            <a:ext cx="411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ECD4"/>
                </a:solidFill>
                <a:latin typeface="Microsoft JhengHei"/>
              </a:defRPr>
            </a:pPr>
            <a:r>
              <a:t>⚙️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70632" y="9015984"/>
            <a:ext cx="548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09160" y="3840480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837176" y="3986784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5733288" y="3877056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09160" y="35295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Upgrade Modal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892040" y="4334256"/>
            <a:ext cx="2103120" cy="406908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983480" y="4700016"/>
            <a:ext cx="1920240" cy="340156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3208" y="4846320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ECD4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85816" y="4846320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3ECD4"/>
                </a:solidFill>
                <a:latin typeface="Microsoft JhengHei"/>
              </a:defRPr>
            </a:pPr>
            <a:r>
              <a:t>今日次數用完了，升級後我可以幫你看更多。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93208" y="5394960"/>
            <a:ext cx="1682496" cy="71323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84648" y="5468112"/>
            <a:ext cx="731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⭐ 會員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71032" y="5468112"/>
            <a:ext cx="67665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$390 / 月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184648" y="5632704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更多次數 / 更高等級 / 更深分析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093208" y="6291072"/>
            <a:ext cx="1682496" cy="71323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84648" y="6364224"/>
            <a:ext cx="731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Microsoft JhengHei"/>
              </a:defRPr>
            </a:pPr>
            <a:r>
              <a:t>👑 至尊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71032" y="6364224"/>
            <a:ext cx="67665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A78BFA"/>
                </a:solidFill>
                <a:latin typeface="Microsoft JhengHei"/>
              </a:defRPr>
            </a:pPr>
            <a:r>
              <a:t>$1990 / 月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84648" y="6528816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更多次數 / 更高等級 / 更深分析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495544" y="7626096"/>
            <a:ext cx="877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明天再來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366760" y="3840480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494776" y="3986784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390888" y="3877056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366760" y="3529584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Profile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04504" y="4169663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04504" y="4480560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01C2C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77656" y="4626864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ECD4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98280" y="4590288"/>
            <a:ext cx="8229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Denny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098280" y="4773168"/>
            <a:ext cx="10058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Lv.3 小鹿靈 · 木系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104120" y="4626864"/>
            <a:ext cx="329184" cy="1645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889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104120" y="4672583"/>
            <a:ext cx="32918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E8C547"/>
                </a:solidFill>
                <a:latin typeface="Microsoft JhengHei"/>
              </a:defRPr>
            </a:pPr>
            <a:r>
              <a:t>Free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04504" y="5376672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語言設定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604504" y="5486400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8695944" y="561441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繁中 / 简中 / 日本語 / EN / DE / FR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04504" y="6336792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命盤資料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8604504" y="6446520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695944" y="6537959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八字、主星、星座、節氣靈寵</a:t>
            </a:r>
            <a:br/>
            <a:r>
              <a:t>都集中在同一卡內顯示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604504" y="7296912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其他選單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8604504" y="7406640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695944" y="747979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隱私條款 / 使用條款 / 關於 v1.0.0</a:t>
            </a:r>
            <a:br/>
            <a:r>
              <a:t>恢復購買 / 登出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8531352" y="8778240"/>
            <a:ext cx="2505456" cy="43891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9208008" y="8823960"/>
            <a:ext cx="411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ECD4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153144" y="9015984"/>
            <a:ext cx="548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靈寵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158984" y="8823960"/>
            <a:ext cx="411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ECD4"/>
                </a:solidFill>
                <a:latin typeface="Microsoft JhengHei"/>
              </a:defRPr>
            </a:pPr>
            <a:r>
              <a:t>⚙️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085832" y="9015984"/>
            <a:ext cx="548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彙整依據與最新 UI 判讀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用程式碼、工作樹狀態與既有進度文件交叉比對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3840480" cy="233172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3511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本次彙整依據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347472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`app/_layout.tsx`：根路由與 auth/onboarding 分流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`app/auth.tsx`、`app/onboarding.tsx`：登入與召喚流程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`app/(tabs)/pet.tsx`、`profile.tsx`：現行兩個主畫面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`components/*`：聊天式 UI、功能面板、升級彈窗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`stores/*`：額度、等級、訊息持久化與開發模式行為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`DEV-PROGRESS.md`：已完成與待驗證項目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11880"/>
            <a:ext cx="3840480" cy="214884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739896"/>
            <a:ext cx="35112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最新結論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23360"/>
            <a:ext cx="347472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UI 主軸已從多功能 tab 改為單一 `Pet Center`。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`index / eye / heart / pearl` 舊 tab 正在被移除。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三大功能改為從 ActionBar 打開內嵌面板。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所有結果統一回寫為靈寵聊天氣泡。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`screenshots/` 內 3/3 舊圖已不是最新基準。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1115568"/>
            <a:ext cx="6675120" cy="464515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129844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4040"/>
                </a:solidFill>
                <a:latin typeface="Microsoft JhengHei"/>
              </a:defRPr>
            </a:pPr>
            <a:r>
              <a:t>舊版結構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28032" y="1572768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ECD4"/>
                </a:solidFill>
                <a:latin typeface="Microsoft JhengHei"/>
              </a:defRPr>
            </a:pPr>
            <a:r>
              <a:t>首頁</a:t>
            </a:r>
            <a:br/>
            <a:r>
              <a:t>靈眼</a:t>
            </a:r>
            <a:br/>
            <a:r>
              <a:t>靈心</a:t>
            </a:r>
            <a:br/>
            <a:r>
              <a:t>靈魂</a:t>
            </a:r>
            <a:br/>
            <a:r>
              <a:t>靈寵</a:t>
            </a:r>
            <a:br/>
            <a:r>
              <a:t>個人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1488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0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298448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4C880"/>
                </a:solidFill>
                <a:latin typeface="Microsoft JhengHei"/>
              </a:defRPr>
            </a:pPr>
            <a:r>
              <a:t>現行工作樹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1572768"/>
            <a:ext cx="2468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ECD4"/>
                </a:solidFill>
                <a:latin typeface="Microsoft JhengHei"/>
              </a:defRPr>
            </a:pPr>
            <a:r>
              <a:t>Auth</a:t>
            </a:r>
            <a:br/>
            <a:r>
              <a:t>Onboarding</a:t>
            </a:r>
            <a:br/>
            <a:r>
              <a:t>Pet Center</a:t>
            </a:r>
            <a:br/>
            <a:r>
              <a:t>Profile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880360"/>
            <a:ext cx="621792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重構重點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`/(tabs)/pet` 成為唯一主要操作場景。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功能面板開啟時，聊天區與頭像自動讓位。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結果以聊天紀錄沉澱，不再散落在各自頁面。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訂閱與每日額度檢查都集中在互動當下觸發。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全域流程與路由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啟動後的導向邏輯已完全由 auth + onboarding 狀態控制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874519" cy="585216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63624"/>
            <a:ext cx="1728216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Splash / Font 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1417320"/>
            <a:ext cx="2240280" cy="82296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270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563624"/>
            <a:ext cx="209397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Auth Check</a:t>
            </a:r>
            <a:br/>
            <a:r>
              <a:t>checkAuth + initSubscription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114300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2700">
            <a:solidFill>
              <a:srgbClr val="C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59552" y="1289304"/>
            <a:ext cx="149961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未登入</a:t>
            </a:r>
            <a:br/>
            <a:r>
              <a:t>/auth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0" y="196596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2700">
            <a:solidFill>
              <a:srgbClr val="64C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59552" y="2112264"/>
            <a:ext cx="149961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已登入未完成引導</a:t>
            </a:r>
            <a:br/>
            <a:r>
              <a:t>/onboarding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88920"/>
            <a:ext cx="1645920" cy="64008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270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9552" y="2935224"/>
            <a:ext cx="149961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已完成</a:t>
            </a:r>
            <a:br/>
            <a:r>
              <a:t>/(tabs)/pet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1682496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02352" y="144475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02352" y="226771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2352" y="3090672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8C547"/>
                </a:solidFill>
                <a:latin typeface="Microsoft JhengHe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743200"/>
            <a:ext cx="4480560" cy="26974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3232" y="2871216"/>
            <a:ext cx="4151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實際行為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154680"/>
            <a:ext cx="4114800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App 啟動先載入字體、檢查 auth、初始化訂閱服務。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`DEV_SKIP_AUTH = false`，預設不跳過登入。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`/` 直接 redirect 到 `/(tabs)/pet`。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根 layout 會依 `isAuthenticated` / `isOnboarded` 改寫實際去向。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全站外層已包 `ErrorBoundary`。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3794760"/>
            <a:ext cx="5715000" cy="164592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50992" y="3922776"/>
            <a:ext cx="5385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路由落點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4206240"/>
            <a:ext cx="5349240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未登入：停在 `auth`。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已登入但未完成召喚：進 `onboarding`。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已完成：導回 `/(tabs)/pet`，不是舊首頁。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畫面一：登入 / 註冊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單頁雙模式，iOS 優先使用 Apple Sign-In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43584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33856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86383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Auth /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1408176"/>
            <a:ext cx="21579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737360"/>
            <a:ext cx="215798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C4B07A"/>
                </a:solidFill>
                <a:latin typeface="Microsoft JhengHei"/>
              </a:defRPr>
            </a:pPr>
            <a:r>
              <a:t>LING XI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1" y="2084831"/>
            <a:ext cx="1975104" cy="347472"/>
          </a:xfrm>
          <a:prstGeom prst="roundRect">
            <a:avLst>
              <a:gd name="adj" fmla="val 8000"/>
            </a:avLst>
          </a:prstGeom>
          <a:solidFill>
            <a:srgbClr val="F4F4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1" y="2194560"/>
            <a:ext cx="197510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141414"/>
                </a:solidFill>
                <a:latin typeface="Microsoft JhengHei"/>
              </a:defRPr>
            </a:pPr>
            <a:r>
              <a:t>Sign in with Apple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19072" y="2505456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2651760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電子郵件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9536" y="2743200"/>
            <a:ext cx="2048256" cy="310896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" y="3154679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密碼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9536" y="3246120"/>
            <a:ext cx="2048256" cy="310896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3657599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登入 / 註冊切換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" y="3749039"/>
            <a:ext cx="2048256" cy="310896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9536" y="4334256"/>
            <a:ext cx="2048256" cy="365760"/>
          </a:xfrm>
          <a:prstGeom prst="roundRect">
            <a:avLst>
              <a:gd name="adj" fmla="val 8000"/>
            </a:avLst>
          </a:prstGeom>
          <a:solidFill>
            <a:srgbClr val="282412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443983"/>
            <a:ext cx="204825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主按鈕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" y="4956048"/>
            <a:ext cx="2048256" cy="329184"/>
          </a:xfrm>
          <a:prstGeom prst="roundRect">
            <a:avLst>
              <a:gd name="adj" fmla="val 8000"/>
            </a:avLst>
          </a:prstGeom>
          <a:solidFill>
            <a:srgbClr val="271111"/>
          </a:solidFill>
          <a:ln w="7620">
            <a:solidFill>
              <a:srgbClr val="C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5047488"/>
            <a:ext cx="182880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錯誤提示區 / Loading Overlay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1115568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42231" y="1243584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畫面構成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1527048"/>
            <a:ext cx="3291840" cy="1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上半部品牌字樣：毛筆字「靈犀」+ LING XI。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iOS 顯示 Apple Sign-In Button，之後才是 Email 流程。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Login / Register 共用同頁，註冊模式多一個姓名欄。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錯誤訊息插入在表單上方，全螢幕 loading overlay 疊加。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3401568"/>
            <a:ext cx="3657600" cy="2212848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2231" y="3529584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操作流程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3813048"/>
            <a:ext cx="3291840" cy="1682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使用者輸入 email / password。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註冊時需補姓名；欄位未滿不可送出。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Apple 登入成功後，依 `isNewUser` 決定去 onboarding 或 pet。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Email 流程也走相同導向。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45552" y="1115568"/>
            <a:ext cx="3429000" cy="4498848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10144" y="1243584"/>
            <a:ext cx="3099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補充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28431" y="1527048"/>
            <a:ext cx="3063240" cy="3968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鍵盤避讓已做 iOS / Android 分支。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`clearError()` 會在切模式與送出前清空狀態。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非 iOS 平台不顯示 Apple Button。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成功登入後，主流程不再出現舊首頁。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畫面二：Onboarding 五步召喚流程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從語言選擇到命盤建立，再到節氣靈寵召喚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97280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43584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33856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86383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Onboarding / Step 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1" y="1353312"/>
            <a:ext cx="256032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280160" y="1353312"/>
            <a:ext cx="256032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664207" y="1353312"/>
            <a:ext cx="256032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048255" y="1353312"/>
            <a:ext cx="256032" cy="7315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432303" y="1353312"/>
            <a:ext cx="256032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3" y="1517904"/>
            <a:ext cx="20116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出生資料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3" y="1691639"/>
            <a:ext cx="182880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曆法 / 日期 / 時辰 / 性別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" y="1956815"/>
            <a:ext cx="43891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曆法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3" y="2048255"/>
            <a:ext cx="950976" cy="25603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883663" y="2048255"/>
            <a:ext cx="950976" cy="25603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3" y="2130552"/>
            <a:ext cx="95097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陽曆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83663" y="2130552"/>
            <a:ext cx="950976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農曆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" y="2414015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3" y="2523744"/>
            <a:ext cx="512064" cy="91440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3" y="2889504"/>
            <a:ext cx="51206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ECD4"/>
                </a:solidFill>
                <a:latin typeface="Microsoft JhengHei"/>
              </a:defRPr>
            </a:pPr>
            <a:r>
              <a:t>1992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72767" y="2414015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36191" y="2523744"/>
            <a:ext cx="512064" cy="91440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36191" y="2889504"/>
            <a:ext cx="51206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ECD4"/>
                </a:solidFill>
                <a:latin typeface="Microsoft JhengHe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1136" y="2414015"/>
            <a:ext cx="3657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94560" y="2523744"/>
            <a:ext cx="512064" cy="91440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889504"/>
            <a:ext cx="51206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3ECD4"/>
                </a:solidFill>
                <a:latin typeface="Microsoft JhengHei"/>
              </a:defRPr>
            </a:pPr>
            <a: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3" y="3584448"/>
            <a:ext cx="54864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時辰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77823" y="3694176"/>
            <a:ext cx="548640" cy="237744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3" y="3776472"/>
            <a:ext cx="54864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子時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36191" y="3694176"/>
            <a:ext cx="548640" cy="237744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36191" y="3776472"/>
            <a:ext cx="54864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丑時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194560" y="3694176"/>
            <a:ext cx="548640" cy="23774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762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3776472"/>
            <a:ext cx="54864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不知道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3" y="4114800"/>
            <a:ext cx="54864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性別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77823" y="4224528"/>
            <a:ext cx="969264" cy="25603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865376" y="4224528"/>
            <a:ext cx="969264" cy="25603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7823" y="4315968"/>
            <a:ext cx="96926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♂ 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65376" y="4315968"/>
            <a:ext cx="96926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♀ 女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7823" y="4974336"/>
            <a:ext cx="1938528" cy="347472"/>
          </a:xfrm>
          <a:prstGeom prst="roundRect">
            <a:avLst>
              <a:gd name="adj" fmla="val 8000"/>
            </a:avLst>
          </a:prstGeom>
          <a:solidFill>
            <a:srgbClr val="282412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7823" y="5084064"/>
            <a:ext cx="19385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召喚靈寵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77639" y="1115568"/>
            <a:ext cx="3611880" cy="448056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42231" y="1243584"/>
            <a:ext cx="3282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Step 0 - 4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1527048"/>
            <a:ext cx="3246120" cy="395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0. 語言選擇：zh-TW / zh-CN / ja / en / de / fr。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歡迎頁：品牌敘事與主標語。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姓名輸入：未填不可往下。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出生資料：陽曆/農曆、年/月/日滾輪、時辰、性別。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召喚結果：展示靈寵與命盤結果，最後進入主場景。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90688" y="1115568"/>
            <a:ext cx="3474720" cy="219456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79" y="1243584"/>
            <a:ext cx="3145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提交時實際發生的事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3567" y="1527048"/>
            <a:ext cx="3108960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`setOnboarding()` 直接算出八字、紫微、西占。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`initPet(month, day)` 依節氣配對靈寵。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若已登入，會把 profile 與 destinyData 回寫 API。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790688" y="3584448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55279" y="3712463"/>
            <a:ext cx="3145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C880"/>
                </a:solidFill>
                <a:latin typeface="Microsoft JhengHei"/>
              </a:defRPr>
            </a:pPr>
            <a:r>
              <a:t>畫面細節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973567" y="3995928"/>
            <a:ext cx="310896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年份範圍 1930 - 2026。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不知道時辰時，預設午時 11 點。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Step 3 是目前 onboarding 的操作核心畫面。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畫面三：主場景 Pet Center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新版 UI 的核心，集中日常互動、能力啟動與結果沉澱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78992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25295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15568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68095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Pet Center /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" y="1280160"/>
            <a:ext cx="2505456" cy="38404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1325880"/>
            <a:ext cx="1234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3月14日 · 卯時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Lv.3 小鹿靈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19" y="1828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3ECD4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1" y="2157984"/>
            <a:ext cx="8412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小鹿靈  Lv.3  · 木系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19" y="2340863"/>
            <a:ext cx="1426464" cy="45720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188719" y="2340863"/>
            <a:ext cx="859536" cy="45720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3" y="2523744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小鹿靈 08:30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3" y="2633472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C4B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3" y="2706624"/>
            <a:ext cx="1755648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今天財運偏穩，先動後靜較順。吉方可先看東南，色彩以青綠、米金最合。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" y="3328415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小鹿靈 08:31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3" y="3438144"/>
            <a:ext cx="1938528" cy="548640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3" y="3511296"/>
            <a:ext cx="1755648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餵食後精神好多了，今天更願意幫你觀察細節。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" y="5266944"/>
            <a:ext cx="2157984" cy="43891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536" y="5321808"/>
            <a:ext cx="621792" cy="1645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" y="5367527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F3ECD4"/>
                </a:solidFill>
                <a:latin typeface="Microsoft JhengHei"/>
              </a:defRPr>
            </a:pPr>
            <a:r>
              <a:t>🍖 餵食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554480" y="5321808"/>
            <a:ext cx="621792" cy="1645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554480" y="5367527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F3ECD4"/>
                </a:solidFill>
                <a:latin typeface="Microsoft JhengHei"/>
              </a:defRPr>
            </a:pPr>
            <a:r>
              <a:t>🎾 玩耍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49424" y="5321808"/>
            <a:ext cx="621792" cy="1645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49424" y="5367527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F3ECD4"/>
                </a:solidFill>
                <a:latin typeface="Microsoft JhengHei"/>
              </a:defRPr>
            </a:pPr>
            <a:r>
              <a:t>🧘 冥想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9536" y="5522975"/>
            <a:ext cx="621792" cy="1463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762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9536" y="5559552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E8C547"/>
                </a:solidFill>
                <a:latin typeface="Microsoft JhengHei"/>
              </a:defRPr>
            </a:pPr>
            <a:r>
              <a:t>👁 靈眼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54480" y="5522975"/>
            <a:ext cx="621792" cy="1463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554480" y="5559552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C4B07A"/>
                </a:solidFill>
                <a:latin typeface="Microsoft JhengHei"/>
              </a:defRPr>
            </a:pPr>
            <a:r>
              <a:t>🌍 靈心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49424" y="5522975"/>
            <a:ext cx="621792" cy="1463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49424" y="5559552"/>
            <a:ext cx="621792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00" b="0">
                <a:solidFill>
                  <a:srgbClr val="C4B07A"/>
                </a:solidFill>
                <a:latin typeface="Microsoft JhengHei"/>
              </a:defRPr>
            </a:pPr>
            <a:r>
              <a:t>🏮 靈魂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1" y="6016752"/>
            <a:ext cx="2505456" cy="43891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81328" y="6062472"/>
            <a:ext cx="411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ECD4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6464" y="6254496"/>
            <a:ext cx="548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靈寵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32304" y="6062472"/>
            <a:ext cx="411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ECD4"/>
                </a:solidFill>
                <a:latin typeface="Microsoft JhengHei"/>
              </a:defRPr>
            </a:pPr>
            <a:r>
              <a:t>⚙️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59152" y="6254496"/>
            <a:ext cx="548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977639" y="1097280"/>
            <a:ext cx="3611880" cy="228600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42231" y="1225295"/>
            <a:ext cx="3282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版面結構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60520" y="1508760"/>
            <a:ext cx="32461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Status Bar：App 名、時辰/日期、Lv + 靈寵名 + 五行。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PetAvatar：靈寵、EXP 條、進化星級。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PetChat：所有提示與分析結果的主輸出區。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ActionBar：上排養成、下排三大能力。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5. UpgradeModal：需求時覆蓋於最上層。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977639" y="3611880"/>
            <a:ext cx="3611880" cy="20116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42231" y="3739896"/>
            <a:ext cx="3282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動態規則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60520" y="4023360"/>
            <a:ext cx="324612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啟動靈眼 / 靈心 / 靈魂時，Avatar 與 Chat 讓位給 FeaturePanel。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再點同一顆能力鍵會關閉該功能面板。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ActionBar 會高亮目前啟動中的能力。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790688" y="1097280"/>
            <a:ext cx="347472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955279" y="1225295"/>
            <a:ext cx="31455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C880"/>
                </a:solidFill>
                <a:latin typeface="Microsoft JhengHei"/>
              </a:defRPr>
            </a:pPr>
            <a:r>
              <a:t>啟動後自動做的事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73567" y="1508760"/>
            <a:ext cx="310896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首次進頁會檢查當日時段是否已生成 fortune bubble。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若命盤資料齊全：本地計算 `UnifiedFortune`。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若資料不足：至少給一則問候氣泡。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這使得 Pet Center 一打開就有內容，不是空頁。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Pet Center 操作細節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養成動作、升級、進化與聊天紀錄如何互相連動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78992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25295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15568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68095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Pet Chat /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" y="1280160"/>
            <a:ext cx="2505456" cy="38404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1325880"/>
            <a:ext cx="1234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聊天紀錄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AsyncStorage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783080"/>
            <a:ext cx="10058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2026 / 03 /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1920239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Fortune 08:00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3" y="2029967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C4B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3" y="2103120"/>
            <a:ext cx="17556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五項運勢分數 + 吉方 / 幸運色 / 幸運數字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" y="2779776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Face 08:12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3" y="2889504"/>
            <a:ext cx="1938528" cy="6217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3" y="2962656"/>
            <a:ext cx="17556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五官評分條 + 幸運物件推薦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" y="3529584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FengShui 08:16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3" y="3639312"/>
            <a:ext cx="1938528" cy="6035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64C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3" y="3712463"/>
            <a:ext cx="1755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九宮方位 + 吉凶方向 + 座位建議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3" y="4261103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Divination 08:20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3" y="4370831"/>
            <a:ext cx="1938528" cy="6035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3" y="4443983"/>
            <a:ext cx="1755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卦象、卦辭、變卦與靈寵解讀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3" y="5102352"/>
            <a:ext cx="914400" cy="201168"/>
          </a:xfrm>
          <a:prstGeom prst="roundRect">
            <a:avLst>
              <a:gd name="adj" fmla="val 8000"/>
            </a:avLst>
          </a:prstGeom>
          <a:solidFill>
            <a:srgbClr val="272212"/>
          </a:solidFill>
          <a:ln w="762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83663" y="5102352"/>
            <a:ext cx="932688" cy="201168"/>
          </a:xfrm>
          <a:prstGeom prst="roundRect">
            <a:avLst>
              <a:gd name="adj" fmla="val 8000"/>
            </a:avLst>
          </a:prstGeom>
          <a:solidFill>
            <a:srgbClr val="161024"/>
          </a:solidFill>
          <a:ln w="762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3" y="5166360"/>
            <a:ext cx="9144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E8C547"/>
                </a:solidFill>
                <a:latin typeface="Microsoft JhengHei"/>
              </a:defRPr>
            </a:pPr>
            <a:r>
              <a:t>+50 EXP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3" y="5166360"/>
            <a:ext cx="93268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  <a:latin typeface="Microsoft JhengHei"/>
              </a:defRPr>
            </a:pPr>
            <a:r>
              <a:t>進化階段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1097280"/>
            <a:ext cx="3657600" cy="205740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1" y="1225295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養成動作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1508760"/>
            <a:ext cx="3291840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餵食 `feed`：+50 EXP。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玩耍 `play`：+30 EXP。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冥想 `meditate`：+20 EXP。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動作執行後立刻插入回應氣泡。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77639" y="3429000"/>
            <a:ext cx="3657600" cy="219456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42231" y="3557016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升級與進化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840480"/>
            <a:ext cx="3291840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升級後會新增 `levelup` 氣泡。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每 10 級觸發一次進化階段判定。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進化後會新增 `evolve` 氣泡。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若達方案等級上限，改為跳升級 Modal。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109728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2712" y="1225295"/>
            <a:ext cx="3099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聊天紀錄層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1508760"/>
            <a:ext cx="306324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`chat-store` 使用 Zustand + AsyncStorage 持久化。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最多保留最近 200 則訊息。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`PetChat` 會自動插入日期分隔線。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新訊息加入後自動滾到底。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message type 已覆蓋 fortune / face / fengshui / divination / nurture / celebration。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畫面四：靈眼模式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相機取樣 -&gt; 預覽 -&gt; 分析進度 -&gt; 結果回寫聊天泡泡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78992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25295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15568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68095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Feature / Eye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" y="1280160"/>
            <a:ext cx="2505456" cy="38404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1325880"/>
            <a:ext cx="1234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靈眼模式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Quota: eye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3" y="1810512"/>
            <a:ext cx="1938528" cy="170078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335024" y="2139696"/>
            <a:ext cx="1005840" cy="105156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0160">
            <a:solidFill>
              <a:srgbClr val="C4B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0784" y="2487168"/>
            <a:ext cx="274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8B7D5E"/>
                </a:solidFill>
                <a:latin typeface="Microsoft JhengHei"/>
              </a:defRPr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39" y="3621024"/>
            <a:ext cx="17373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需要相機權限 / 前鏡頭取樣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3" y="3858768"/>
            <a:ext cx="1938528" cy="329184"/>
          </a:xfrm>
          <a:prstGeom prst="roundRect">
            <a:avLst>
              <a:gd name="adj" fmla="val 8000"/>
            </a:avLst>
          </a:prstGeom>
          <a:solidFill>
            <a:srgbClr val="111C29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3" y="3950208"/>
            <a:ext cx="175564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B4FF"/>
                </a:solidFill>
                <a:latin typeface="Microsoft JhengHei"/>
              </a:defRPr>
            </a:pPr>
            <a:r>
              <a:t>🦌 小鹿靈正在看你的氣色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77823" y="4370831"/>
            <a:ext cx="1938528" cy="10972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77823" y="4370831"/>
            <a:ext cx="1481328" cy="109728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45919" y="4553712"/>
            <a:ext cx="45720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C547"/>
                </a:solidFill>
                <a:latin typeface="Microsoft JhengHei"/>
              </a:defRPr>
            </a:pPr>
            <a:r>
              <a:t>72%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3" y="5029200"/>
            <a:ext cx="1938528" cy="365760"/>
          </a:xfrm>
          <a:prstGeom prst="roundRect">
            <a:avLst>
              <a:gd name="adj" fmla="val 8000"/>
            </a:avLst>
          </a:prstGeom>
          <a:solidFill>
            <a:srgbClr val="282412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3" y="5138927"/>
            <a:ext cx="19385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👁 開始分析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77639" y="1097280"/>
            <a:ext cx="3611880" cy="233172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42231" y="1225295"/>
            <a:ext cx="3282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操作步驟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60520" y="1508760"/>
            <a:ext cx="324612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開啟面板時請求相機權限。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使用前鏡頭拍照，儲存 base64 圖。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Preview 可重拍或送出分析。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分析時顯示 0 - 100% 進度條與靈寵旁白。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977639" y="3657600"/>
            <a:ext cx="3611880" cy="196596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42231" y="3785615"/>
            <a:ext cx="32826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結果內容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069080"/>
            <a:ext cx="324612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五官分數：額頭、眉、眼、鼻、口。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整體 fortune level。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幸運物、幸運方位、幸運數字。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AI 閱讀文字優先回寫聊天區。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18120" y="109728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82712" y="1225295"/>
            <a:ext cx="3099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C880"/>
                </a:solidFill>
                <a:latin typeface="Microsoft JhengHei"/>
              </a:defRPr>
            </a:pPr>
            <a:r>
              <a:t>實作重點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1508760"/>
            <a:ext cx="306324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API：`analyzeFace(base64, baziStr, '', today)`。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額度檢查走 `useFeature('eye', petLevel)`。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若整合到 Pet Center，結果送出後會自動關閉面板。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Web 端相機以 native guard 包住，不強行載入。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畫面五：靈心模式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GPS + 羅盤 + 奇門本地盤，再交給 AI 產出位置解讀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78992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25295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15568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68095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Feature / Heart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" y="1280160"/>
            <a:ext cx="2505456" cy="38404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1325880"/>
            <a:ext cx="1234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靈心模式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Quota: heart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3" y="1792224"/>
            <a:ext cx="1938528" cy="420624"/>
          </a:xfrm>
          <a:prstGeom prst="roundRect">
            <a:avLst>
              <a:gd name="adj" fmla="val 8000"/>
            </a:avLst>
          </a:prstGeom>
          <a:solidFill>
            <a:srgbClr val="111F17"/>
          </a:solidFill>
          <a:ln w="10160">
            <a:solidFill>
              <a:srgbClr val="64C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5" y="1892807"/>
            <a:ext cx="1554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64C880"/>
                </a:solidFill>
                <a:latin typeface="Microsoft JhengHei"/>
              </a:defRPr>
            </a:pPr>
            <a:r>
              <a:t>GPS / 座標 / 地名定位中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5" y="2029967"/>
            <a:ext cx="1554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🦌 小鹿靈正在感應四方氣場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35024" y="2377439"/>
            <a:ext cx="1005840" cy="1005840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2700">
            <a:solidFill>
              <a:srgbClr val="C4B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82495" y="2761488"/>
            <a:ext cx="310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F3ECD4"/>
                </a:solidFill>
                <a:latin typeface="Microsoft JhengHei"/>
              </a:defRPr>
            </a:pPr>
            <a:r>
              <a:t>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28216" y="2395728"/>
            <a:ext cx="14630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31136" y="2825496"/>
            <a:ext cx="14630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東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28216" y="3236976"/>
            <a:ext cx="14630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C44040"/>
                </a:solidFill>
                <a:latin typeface="Microsoft JhengHei"/>
              </a:defRPr>
            </a:pPr>
            <a:r>
              <a:t>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43584" y="2825496"/>
            <a:ext cx="14630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77823" y="3621024"/>
            <a:ext cx="914400" cy="51206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889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901952" y="3621024"/>
            <a:ext cx="914400" cy="51206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8890">
            <a:solidFill>
              <a:srgbClr val="C4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23" y="3721608"/>
            <a:ext cx="9144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E8C547"/>
                </a:solidFill>
                <a:latin typeface="Microsoft JhengHei"/>
              </a:defRPr>
            </a:pPr>
            <a:r>
              <a:t>吉方</a:t>
            </a:r>
            <a:br/>
            <a:r>
              <a:t>東南、正東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1952" y="3721608"/>
            <a:ext cx="9144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C44040"/>
                </a:solidFill>
                <a:latin typeface="Microsoft JhengHei"/>
              </a:defRPr>
            </a:pPr>
            <a:r>
              <a:t>避開</a:t>
            </a:r>
            <a:br/>
            <a:r>
              <a:t>正南、西北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3" y="5029200"/>
            <a:ext cx="1938528" cy="365760"/>
          </a:xfrm>
          <a:prstGeom prst="roundRect">
            <a:avLst>
              <a:gd name="adj" fmla="val 8000"/>
            </a:avLst>
          </a:prstGeom>
          <a:solidFill>
            <a:srgbClr val="111F17"/>
          </a:solidFill>
          <a:ln w="10160">
            <a:solidFill>
              <a:srgbClr val="64C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7823" y="5138927"/>
            <a:ext cx="19385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64C880"/>
                </a:solidFill>
                <a:latin typeface="Microsoft JhengHei"/>
              </a:defRPr>
            </a:pPr>
            <a:r>
              <a:t>🧭 啟動風水分析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77639" y="10972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42231" y="1225295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操作步驟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1508760"/>
            <a:ext cx="329184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請求定位權限，取得 lat/lng。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reverse geocode 取城市 / 區域名稱。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原生裝置訂閱 Magnetometer 取得 heading。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點擊分析後送 AI 做風水判讀。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977639" y="361188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2231" y="3739896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畫面輸出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60520" y="4023360"/>
            <a:ext cx="32918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即時座標 + 地名。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小型羅盤與吉凶方向摘要。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位置分析、tips、座位建議。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18120" y="109728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2712" y="1225295"/>
            <a:ext cx="3099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C880"/>
                </a:solidFill>
                <a:latin typeface="Microsoft JhengHei"/>
              </a:defRPr>
            </a:pPr>
            <a:r>
              <a:t>實作重點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1508760"/>
            <a:ext cx="306324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先本地 `generateQimenChart(new Date())` 算吉凶方位。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AI API：`analyzeFengShui(lat, lng, heading, name, baziStr, '')`。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回寫聊天時會把 `palaces / luckyDirections / dangerDirections` 一起帶入。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額度 key 為 `heart`。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GPS 尚未就緒時，按鈕會先提示等待定位。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畫面六：靈魂模式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類別選擇 + 問題輸入 + 起卦 + 結果摘要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78992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25295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15568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68095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Feature / Pearl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" y="1280160"/>
            <a:ext cx="2505456" cy="38404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1325880"/>
            <a:ext cx="1234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靈魂模式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Quota: soul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7823" y="1792224"/>
            <a:ext cx="1938528" cy="365760"/>
          </a:xfrm>
          <a:prstGeom prst="roundRect">
            <a:avLst>
              <a:gd name="adj" fmla="val 8000"/>
            </a:avLst>
          </a:prstGeom>
          <a:solidFill>
            <a:srgbClr val="141026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3" y="1901952"/>
            <a:ext cx="1755648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A78BFA"/>
                </a:solidFill>
                <a:latin typeface="Microsoft JhengHei"/>
              </a:defRPr>
            </a:pPr>
            <a:r>
              <a:t>🦌 先選問題類別，再讓我替你起卦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3" y="2304288"/>
            <a:ext cx="566928" cy="310896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889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3" y="2414016"/>
            <a:ext cx="5669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事業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36191" y="2304288"/>
            <a:ext cx="566928" cy="310896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889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1" y="2414016"/>
            <a:ext cx="5669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感情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194560" y="2304288"/>
            <a:ext cx="566928" cy="310896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889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94560" y="2414016"/>
            <a:ext cx="5669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家庭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3" y="2743200"/>
            <a:ext cx="566928" cy="310896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889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3" y="2852928"/>
            <a:ext cx="5669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健康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536191" y="2743200"/>
            <a:ext cx="566928" cy="310896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889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6191" y="2852928"/>
            <a:ext cx="5669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F3ECD4"/>
                </a:solidFill>
                <a:latin typeface="Microsoft JhengHei"/>
              </a:defRPr>
            </a:pPr>
            <a:r>
              <a:t>學業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77823" y="3291840"/>
            <a:ext cx="1938528" cy="56692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5" y="3419856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輸入問題（選填）</a:t>
            </a:r>
            <a:br/>
            <a:r>
              <a:t>例如：下週是否適合談合作？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77823" y="4078224"/>
            <a:ext cx="1938528" cy="822960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3" y="4187952"/>
            <a:ext cx="1938528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3ECD4"/>
                </a:solidFill>
                <a:latin typeface="Microsoft JhengHei"/>
              </a:defRPr>
            </a:pPr>
            <a:r>
              <a:t>䷂ 坤卦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3" y="4498848"/>
            <a:ext cx="175564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F3ECD4"/>
                </a:solidFill>
                <a:latin typeface="Microsoft JhengHei"/>
              </a:defRPr>
            </a:pPr>
            <a:r>
              <a:t>順勢承接、宜守中蓄勢。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3" y="5065775"/>
            <a:ext cx="1938528" cy="329184"/>
          </a:xfrm>
          <a:prstGeom prst="roundRect">
            <a:avLst>
              <a:gd name="adj" fmla="val 8000"/>
            </a:avLst>
          </a:prstGeom>
          <a:solidFill>
            <a:srgbClr val="141026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3" y="5166360"/>
            <a:ext cx="193852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A78BFA"/>
                </a:solidFill>
                <a:latin typeface="Microsoft JhengHei"/>
              </a:defRPr>
            </a:pPr>
            <a:r>
              <a:t>🏮 啟動占卜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977639" y="10972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42231" y="1225295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操作步驟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60520" y="1508760"/>
            <a:ext cx="329184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選 5 類之一：事業、感情、家庭、健康、學業。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可輸入 100 字內問題，也可留空。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啟動後有震動與 1.5 秒搖卦態。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產出本卦、變卦與靈寵解讀。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77639" y="361188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42231" y="3739896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結果內容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4023360"/>
            <a:ext cx="32918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卦象符號、卦名、卦辭、mystical line。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verdict / guidance / timing。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上卦、下卦、五行、fortune level。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若有變卦，另顯示動爻資訊。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818120" y="109728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82712" y="1225295"/>
            <a:ext cx="3099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實作重點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1508760"/>
            <a:ext cx="306324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本地核心：`performHexagramDivination()`。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額度檢查用 `useFeature('soul', petLevel)`。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ActionBar 按鈕 key 是 `pearl`，但 quota 會映射到 `soul`。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整合模式下，結果會變成聊天 bubble 後自動收合。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聊天氣泡規格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所有結果都被規格化，這是新版 UI 最重要的共通層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78992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25295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15568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68095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Pet Chat / Output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" y="1280160"/>
            <a:ext cx="2505456" cy="38404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3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靈犀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1325880"/>
            <a:ext cx="123444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聊天紀錄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87752" y="1325880"/>
            <a:ext cx="6400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600" b="0">
                <a:solidFill>
                  <a:srgbClr val="C4B07A"/>
                </a:solidFill>
                <a:latin typeface="Microsoft JhengHei"/>
              </a:defRPr>
            </a:pPr>
            <a:r>
              <a:t>AsyncStorage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1783080"/>
            <a:ext cx="10058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2026 / 03 /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3" y="1920239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Fortune 08:00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3" y="2029967"/>
            <a:ext cx="1938528" cy="71323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C4B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3" y="2103120"/>
            <a:ext cx="175564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五項運勢分數 + 吉方 / 幸運色 / 幸運數字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3" y="2779776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Face 08:12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3" y="2889504"/>
            <a:ext cx="1938528" cy="6217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3" y="2962656"/>
            <a:ext cx="1755648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五官評分條 + 幸運物件推薦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3" y="3529584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FengShui 08:16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7823" y="3639312"/>
            <a:ext cx="1938528" cy="6035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64C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263" y="3712463"/>
            <a:ext cx="1755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九宮方位 + 吉凶方向 + 座位建議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3" y="4261103"/>
            <a:ext cx="1938528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🦌 Divination 08:20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3" y="4370831"/>
            <a:ext cx="1938528" cy="603504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3" y="4443983"/>
            <a:ext cx="17556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卦象、卦辭、變卦與靈寵解讀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77823" y="5102352"/>
            <a:ext cx="914400" cy="201168"/>
          </a:xfrm>
          <a:prstGeom prst="roundRect">
            <a:avLst>
              <a:gd name="adj" fmla="val 8000"/>
            </a:avLst>
          </a:prstGeom>
          <a:solidFill>
            <a:srgbClr val="272212"/>
          </a:solidFill>
          <a:ln w="762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883663" y="5102352"/>
            <a:ext cx="932688" cy="201168"/>
          </a:xfrm>
          <a:prstGeom prst="roundRect">
            <a:avLst>
              <a:gd name="adj" fmla="val 8000"/>
            </a:avLst>
          </a:prstGeom>
          <a:solidFill>
            <a:srgbClr val="161024"/>
          </a:solidFill>
          <a:ln w="762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3" y="5166360"/>
            <a:ext cx="91440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E8C547"/>
                </a:solidFill>
                <a:latin typeface="Microsoft JhengHei"/>
              </a:defRPr>
            </a:pPr>
            <a:r>
              <a:t>+50 EXP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83663" y="5166360"/>
            <a:ext cx="932688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A78BFA"/>
                </a:solidFill>
                <a:latin typeface="Microsoft JhengHei"/>
              </a:defRPr>
            </a:pPr>
            <a:r>
              <a:t>進化階段 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109728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1" y="1225295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訊息類型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1508760"/>
            <a:ext cx="32918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`fortune`：五維分數條 + 吉方/幸運色/數字。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`face`：五官分數條 + 幸運物。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`fengshui`：九宮格 + 方向摘要。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`divination`：卦象 block。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77639" y="3474720"/>
            <a:ext cx="3657600" cy="214884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42231" y="3602736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互動 / 成長訊息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3886200"/>
            <a:ext cx="3291840" cy="161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`feed/play/meditate`：顯示 EXP badge。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`levelup/evolve`：顯示慶祝 badge。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header 一律保留靈寵名與時間戳。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109728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2712" y="1225295"/>
            <a:ext cx="3099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C880"/>
                </a:solidFill>
                <a:latin typeface="Microsoft JhengHei"/>
              </a:defRPr>
            </a:pPr>
            <a:r>
              <a:t>為什麼這層重要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1508760"/>
            <a:ext cx="306324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三個能力的結果都留在同一個敘事脈絡。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使用者不必回頭找散落頁面。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也為後續推播/記錄/分享留下統一格式。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這是從舊版多 tab 架構過渡到對話式體驗的關鍵。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升級彈窗、額度與方案規則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免費/會員/至尊的限制與開發模式差異都已落在 store 邏輯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78992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25295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15568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68095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Upgrade Modal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59" y="1572768"/>
            <a:ext cx="2103120" cy="4069080"/>
          </a:xfrm>
          <a:prstGeom prst="roundRect">
            <a:avLst>
              <a:gd name="adj" fmla="val 800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399" y="1938528"/>
            <a:ext cx="1920240" cy="340156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7" y="2084831"/>
            <a:ext cx="25603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ECD4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084831"/>
            <a:ext cx="135331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3ECD4"/>
                </a:solidFill>
                <a:latin typeface="Microsoft JhengHei"/>
              </a:defRPr>
            </a:pPr>
            <a:r>
              <a:t>今日次數用完了，升級後我可以幫你看更多。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7" y="2633472"/>
            <a:ext cx="1682496" cy="71323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2706624"/>
            <a:ext cx="731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E8C547"/>
                </a:solidFill>
                <a:latin typeface="Microsoft JhengHei"/>
              </a:defRPr>
            </a:pPr>
            <a:r>
              <a:t>⭐ 會員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2706624"/>
            <a:ext cx="67665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E8C547"/>
                </a:solidFill>
                <a:latin typeface="Microsoft JhengHei"/>
              </a:defRPr>
            </a:pPr>
            <a:r>
              <a:t>$390 / 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287121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更多次數 / 更高等級 / 更深分析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7" y="3529584"/>
            <a:ext cx="1682496" cy="71323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1016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3602736"/>
            <a:ext cx="73152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8BFA"/>
                </a:solidFill>
                <a:latin typeface="Microsoft JhengHei"/>
              </a:defRPr>
            </a:pPr>
            <a:r>
              <a:t>👑 至尊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3602736"/>
            <a:ext cx="676656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A78BFA"/>
                </a:solidFill>
                <a:latin typeface="Microsoft JhengHei"/>
              </a:defRPr>
            </a:pPr>
            <a:r>
              <a:t>$1990 /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76732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更多次數 / 更高等級 / 更深分析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26464" y="4864608"/>
            <a:ext cx="877824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明天再來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977639" y="1097280"/>
            <a:ext cx="3657600" cy="233172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42231" y="1225295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何時跳出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60520" y="1508760"/>
            <a:ext cx="3291840" cy="1801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三能力使用前先檢查剩餘次數。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養成動作若達等級上限，也直接要求升級。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Profile 頁也能主動打開升級彈窗。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977639" y="3657600"/>
            <a:ext cx="3657600" cy="196596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42231" y="3785615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正式規則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069080"/>
            <a:ext cx="3291840" cy="1435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Free：每功能每日 1 次，等級上限 Lv.10，進化上限 1。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Member：每日 5 次，Lv.20，進化上限 2。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Supreme：近似無限，等級與進化不封頂。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818120" y="109728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82712" y="1225295"/>
            <a:ext cx="3099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最新程式碼中的細節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1508760"/>
            <a:ext cx="306324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顯示價格：Member 390 / Supreme 1990。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RevenueCat 僅在原生且成功初始化時可購買。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`__DEV__` 下額度與等級上限被放寬成測試值。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寵物等級加成：Lv.10 +1 次，Lv.20 再 +1 次。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畫面七：Profile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個人資料、語言、命盤摘要、條款、恢復購買與登出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078992"/>
            <a:ext cx="2834640" cy="5394960"/>
          </a:xfrm>
          <a:prstGeom prst="roundRect">
            <a:avLst>
              <a:gd name="adj" fmla="val 8000"/>
            </a:avLst>
          </a:prstGeom>
          <a:solidFill>
            <a:srgbClr val="0F0B16"/>
          </a:solidFill>
          <a:ln w="19050">
            <a:solidFill>
              <a:srgbClr val="3A32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68096" y="1225295"/>
            <a:ext cx="2578608" cy="5120640"/>
          </a:xfrm>
          <a:prstGeom prst="roundRect">
            <a:avLst>
              <a:gd name="adj" fmla="val 8000"/>
            </a:avLst>
          </a:prstGeom>
          <a:solidFill>
            <a:srgbClr val="0808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664208" y="1115568"/>
            <a:ext cx="786384" cy="7315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768095"/>
            <a:ext cx="2834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3" y="1408176"/>
            <a:ext cx="109728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C547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3" y="1719072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01C2C"/>
          </a:solidFill>
          <a:ln w="10160">
            <a:solidFill>
              <a:srgbClr val="64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5" y="1865376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3ECD4"/>
                </a:solidFill>
                <a:latin typeface="Microsoft JhengHei"/>
              </a:defRPr>
            </a:pPr>
            <a:r>
              <a:t>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1828800"/>
            <a:ext cx="82296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3ECD4"/>
                </a:solidFill>
                <a:latin typeface="Microsoft JhengHei"/>
              </a:defRPr>
            </a:pPr>
            <a:r>
              <a:t>Denny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011680"/>
            <a:ext cx="10058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C4B07A"/>
                </a:solidFill>
                <a:latin typeface="Microsoft JhengHei"/>
              </a:defRPr>
            </a:pPr>
            <a:r>
              <a:t>Lv.3 小鹿靈 · 木系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39" y="1865376"/>
            <a:ext cx="329184" cy="164592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8890">
            <a:solidFill>
              <a:srgbClr val="E8C5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39" y="1911095"/>
            <a:ext cx="329184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" b="0">
                <a:solidFill>
                  <a:srgbClr val="E8C547"/>
                </a:solidFill>
                <a:latin typeface="Microsoft JhengHei"/>
              </a:defRPr>
            </a:pPr>
            <a:r>
              <a:t>Free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3" y="2615184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語言設定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3" y="2724912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3" y="285292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繁中 / 简中 / 日本語 / EN / DE / FR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3" y="3575304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命盤資料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7823" y="3685032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9263" y="3776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八字、主星、星座、節氣靈寵</a:t>
            </a:r>
            <a:br/>
            <a:r>
              <a:t>都集中在同一卡內顯示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3" y="4535424"/>
            <a:ext cx="822960" cy="73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" b="0">
                <a:solidFill>
                  <a:srgbClr val="8B7D5E"/>
                </a:solidFill>
                <a:latin typeface="Microsoft JhengHei"/>
              </a:defRPr>
            </a:pPr>
            <a:r>
              <a:t>其他選單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3" y="4645152"/>
            <a:ext cx="1938528" cy="658368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 w="762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9263" y="471830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F3ECD4"/>
                </a:solidFill>
                <a:latin typeface="Microsoft JhengHei"/>
              </a:defRPr>
            </a:pPr>
            <a:r>
              <a:t>隱私條款 / 使用條款 / 關於 v1.0.0</a:t>
            </a:r>
            <a:br/>
            <a:r>
              <a:t>恢復購買 / 登出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" y="6016752"/>
            <a:ext cx="2505456" cy="438912"/>
          </a:xfrm>
          <a:prstGeom prst="roundRect">
            <a:avLst>
              <a:gd name="adj" fmla="val 8000"/>
            </a:avLst>
          </a:prstGeom>
          <a:solidFill>
            <a:srgbClr val="1210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81328" y="6062472"/>
            <a:ext cx="411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3ECD4"/>
                </a:solidFill>
                <a:latin typeface="Microsoft JhengHei"/>
              </a:defRPr>
            </a:pPr>
            <a:r>
              <a:t>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26464" y="6254496"/>
            <a:ext cx="548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8B7D5E"/>
                </a:solidFill>
                <a:latin typeface="Microsoft JhengHei"/>
              </a:defRPr>
            </a:pPr>
            <a:r>
              <a:t>靈寵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32304" y="6062472"/>
            <a:ext cx="411480" cy="109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3ECD4"/>
                </a:solidFill>
                <a:latin typeface="Microsoft JhengHei"/>
              </a:defRPr>
            </a:pPr>
            <a:r>
              <a:t>⚙️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59152" y="6254496"/>
            <a:ext cx="5486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0">
                <a:solidFill>
                  <a:srgbClr val="E8C547"/>
                </a:solidFill>
                <a:latin typeface="Microsoft JhengHei"/>
              </a:defRPr>
            </a:pPr>
            <a:r>
              <a:t>我的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977639" y="1097280"/>
            <a:ext cx="3657600" cy="2240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42231" y="1225295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畫面構成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0520" y="1508760"/>
            <a:ext cx="3291840" cy="1709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1. 使用者卡：姓名、寵物、等級、五行、節氣、方案 badge。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2. 免費方案額外顯示升級 CTA。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3. 語言設定直接嵌在此頁。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4. 命盤摘要集中在一個 section card。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77639" y="361188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42231" y="3739896"/>
            <a:ext cx="33284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其他選單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4023360"/>
            <a:ext cx="329184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推播通知（目前仍是 stub message）。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Privacy / Terms 透過 API base URL 開網頁。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關於頁目前直接顯示 `靈犀 v1.0.0`。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支援 restore purchases 與 logout。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818120" y="1097280"/>
            <a:ext cx="342900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82712" y="1225295"/>
            <a:ext cx="309981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C880"/>
                </a:solidFill>
                <a:latin typeface="Microsoft JhengHei"/>
              </a:defRPr>
            </a:pPr>
            <a:r>
              <a:t>注意事項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01000" y="1508760"/>
            <a:ext cx="306324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若 `EXPO_PUBLIC_API_BASE_URL` 未設定，條款頁會報通用錯誤。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restore 成功後會同步更新 auth store 的 plan。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命盤資料來源仍是 onboarding 後的本地衍生結果。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截至今日的最新開發狀況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把已完成、正在變動與待驗證項目分開整理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097280"/>
            <a:ext cx="370332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1225295"/>
            <a:ext cx="33741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已完成到可展示層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508760"/>
            <a:ext cx="333756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Auth：Apple Sign-In + Email/Password。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Onboarding：多語、命盤建立、節氣靈寵召喚。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Pet Center：聊天式主場景、養成、三能力入口。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Eye / Heart / Pearl：都已有可跑的 UI 與結果回寫介面。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Profile：方案、語言、命盤摘要、恢復購買、登出。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Store：chat/user/pet 狀態持久化已接上。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09728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1" y="1225295"/>
            <a:ext cx="31912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目前仍在變動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508760"/>
            <a:ext cx="315468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git 工作樹很髒，代表這版 UI 重構尚未正式提交。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舊 tab 檔案被刪除，但整個重構還沒進一次乾淨 commit。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現有 `screenshots/` 除 onboarding 新圖外，多數不是最新版。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部分價格與商業文案已更新，但商店素材仍未齊。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097280"/>
            <a:ext cx="3063240" cy="452628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8471" y="1225295"/>
            <a:ext cx="273405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待驗證 / 待補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1508760"/>
            <a:ext cx="2697480" cy="3995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`npx tsc --noEmit` 與實機 / Expo 驗證仍待跑。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Cloud Run / RevenueCat 正式環境配置未結束。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App icon / splash / store screenshots / 法務頁 URL 待補齊。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8C547"/>
                </a:solidFill>
                <a:latin typeface="Microsoft JhengHei"/>
              </a:defRPr>
            </a:pPr>
            <a:r>
              <a:t>建議下一步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84048" y="713232"/>
            <a:ext cx="11411712" cy="27432"/>
          </a:xfrm>
          <a:prstGeom prst="roundRect">
            <a:avLst>
              <a:gd name="adj" fmla="val 8000"/>
            </a:avLst>
          </a:prstGeom>
          <a:solidFill>
            <a:srgbClr val="E8C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4B07A"/>
                </a:solidFill>
                <a:latin typeface="Microsoft JhengHei"/>
              </a:defRPr>
            </a:pPr>
            <a:r>
              <a:t>若要把這份簡報升級成對外審稿版，接下來應補的東西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" y="6400800"/>
            <a:ext cx="11594592" cy="201168"/>
          </a:xfrm>
          <a:prstGeom prst="roundRect">
            <a:avLst>
              <a:gd name="adj" fmla="val 8000"/>
            </a:avLst>
          </a:prstGeom>
          <a:solidFill>
            <a:srgbClr val="191528"/>
          </a:solidFill>
          <a:ln w="635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28232"/>
            <a:ext cx="804672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2026-03-14  |  v1.0.0  |  main / fd9d2fa + 本地未提交 UI 重構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28232"/>
            <a:ext cx="4572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B7D5E"/>
                </a:solidFill>
                <a:latin typeface="Microsoft JhengHei"/>
              </a:defRPr>
            </a:pPr>
            <a: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3383280" cy="402336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408176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8C547"/>
                </a:solidFill>
                <a:latin typeface="Microsoft JhengHei"/>
              </a:defRPr>
            </a:pPr>
            <a:r>
              <a:t>1. 補真實截圖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691639"/>
            <a:ext cx="30175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以目前 UI 重構版重新跑螢幕擷取。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至少補 auth / onboarding / pet / profile / 三能力 / upgrade modal。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280160"/>
            <a:ext cx="3383280" cy="402336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408176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4B4FF"/>
                </a:solidFill>
                <a:latin typeface="Microsoft JhengHei"/>
              </a:defRPr>
            </a:pPr>
            <a:r>
              <a:t>2. 做一次乾淨驗證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691639"/>
            <a:ext cx="30175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跑 TypeScript、Expo 啟動、原生能力權限流。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確認開發模式與正式模式的 quota 行為差異。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280160"/>
            <a:ext cx="3383280" cy="4023360"/>
          </a:xfrm>
          <a:prstGeom prst="roundRect">
            <a:avLst>
              <a:gd name="adj" fmla="val 8000"/>
            </a:avLst>
          </a:prstGeom>
          <a:solidFill>
            <a:srgbClr val="100D18"/>
          </a:solidFill>
          <a:ln w="10160">
            <a:solidFill>
              <a:srgbClr val="342C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1408176"/>
            <a:ext cx="30540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JhengHei"/>
              </a:defRPr>
            </a:pPr>
            <a:r>
              <a:t>3. 固化版本基準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691639"/>
            <a:ext cx="301752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將 UI 重構整理成 commit。</a:t>
            </a:r>
          </a:p>
          <a:p>
            <a:pPr>
              <a:spcAft>
                <a:spcPts val="200"/>
              </a:spcAft>
              <a:defRPr sz="1100" b="0">
                <a:solidFill>
                  <a:srgbClr val="F3ECD4"/>
                </a:solidFill>
                <a:latin typeface="Microsoft JhengHei"/>
              </a:defRPr>
            </a:pPr>
            <a:r>
              <a:t>• 屆時可把簡報 footer 從「工作樹版本」改成正式 commit/tag。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